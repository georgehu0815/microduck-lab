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Colored-duck painting: successful brush-v2 feedback control
Use case: MicroDuck paints a fixed four-color swimming duck with a preloaded free brush in MuJoCo. The released brush-color-v2-03 ONNX passes 40/40 required episodes. Teach the complete teacher-data, ridge BC, DAgger, anchored PPO, export and verification pipeline. Matching BC also passes 40/40: PPO preserved successful behavior, not demonstrated improvement. Historical pencil failures remain separate evidence.
Start by explaining the difference between a simulation training pipeline and skill mastery. The cover image is a frame decoded from this case's actual rollout, not generated artwork.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will build — and what the evidence says
Use case: MicroDuck paints a fixed four-color swimming duck with a preloaded free brush in MuJoCo. The released brush-color-v2-03 ONNX passes 40/40 required episodes. Teach the complete teacher-data, ridge BC, DAgger, anchored PPO, export and verification pipeline. Matching BC also passes 40/40: PPO preserved successful behavior, not demonstrated improvement. Historical pencil failures remain separate evidence.
By the end: describe the scene, map observations to actions, explain the reward, trace one PPO update, run a bounded experiment, and defend an evaluation claim.
Successful fixed-template simulated painting is now supported. The earlier pencil experiments were not retroactively successful, and a new 93/15 brush contract is not a replacement for stock 61/14 deployment.
Scope: local MuJoCo simulation. Do not deploy these classroom artifacts to a physical robot; hardware transfer requires a separate validated process.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1/2
A full-collision MicroDuck simulation, canvas and easel; 14 original joint controls plus one simulated lower-jaw action. This is an educational model, not a hardware bill of materials.
One free brush held between upper/lower beak pads through the pencil_free joint. It is preloaded, not welded to the head; autonomous pickup is outside this case.
One passive compliant contact tuft: sphere radius 1.0 mm, mass 0.00003 kg, bristle_compression travel -3.0 to 0.3 mm. Three decorative hairs and a ferrule are visual, not separate flexible-contact bristles.
A passive spring with stiffness 25 N/m, damping 0.32 N s/m, armature 0.001 kg and default grip friction 1.2. It adds compliance, not a sixteenth motor.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2/2
Four physical paint wells: gold, orange, charcoal and blue; one non-contact palette backing. Tip contact loads discrete pigment; no fluid mixing, washing or residual-paint dynamics are simulated.
Existing CPU Python environment with MuJoCo, Torch, Stable-Baselines3, Gymnasium, NumPy, ONNX, ONNX Runtime, Pillow and FFmpeg. Use rlx/.venv-microduck/bin/python; source/model compatibility matters more than an unverified package upgrade.
Retained artifacts: final-seed11 teacher dataset and sidecar; brush-color-v2-03 archived source package, training metadata, BC/PPO checkpoints, frozen ONNX files, evaluations and actual-contact video. A slides-only ZIP does not include every weight or training dependency.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1/3
Current contract: microduck-brush-v2, 93 observations and 15 actions, simulation_only with hardware_compatible=false. Historical pencil uses microduck-drawing-v1 83/15. Neither can hot-swap into stock 61/14 walking deployment.
Observations 0:61 retain IMU angular velocity, projected gravity, 14 relative joint positions, prior joint velocities/actions and zeroed reserved command slots. Observations 61:83 add mouth state, tip/target geometry, velocities, pen-down request and contact forces.
Brush tail 83:87 = loaded-color one-hot; 87:91 = planned-color one-hot; 91 = compression in millimeters; 92 = trajectory mode divided by 2. The current actor does not consume 83:93: color planning and missed-dip recovery are not learned.
Actions 0:14 address the original joints; action[14] maps to mouth_target = 0.24 + 0.36 * action[14]. The structured head actor predicts a delta bounded to 0.025 per step and adds it to the previous action only at output.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2/3
Head features combine position, target error, brush direction, contact force and quadratic interactions. Ankles use linear gravity/angular-velocity feedback; other body joints and the jaw learn constant offsets. This is a structured learned feedback policy, not an unconstrained image-to-action network.
Physics timestep 0.002 s gives 500 Hz; 10 substeps give 0.020 s control at 50 Hz. A completed reference trajectory contains 5,998 control steps, measured as 119.96 s despite the 120 s command budget.
Pigment loads only after actual tip/well force above 0.0001 N. Canvas marks use actual MuJoCo tip contact and the currently loaded color, not reference pixels pasted onto the canvas.
The fixed duck pattern, color assignment, stroke sequence and approach/dip/lift targets are authored. The learned motor controller follows that plan without a runtime Jacobian teacher. No camera, image recognition or arbitrary visual composition is claimed.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3/3
Success is evaluated independently over ten unique configurations and four seeds per configuration. Reset perturbations test a bounded domain; a single attractive render is not the 40-episode acceptance result.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Case-specific build flow
01 / MATERIALS: Free brush + physical palette
02 / DATA: 47,984 teacher records
03 / WARM START: Ridge BC + 2 DAgger rounds
04 / PPO: 49,152 steps + anchor gate
05 / VERIFY: Frozen PPO and BC: 40/40
06 / EVIDENCE: Contact painting + full video
This is an explanatory workflow diagram, not a measured learning curve.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1/2
First preserve the history: drawing-pilot-01 and drawing-refinement-02 each used 32,768 PPO transitions and failed pencil acceptance. Their teacher feasibility video is not a successful learned policy.
Diagnosis found a confirmed configuration defect: intended initial_std=0.005 was reset to effective 0.02 after BC. Both historical PPO policies also drifted from BC. These observations do not prove a single cause for every failure.
Build a separate brush-v2 contract with compliant contact, physical color wells and a structured action-delta actor. Multiple changes occurred together, so do not attribute the entire improvement to PPO or brush compliance alone.
Archive training sources before collecting data. With data seed 11, the analytic Jacobian teacher provides eight 5,998-step episodes: 47,984 initial labeled observations/actions.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2/2
Fit ridge BC with ridge=0.01. Relabel student-visited states in two DAgger rounds and refit; dataset sizes become 47,984, 77,974 and 105,858. These are supervised fit records, not fresh PPO transitions.
Warm-start PPO with training seed 101, small per-action noise and learning_rate=1e-7. Collect 49,152 genuine on-policy transitions; evaluate deterministic action drift on saved BC/DAgger anchor observations after each update.
Accept an update only when maximum drift is finite and &lt;=0.00025; otherwise restore policy parameters and optimizer state. Export immutable deterministic PPO and matching BC ONNX with static 93-input/15-output interfaces.
Run identical independent acceptance suites on both models, verify source/model hashes, inspect all failures and negative controls, then render the same PPO ONNX. The final gate passes; this lesson does not rerun 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PPO clipped surrogate
This is a teaching formula, not a saved experiment value. The optimizer minimizes the negative policy surrogate plus the implementation-specific value and entropy terms. PPO clipping is not a hard KL bound; monitor KL and clip fraction. A negative policy loss or Gaussian entropy is not automatically an error. Each scenario has its own reward units and optimizer conventions.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rollout through the learner
Collect observations, sampled actions, old log probabilities, values, rewards and episode-boundary flags using the current stochastic actor.
Compute TD residuals and generalized advantage estimates (GAE). A true terminal has zero continuation value; a timeout may bootstrap the saved final observation.
Cut advantage traces at reset boundaries. Never bootstrap a timeout from the first observation of the next episode.
Reuse this batch for PPO minibatch updates, then collect fresh on-policy data. Export the deterministic actor and its observation transform for evaluation.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exercise: count samples and clip the objective
Illustrative arithmetic, NOT this run: 16 environments × 128 steps = 2,048 fresh transitions per rollout. Four epochs reuse those transitions; they do not create 8,192 new samples.
With ε = 0.2, ratio = 1.4 and A = +2: min(2.8, 2.4) = 2.4. The minimized policy term is −2.4 before averaging and additional loss terms.
With the same ratio and A = −2: min(−2.8, −2.4) = −2.8. Explain why clipping is asymmetric once the sign of the advantage changes.
Run from repo root: python3 docs/microduck-training-student-book/learning_lab.py --gae. This is a deterministic arithmetic lab, not new policy 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1/2
tracking = 2.0 * exp(-(tip_target_distance / 0.006)^2): a smooth local tracking reward. The 6 mm reward scale is not the stricter 1.5 mm final scoring tolerance.
contact = 0.4 when actual mark presence matches the requested pen-down state. Correct pen-up travel can also receive this reward; constant contact is not the goal.
grasp = 0.3 for maintaining grasp through the physics substeps; upright = 0.3 * max(0, trunk_upright). Balance and retention support, but do not replace, image-geometry acceptance.
action_rate_penalty = -0.01 * sum((action - previous_action)^2) discourages abrupt control changes.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2/2
force_penalty = -0.02 * max(0, canvas_force - 0.5)^2. Final validation separately enforces peak force below 0.5 N.
color = 0.4 when loaded_color equals desired_color. It rewards the achieved contact state; it does not prove the actor learned a color plan, because the actor ignores the added color tail.
The environment returns the sum of these step rewards. Logs retain reward_mean, not a complete episodic-return series. A higher reward or accepted anchor update does not automatically mean a better painting.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1/3
Selected run: rlx/runs/studio/drawing/brush-color-v2-03. Data seed 11; training seed 101; dataset SHA-256 is recorded in training.json and validated against the teacher sidecar before fitting.
Ridge BC: 0.01; two DAgger rounds. Normalized increment MSE after fits: 8.067842827585991e-06, 1.9331184375914745e-05 and 3.993013524450362e-05. Changing datasets make these values unsuitable as a single monotonically comparable learning curve.
One environment; n_steps=6144; eight rollouts produce 49,152 fresh transitions. batch_size=512 gives 12 minibatches per epoch; n_epochs=2 reuses data rather than doubling simulator transitions.
PPO learning_rate=1e-7; gamma=0.995; gae_lambda=0.95; clip_range=0.05; target_kl=0.002; max_grad_norm=0.3. These values are from the archived training script, not generic PPO defaults.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2/3
Value coefficient vf_coef=0.05; entropy coefficient ent_coef=0. Exploration standard deviations: head 0.0003, body/legs 0.0001, jaw 0.0002. The logged entropy_loss is not the entropy itself.
Anchor observations are subsampled from BC/DAgger data using a stride based on 4,096. Each update compares deterministic actions against the saved BC/DAgger actor; maximum allowed drift is 0.00025.
All eight PPO updates passed the drift gate. The largest recorded anchor_max_drift is 0.00015974044799804688. Acceptance means the action-drift constraint was met, not a causal gain in image quality.
ONNX parity max_absolute_error=1.4901161193847656e-08, passed=true. PPO ONNX SHA-256: 6e083a2a1a0e3114016be9ef0d377d9e9245648ca174303c5f8d0340bdf4500e.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3/3
Accounting exercise: 47,984 initial teacher records; 105,858 final fit records; 49,152 PPO transitions; 40 * 5,998 = 239,920 evaluation steps per model; 3,484 contact rows in the showcase trace. These are different data populations.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1/3
From .:
PYTHONPATH=rlx:microduck_local/src rlx/.venv-microduck/bin/python rlx/examples/ppo_microduck_brush.py --help
Inspect the brush CLI and its separate 93/15 interface before running an experiment.
From .:
DATA="$(mktemp -d /tmp/microduck-brush-data.XXXXXX)"; PYTHONPATH=rlx:microduck_local/src rlx/.venv-microduck/bin/python rlx/examples/ppo_microduck_brush.py data --out "$DATA" --seed 11; printf '%s\n' "$DATA"
Create teacher data in a fresh temporary directory. Retain the printed DATA path for the next command; never overwrite the published dataset.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2/3
From .:
RUN="$(mktemp -d /tmp/microduck-brush-run.XXXXXX)"; PYTHONPATH=rlx:microduck_local/src rlx/.venv-microduck/bin/python rlx/examples/ppo_microduck_brush.py train --out "$RUN" --data "$DATA/teacher.npz" --seed 101 --steps 49152 --dagger 2 --ridge 0.01 --learning-rate 1e-7 --anchor-limit 0.00025
In the same shell, train ridge BC, two DAgger rounds and anchored PPO into a fresh RUN. This reproduction is a new experiment, not a guaranteed pass.
From .:
OUT="$(mktemp -d /tmp/microduck-brush-eval.XXXXXX)"; PYTHONPATH=rlx:microduck_local/src rlx/.venv-microduck/bin/python rlx/examples/ppo_microduck_brush.py eval --onnx rlx/runs/studio/drawing/brush-color-v2-03/policy.onnx --out "$OUT/ppo-eval.json" --seed 10001 --episodes 4
Evaluate the published PPO ONNX on ten conditions times four seeds; write a separate report, not over the source evidence.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3/3
From .:
OUT="$(mktemp -d /tmp/microduck-brush-bc-eval.XXXXXX)"; PYTHONPATH=rlx:microduck_local/src rlx/.venv-microduck/bin/python rlx/examples/ppo_microduck_brush.py eval --onnx rlx/runs/studio/drawing/brush-color-v2-03/bc.onnx --out "$OUT/bc-eval.json" --seed 10001 --episodes 4
Evaluate matching BC with the identical gate; do not compare PPO against an unmatched teacher or different task.
From .:
OUT="$(mktemp -d /tmp/microduck-brush-render.XXXXXX)"; PYTHONPATH=rlx:microduck_local/src rlx/.venv-microduck/bin/python rlx/examples/render_microduck_brush.py --onnx rlx/runs/studio/drawing/brush-color-v2-03/policy.onnx --out "$OUT" --seed 501 --seconds 120
Render the published learned ONNX with no runtime teacher. The 120 s request completes a 119.96 s authored trajectory.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does the logged signal match the task?
Chart source: rlx/runs/studio/drawing/brush-color-v2-03/ppo_history.csv
Eight anchored PPO update records from the accepted brush-color-v2-03 run. steps is the cumulative fresh-transition count; reward_mean is per-step reward; entropy_loss is the logged loss term, not policy entropy. No combined total loss or explained variance is invented. Historical pencil metrics are a different experiment.
Training reward is an optimization signal, not the acceptance test. See raw/&lt;case&gt;/ for complete recorded fields.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inspect actor, critic and policy drift
Chart source: rlx/runs/studio/drawing/brush-color-v2-03/ppo_history.csv
Eight anchored PPO update records from the accepted brush-color-v2-03 run. steps is the cumulative fresh-transition count; reward_mean is per-step reward; entropy_loss is the logged loss term, not policy entropy. No combined total loss or explained variance is invented. Historical pencil metrics are a different experiment.
A lower loss does not prove a better robot skill. Loss sign and scale depend on the implementation.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Diagnostics: is the optimizer behaving?
Chart source: rlx/runs/studio/drawing/brush-color-v2-03/ppo_history.csv
Eight anchored PPO update records from the accepted brush-color-v2-03 run. steps is the cumulative fresh-transition count; reward_mean is per-step reward; entropy_loss is the logged loss term, not policy entropy. No combined total loss or explained variance is invented. Historical pencil metrics are a different experiment.
Entropy, clipping, explained variance and timing are diagnostics — not a standalone pass/fail certificate.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1/2
anchor_max_drift: first 0.00008613 → final 0.0001460; min 0.00008613, max 0.0001597; 8 logged samples.
approx_kl: first 0.0002954 → final 0.0001603; min 0.00009847, max 0.0002954; 8 logged samples.
clip_fraction: first 0.02808 → final 0.01131; min 0.004313, max 0.02808; 8 logged samples.
entropy_loss: first 111.8 → final 111.8; min 111.8, max 111.8; 8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2/2
policy_gradient_loss: first -0.0005970 → final -0.0004170; min -0.001051, max -0.0002070; 8 logged samples.
reward_mean: first 3.293 → final 3.302; min 3.293, max 3.303; 8 logged samples.
value_loss: first 3603 → final 3616; min 3603, max 3618; 8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1/3
Freeze model bytes before evaluation. Check ONNX, checkpoint, sidecar, embedded training metadata and archived training-source hashes; inspect provenance_errors rather than treating a filename as provenance.
Ten required configurations: nominal; offset (0.002,0.002) m; scale 0.95; grip friction 0.9; brush stiffness 30 N/m; combined_left; combined_small; combined_right; boundary_large; boundary_soft. Each must pass all four seeds.
Combined gates vary offset, scale, friction and stiffness together. Boundaries reach scale 0.88 to 1.12, grip friction 0.8 and stiffness 18 to 40 N/m; exact configurations are retained in raw/drawing/eval.json and the source workflow.
For each of gold, orange, charcoal and blue: coverage &gt;=0.95 and precision &gt;=0.95 at geometric tolerance 0.0015 m. Require a full 5,998-step trajectory, no fall/drop and assistance=0.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2/3
Safety-style simulation gates: grasp_fraction &gt;=0.90, max_normal_force_n &lt;0.5, max_compression_m &lt;0.0035, pen_up_leak_fraction &lt;0.05. These are simulation acceptance checks, not physical-robot safety certification.
Require actual physical palette loading in gold -&gt; orange -&gt; charcoal -&gt; blue order. Both null and open_jaw negative controls must fail. Reference-target substitution or merely showing a colorful texture is not valid evidence.
Evaluate matching BC with the same condition and seed suite. PPO 40/40 and BC 40/40 support preservation; neither success rate nor the slightly lower PPO precision demonstrates PPO superiority.
Both final PPO and matching BC reports allow an evaluator-only pipeline change: training_pipeline_source_match=false, environment_source_match=true and provenance_errors=[]. The archived training script still matches each model. Matching BC hardened re-evaluation completed on September 11, 2026 at 21:41:35 UTC.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3/3
Bind render source_sha256 to the evaluated PPO ONNX. Separately inspect the browser receipt: viewer.json reports passed=false for a bounded live check. A successful offline ONNX suite does not imply every UI verification passed.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1/3
Released brush-color-v2-03: passed=true, skill_status=passed, 40/40 required PPO episodes, ten unique configurations and four seeds each. Each run completes 5,998 steps / 119.96 s with assistance=0.
PPO aggregate mean_coverage=1.0 and mean_precision=0.999531977503557. Matching BC also passes 40/40, with mean_coverage=1.0 and mean_precision=0.9996346455645799. Conclusion: PPO preserved successful BC/DAgger behavior.
PPO worst per-color precision is 0.9862436754827598, above 0.95; minimum grasp_fraction is 0.9998332777592531. Aggregate coverage must not hide a failed individual color or seed.
PPO peak force 0.040318330721211285 N, peak compression 0.0015517988613261476 m and maximum pen-up leak 0.04143426294820717 all satisfy the declared gates. These are maxima over the required evaluation suite, not a single frame.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2/3
All eight recorded updates passed the anchor gate. reward_mean moves from 3.2931220531463623 to 3.3020718097686768; the small change is not proof of improved painting.
Final policy_gradient_loss=-0.0004169998671083401; value_loss=3616.0631205240884; approx_kl=0.0001603432756382972; clip_fraction=0.011311848958333334. Value loss remains large despite accepted skill behavior: optimizer diagnostics and task success differ.
Source-bound showcase: controller=onnx, teacher_diagnostic=false, assessment passed=true, 3,484 recorded contact rows and all four colors. The actual painted image comes from the contact trace, not the authored reference image.
History remains intact: the two pencil PPO trials failed; brush-color-v2-01 was preliminary 20/20; brush-color-v2-02 failed BC validation with data seed 101; final brush-color-v2-03 uses data seed 11 and train seed 101.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3/3
Independent boundaries: final PPO and matching BC both report provenance_errors=[] and environment_source_match=true. The browser/live receipt still reports passed=false. Do not silently merge independent model acceptance and browser verification.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Successful rollout: actual contact painting
Source image: docs/drawing-case/brush/media/painting.png
Actual four-color brush contact painting from the released PPO ONNX; not the reference target. The full 40-episode suite passes, and matching BC also passes. Source: docs/drawing-case/brush/media/render.json.
This slide shows the saved result image itself, not an early video poster or generated illustration.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Saved policy video
Source: rlx/runs/studio/drawing/brush-color-v2-03/render/rollout.mp4
Embedded video bytes are copied unchanged, not regenerated and not sped up. A single video is not a seed sweep. PowerPoint playback requires a user click; use the included MP4 in a local player if a presentation viewer cannot decode embedded media.
Successful fixed-template simulated painting is now supported. The earlier pencil experiments were not retroactively successful, and a new 93/15 brush contract is not a replacement for stock 61/14 deployment.
BC/DAgger already passed the same 40/40 benchmark with slightly higher precision. No PPO improvement, from-scratch acquisition or single-factor causal explanation is established.
The actor ignores color-tail observations 83:93; color and dip order are authored. Do not describe the system as learned color planning, vision, arbitrary drawing or autonomous missed-dip recovery.
The brush starts in the mouth. Pickup, washing, pigment mixing, material calibration, real servo safety and hardware transfer remain untested. Decorative hairs are not independently simulated flexible bristles.
The failed brush data-seed-101 attempt demonstrates seed sensitivity. Repeating the recipe with a different seed is an experiment, not a promised classroom pass.
Anchor acceptance limits action drift only on selected training observations. It is not an independent generalization or painting-quality certificate; the 40-episode ONNX suite provides separate evidence.
This classroom update reuses existing training/evaluation artifacts and video; it performs no new training. Browser verification and any future model re-evaluation must be tracked independently.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feasibility video
Source: docs/drawing-case/teacher-render/rollout.mp4
Embedded video bytes are copied unchanged, not regenerated and not sped up. A single video is not a seed sweep. PowerPoint playback requires a user click; use the included MP4 in a local player if a presentation viewer cannot decode embedded media.
Successful fixed-template simulated painting is now supported. The earlier pencil experiments were not retroactively successful, and a new 93/15 brush contract is not a replacement for stock 61/14 deployment.
BC/DAgger already passed the same 40/40 benchmark with slightly higher precision. No PPO improvement, from-scratch acquisition or single-factor causal explanation is established.
The actor ignores color-tail observations 83:93; color and dip order are authored. Do not describe the system as learned color planning, vision, arbitrary drawing or autonomous missed-dip recovery.
The brush starts in the mouth. Pickup, washing, pigment mixing, material calibration, real servo safety and hardware transfer remain untested. Decorative hairs are not independently simulated flexible bristles.
The failed brush data-seed-101 attempt demonstrates seed sensitivity. Repeating the recipe with a different seed is an experiment, not a promised classroom pass.
Anchor acceptance limits action drift only on selected training observations. It is not an independent generalization or painting-quality certificate; the 40-episode ONNX suite provides separate evidence.
This classroom update reuses existing training/evaluation artifacts and video; it performs no new training. Browser verification and any future model re-evaluation must be tracked independently.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1/2
Successful fixed-template simulated painting is now supported. The earlier pencil experiments were not retroactively successful, and a new 93/15 brush contract is not a replacement for stock 61/14 deployment.
BC/DAgger already passed the same 40/40 benchmark with slightly higher precision. No PPO improvement, from-scratch acquisition or single-factor causal explanation is established.
The actor ignores color-tail observations 83:93; color and dip order are authored. Do not describe the system as learned color planning, vision, arbitrary drawing or autonomous missed-dip recovery.
The brush starts in the mouth. Pickup, washing, pigment mixing, material calibration, real servo safety and hardware transfer remain untested. Decorative hairs are not independently simulated flexible bristles.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2/2
The failed brush data-seed-101 attempt demonstrates seed sensitivity. Repeating the recipe with a different seed is an experiment, not a promised classroom pass.
Anchor acceptance limits action drift only on selected training observations. It is not an independent generalization or painting-quality certificate; the 40-episode ONNX suite provides separate evidence.
This classroom update reuses existing training/evaluation artifacts and video; it performs no new training. Browser verification and any future model re-evaluation must be tracked independently.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1/2
Explain the three contracts: stock 61/14, historical pencil 83/15 and current brush 93/15. Identify the passive compliance coordinate that is not an additional action.
Compute fresh PPO transitions as 1 * 6144 * 8 = 49,152. Explain why two optimizer epochs, teacher records and contact rows are not extra on-policy simulator transitions.
Trace one approach -&gt; dip -&gt; paint sequence. Distinguish the authored target plan, learned motor action, physical pigment loading and contact-based scoring.
Read reward_mean, policy_gradient_loss, value_loss, approx_kl, clip_fraction, entropy_loss and anchor_max_drift from the eight-row CSV. Explain why entropy_loss is not entropy and why accepted_update is not a success-rate curve.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2/2
Propose one controlled change: anchor limit, exploration noise, or training-data seed. Keep the BC baseline, source hashes, evaluation conditions and acceptance thresholds fixed; retain rejected updates and failed runs.
Compare the 40/40 BC and PPO tables. Write the strongest justified claim, then name the missing evidence needed to claim PPO improved quality, generalized to unseen artwork, or worked on a physical robot.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 an experiment, not just a video
Before training: write one hypothesis, the changed parameter, the fixed baseline, seed list, acceptance criteria and time/transition budget.
During training: save the exact command, environment versions, initialization, checkpoint and raw reward/loss/KL metrics. Never overwrite the saved reference run.
After training: evaluate the frozen exported policy on matched seeds; include all failures, aggregate metrics, the full rollout video and a source-bound result table.
Rubric / 10: reproducibility 2; environment and reward explanation 2; PPO and metrics interpretation 2; honest verification 2; one evidence-based next experiment 2.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1/2
docs/drawing-case/brush/README.en.md
docs/drawing-case/brush/RESULTS.md
docs/drawing-case/brush/DIAGNOSIS.md
docs/drawing-case/brush/training.json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2/2
docs/microduck-training-student-book/chapters/02a-ppo-code-lab.md
docs/microduck-training-student-book/chapters/02b-gae-workshop.md
scripts/scenarios/README.md
README.md
Teaching protocol: ask students to predict the outcome before showing the evidence. Separate saved measurements, explanatory arithmetic, and proposed experiments. Never imply that these slides report newly trained policies or hardware validation.
Case sources (repository-relative):
docs/drawing-case/brush/README.en.md
docs/drawing-case/brush/RESULTS.md
docs/drawing-case/brush/DIAGNOSIS.md
docs/drawing-case/brush/training.json
docs/drawing-case/brush/README.md
rlx/runs/studio/drawing/brush-color-v2-03/eval.json
rlx/runs/studio/drawing/brush-color-v2-03/bc-eval.json
rlx/runs/studio/drawing/brush-color-v2-03/training.json
rlx/runs/studio/drawing/brush-color-v2-03/ppo_history.csv
rlx/runs/studio/drawing/brush-color-v2-03/render/render.json
rlx/runs/studio/drawing/brush-color-v2-03/policy.zip.json
rlx/runs/studio/drawing/brush-color-v2-03/sources/ppo_microduck_brush.py
rlx/runs/brush-data/final-seed11/teacher.json
docs/drawing-case/brush/evidence/viewer.json
docs/drawing-case/brush/evidence/workflow.json
rlx/rlx/environments/brush.py
rlx/rlx/environments/brush_reference.py
rlx/rlx/models/drawing_feedback.py
rlx/examples/ppo_microduck_brush.py
rlx/examples/render_microduck_brush.py
docs/drawing-case/RESULTS.md
docs/drawing-case/results.json
docs/drawing-case/teacher-render/render.json
PPO teaching references:
docs/microduck-training-student-book/chapters/02a-ppo-code-lab.md
docs/microduck-training-student-book/chapters/02b-gae-workshop.md
scripts/scenarios/README.md
README.md
Evidence edition: 2026-09-11. Complete raw recorded metrics are bundled under raw/drawing/.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video" Target="../media/media-34-1.mp4"/><Relationship Id="rId2" Type="http://schemas.microsoft.com/office/2007/relationships/media" Target="../media/media-34-1.mp4"/><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video" Target="../media/media-35-1.mp4"/><Relationship Id="rId2" Type="http://schemas.microsoft.com/office/2007/relationships/media" Target="../media/media-35-1.mp4"/><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EIGHT CASES / ONE LEARNING METHOD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LAB 08</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01</a:t>
            </a:r>
            <a:endParaRPr lang="en-US" sz="1200" dirty="0"/>
          </a:p>
        </p:txBody>
      </p:sp>
      <p:sp>
        <p:nvSpPr>
          <p:cNvPr id="8" name="Text 6"/>
          <p:cNvSpPr/>
          <p:nvPr/>
        </p:nvSpPr>
        <p:spPr>
          <a:xfrm>
            <a:off x="658368" y="1828800"/>
            <a:ext cx="5532120" cy="1298448"/>
          </a:xfrm>
          <a:prstGeom prst="rect">
            <a:avLst/>
          </a:prstGeom>
          <a:noFill/>
          <a:ln/>
        </p:spPr>
        <p:txBody>
          <a:bodyPr wrap="square" lIns="0" tIns="0" rIns="0" bIns="0" rtlCol="0" anchor="ctr"/>
          <a:lstStyle/>
          <a:p>
            <a:pPr indent="0" marL="0">
              <a:buNone/>
            </a:pPr>
            <a:r>
              <a:rPr lang="en-US" sz="4300" b="1" dirty="0">
                <a:solidFill>
                  <a:srgbClr val="142D3B"/>
                </a:solidFill>
                <a:latin typeface="Aptos" pitchFamily="34" charset="0"/>
                <a:ea typeface="Aptos" pitchFamily="34" charset="-122"/>
                <a:cs typeface="Aptos" pitchFamily="34" charset="-120"/>
              </a:rPr>
              <a:t>Swimming-duck</a:t>
            </a:r>
            <a:endParaRPr lang="en-US" sz="4300" dirty="0"/>
          </a:p>
          <a:p>
            <a:pPr indent="0" marL="0">
              <a:buNone/>
            </a:pPr>
            <a:r>
              <a:rPr lang="en-US" sz="4300" b="1" dirty="0">
                <a:solidFill>
                  <a:srgbClr val="142D3B"/>
                </a:solidFill>
                <a:latin typeface="Aptos" pitchFamily="34" charset="0"/>
                <a:ea typeface="Aptos" pitchFamily="34" charset="-122"/>
                <a:cs typeface="Aptos" pitchFamily="34" charset="-120"/>
              </a:rPr>
              <a:t>drawing</a:t>
            </a:r>
            <a:endParaRPr lang="en-US" sz="4300" dirty="0"/>
          </a:p>
        </p:txBody>
      </p:sp>
      <p:sp>
        <p:nvSpPr>
          <p:cNvPr id="9" name="Text 7"/>
          <p:cNvSpPr/>
          <p:nvPr/>
        </p:nvSpPr>
        <p:spPr>
          <a:xfrm>
            <a:off x="685800" y="3328416"/>
            <a:ext cx="5230368" cy="1005840"/>
          </a:xfrm>
          <a:prstGeom prst="rect">
            <a:avLst/>
          </a:prstGeom>
          <a:noFill/>
          <a:ln/>
        </p:spPr>
        <p:txBody>
          <a:bodyPr wrap="square" lIns="0" tIns="0" rIns="0" bIns="0" rtlCol="0" anchor="ctr"/>
          <a:lstStyle/>
          <a:p>
            <a:pPr indent="0" marL="0">
              <a:buNone/>
            </a:pPr>
            <a:r>
              <a:rPr lang="en-US" sz="2300" dirty="0">
                <a:solidFill>
                  <a:srgbClr val="566C79"/>
                </a:solidFill>
                <a:latin typeface="Aptos" pitchFamily="34" charset="0"/>
                <a:ea typeface="Aptos" pitchFamily="34" charset="-122"/>
                <a:cs typeface="Aptos" pitchFamily="34" charset="-120"/>
              </a:rPr>
              <a:t>Colored-duck painting: successful brush-v2 feedback control</a:t>
            </a:r>
            <a:endParaRPr lang="en-US" sz="2300" dirty="0"/>
          </a:p>
        </p:txBody>
      </p:sp>
      <p:sp>
        <p:nvSpPr>
          <p:cNvPr id="10" name="Text 8"/>
          <p:cNvSpPr/>
          <p:nvPr/>
        </p:nvSpPr>
        <p:spPr>
          <a:xfrm>
            <a:off x="685800" y="4645152"/>
            <a:ext cx="5230368" cy="548640"/>
          </a:xfrm>
          <a:prstGeom prst="rect">
            <a:avLst/>
          </a:prstGeom>
          <a:noFill/>
          <a:ln/>
        </p:spPr>
        <p:txBody>
          <a:bodyPr wrap="square" lIns="0" tIns="0" rIns="0" bIns="0" rtlCol="0" anchor="ctr"/>
          <a:lstStyle/>
          <a:p>
            <a:pPr indent="0" marL="0">
              <a:buNone/>
            </a:pPr>
            <a:r>
              <a:rPr lang="en-US" sz="1700" dirty="0">
                <a:solidFill>
                  <a:srgbClr val="566C79"/>
                </a:solidFill>
                <a:latin typeface="Aptos" pitchFamily="34" charset="0"/>
                <a:ea typeface="Aptos" pitchFamily="34" charset="-122"/>
                <a:cs typeface="Aptos" pitchFamily="34" charset="-120"/>
              </a:rPr>
              <a:t>Environment design · PPO · Honest verification</a:t>
            </a:r>
            <a:endParaRPr lang="en-US" sz="1700" dirty="0"/>
          </a:p>
        </p:txBody>
      </p:sp>
      <p:pic>
        <p:nvPicPr>
          <p:cNvPr id="11" name="Image 0" descr="/Volumes/ExternalSSD/geoagent/microduck-lab/docs/classroom-ppt/assets/drawing/rollout-poster.png">    </p:cNvPr>
          <p:cNvPicPr>
            <a:picLocks noChangeAspect="1"/>
          </p:cNvPicPr>
          <p:nvPr/>
        </p:nvPicPr>
        <p:blipFill>
          <a:blip r:embed="rId1"/>
          <a:stretch>
            <a:fillRect/>
          </a:stretch>
        </p:blipFill>
        <p:spPr>
          <a:xfrm>
            <a:off x="6530340" y="1783080"/>
            <a:ext cx="4815840" cy="3611880"/>
          </a:xfrm>
          <a:prstGeom prst="rect">
            <a:avLst/>
          </a:prstGeom>
        </p:spPr>
      </p:pic>
      <p:sp>
        <p:nvSpPr>
          <p:cNvPr id="12" name="Text 9"/>
          <p:cNvSpPr/>
          <p:nvPr/>
        </p:nvSpPr>
        <p:spPr>
          <a:xfrm>
            <a:off x="685800" y="5550408"/>
            <a:ext cx="10698480" cy="393192"/>
          </a:xfrm>
          <a:prstGeom prst="rect">
            <a:avLst/>
          </a:prstGeom>
          <a:noFill/>
          <a:ln/>
        </p:spPr>
        <p:txBody>
          <a:bodyPr wrap="square" lIns="0" tIns="0" rIns="0" bIns="0" rtlCol="0" anchor="ctr"/>
          <a:lstStyle/>
          <a:p>
            <a:pPr indent="0" marL="0">
              <a:buNone/>
            </a:pPr>
            <a:r>
              <a:rPr lang="en-US" sz="2000" b="1" spc="100" kern="0" dirty="0">
                <a:solidFill>
                  <a:srgbClr val="087E8B"/>
                </a:solidFill>
                <a:latin typeface="Aptos" pitchFamily="34" charset="0"/>
                <a:ea typeface="Aptos" pitchFamily="34" charset="-122"/>
                <a:cs typeface="Aptos" pitchFamily="34" charset="-120"/>
              </a:rPr>
              <a:t>BUILD  →  TRAIN  →  VERIFY  →  EXPLAIN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What you will build — and what the evidence says</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200" dirty="0">
                <a:solidFill>
                  <a:srgbClr val="142D3B"/>
                </a:solidFill>
                <a:latin typeface="Aptos" pitchFamily="34" charset="0"/>
                <a:ea typeface="Aptos" pitchFamily="34" charset="-122"/>
                <a:cs typeface="Aptos" pitchFamily="34" charset="-120"/>
              </a:rPr>
              <a:t>Use case: MicroDuck paints a fixed four-color swimming duck with a preloaded free brush in MuJoCo. The released brush-color-v2-03 ONNX passes 40/40 required episodes. Teach the complete teacher-data, ridge BC, DAgger, anchored PPO, export and verification pipeline. Matching BC also passes 40/40: PPO preserved successful behavior, not demonstrated improvement. Historical pencil failures remain separate evidence.</a:t>
            </a:r>
            <a:endParaRPr lang="en-US" sz="12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By the end: describe the scene, map observations to actions, explain the reward, trace one PPO update, run a bounded experiment, and defend an evaluation claim.</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Successful fixed-template simulated painting is now supported. The earlier pencil experiments were not retroactively successful, and a new 93/15 brush contract is not a replacement for stock 61/14 deployment.</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Scope: local MuJoCo simulation. Do not deploy these classroom artifacts to a physical robot; hardware transfer requires a separate validated process.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Materials and prerequisites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A full-collision MicroDuck simulation, canvas and easel; 14 original joint controls plus one simulated lower-jaw action. This is an educational model, not a hardware bill of materials.</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One free brush held between upper/lower beak pads through the pencil_free joint. It is preloaded, not welded to the head; autonomous pickup is outside this case.</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One passive compliant contact tuft: sphere radius 1.0 mm, mass 0.00003 kg, bristle_compression travel -3.0 to 0.3 mm. Three decorative hairs and a ferrule are visual, not separate flexible-contact bristles.</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A passive spring with stiffness 25 N/m, damping 0.32 N s/m, armature 0.001 kg and default grip friction 1.2. It adds compliance, not a sixteenth motor.</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Materials and prerequisites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04</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Four physical paint wells: gold, orange, charcoal and blue; one non-contact palette backing. Tip contact loads discrete pigment; no fluid mixing, washing or residual-paint dynamics are simulated.</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sp>
      <p:sp>
        <p:nvSpPr>
          <p:cNvPr id="12" name="Text 10"/>
          <p:cNvSpPr/>
          <p:nvPr/>
        </p:nvSpPr>
        <p:spPr>
          <a:xfrm>
            <a:off x="731520" y="33162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indent="0" marL="0">
              <a:buNone/>
            </a:pPr>
            <a:r>
              <a:rPr lang="en-US" sz="1800" dirty="0">
                <a:solidFill>
                  <a:srgbClr val="142D3B"/>
                </a:solidFill>
                <a:latin typeface="Aptos" pitchFamily="34" charset="0"/>
                <a:ea typeface="Aptos" pitchFamily="34" charset="-122"/>
                <a:cs typeface="Aptos" pitchFamily="34" charset="-120"/>
              </a:rPr>
              <a:t>Existing CPU Python environment with MuJoCo, Torch, Stable-Baselines3, Gymnasium, NumPy, ONNX, ONNX Runtime, Pillow and FFmpeg. Use rlx/.venv-microduck/bin/python; source/model compatibility matters more than an unverified package upgrade.</a:t>
            </a:r>
            <a:endParaRPr lang="en-US" sz="18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sp>
      <p:sp>
        <p:nvSpPr>
          <p:cNvPr id="15" name="Text 13"/>
          <p:cNvSpPr/>
          <p:nvPr/>
        </p:nvSpPr>
        <p:spPr>
          <a:xfrm>
            <a:off x="731520" y="47487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indent="0" marL="0">
              <a:buNone/>
            </a:pPr>
            <a:r>
              <a:rPr lang="en-US" sz="1800" dirty="0">
                <a:solidFill>
                  <a:srgbClr val="142D3B"/>
                </a:solidFill>
                <a:latin typeface="Aptos" pitchFamily="34" charset="0"/>
                <a:ea typeface="Aptos" pitchFamily="34" charset="-122"/>
                <a:cs typeface="Aptos" pitchFamily="34" charset="-120"/>
              </a:rPr>
              <a:t>Retained artifacts: final-seed11 teacher dataset and sidecar; brush-color-v2-03 archived source package, training metadata, BC/PPO checkpoints, frozen ONNX files, evaluations and actual-contact video. A slides-only ZIP does not include every weight or training dependency.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Current contract: microduck-brush-v2, 93 observations and 15 actions, simulation_only with hardware_compatible=false. Historical pencil uses microduck-drawing-v1 83/15. Neither can hot-swap into stock 61/14 walking deployment.</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550" dirty="0">
                <a:solidFill>
                  <a:srgbClr val="142D3B"/>
                </a:solidFill>
                <a:latin typeface="Aptos" pitchFamily="34" charset="0"/>
                <a:ea typeface="Aptos" pitchFamily="34" charset="-122"/>
                <a:cs typeface="Aptos" pitchFamily="34" charset="-120"/>
              </a:rPr>
              <a:t>Observations 0:61 retain IMU angular velocity, projected gravity, 14 relative joint positions, prior joint velocities/actions and zeroed reserved command slots. Observations 61:83 add mouth state, tip/target geometry, velocities, pen-down request and contact forces.</a:t>
            </a:r>
            <a:endParaRPr lang="en-US" sz="15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Brush tail 83:87 = loaded-color one-hot; 87:91 = planned-color one-hot; 91 = compression in millimeters; 92 = trajectory mode divided by 2. The current actor does not consume 83:93: color planning and missed-dip recovery are not learned.</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Actions 0:14 address the original joints; action[14] maps to mouth_target = 0.24 + 0.36 * action[14]. The structured head actor predicts a delta bounded to 0.025 per step and adds it to the previous action only at output.</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Aptos" pitchFamily="34" charset="0"/>
                <a:ea typeface="Aptos" pitchFamily="34" charset="-122"/>
                <a:cs typeface="Aptos" pitchFamily="34" charset="-120"/>
              </a:rPr>
              <a:t>Head features combine position, target error, brush direction, contact force and quadratic interactions. Ankles use linear gravity/angular-velocity feedback; other body joints and the jaw learn constant offsets. This is a structured learned feedback policy, not an unconstrained image-to-action network.</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Physics timestep 0.002 s gives 500 Hz; 10 substeps give 0.020 s control at 50 Hz. A completed reference trajectory contains 5,998 control steps, measured as 119.96 s despite the 120 s command budget.</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Pigment loads only after actual tip/well force above 0.0001 N. Canvas marks use actual MuJoCo tip contact and the currently loaded color, not reference pixels pasted onto the canvas.</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The fixed duck pattern, color assignment, stroke sequence and approach/dip/lift targets are authored. The learned motor controller follows that plan without a runtime Jacobian teacher. No camera, image recognition or arbitrary visual composition is claimed.</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07</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Success is evaluated independently over ten unique configurations and four seeds per configuration. Reset perturbations test a bounded domain; a single attractive render is not the 40-episode acceptance result.</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How this case is built: one evidence loop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08</a:t>
            </a:r>
            <a:endParaRPr lang="en-US" sz="1200" dirty="0"/>
          </a:p>
        </p:txBody>
      </p:sp>
      <p:sp>
        <p:nvSpPr>
          <p:cNvPr id="8" name="Shape 6"/>
          <p:cNvSpPr/>
          <p:nvPr/>
        </p:nvSpPr>
        <p:spPr>
          <a:xfrm>
            <a:off x="594360" y="1828800"/>
            <a:ext cx="3227832" cy="1234440"/>
          </a:xfrm>
          <a:prstGeom prst="rect">
            <a:avLst/>
          </a:prstGeom>
          <a:solidFill>
            <a:srgbClr val="FFFFFF"/>
          </a:solidFill>
          <a:ln w="6350">
            <a:solidFill>
              <a:srgbClr val="FFFFFF"/>
            </a:solidFill>
            <a:prstDash val="solid"/>
          </a:ln>
        </p:spPr>
      </p:sp>
      <p:sp>
        <p:nvSpPr>
          <p:cNvPr id="9" name="Text 7"/>
          <p:cNvSpPr/>
          <p:nvPr/>
        </p:nvSpPr>
        <p:spPr>
          <a:xfrm>
            <a:off x="777240"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01 / MATERIALS</a:t>
            </a:r>
            <a:endParaRPr lang="en-US" sz="1200" dirty="0"/>
          </a:p>
        </p:txBody>
      </p:sp>
      <p:sp>
        <p:nvSpPr>
          <p:cNvPr id="10" name="Text 8"/>
          <p:cNvSpPr/>
          <p:nvPr/>
        </p:nvSpPr>
        <p:spPr>
          <a:xfrm>
            <a:off x="777240"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Free brush + physical palette</a:t>
            </a:r>
            <a:endParaRPr lang="en-US" sz="2100" dirty="0"/>
          </a:p>
        </p:txBody>
      </p:sp>
      <p:sp>
        <p:nvSpPr>
          <p:cNvPr id="11" name="Shape 9"/>
          <p:cNvSpPr/>
          <p:nvPr/>
        </p:nvSpPr>
        <p:spPr>
          <a:xfrm>
            <a:off x="4471416" y="1828800"/>
            <a:ext cx="3227832" cy="1234440"/>
          </a:xfrm>
          <a:prstGeom prst="rect">
            <a:avLst/>
          </a:prstGeom>
          <a:solidFill>
            <a:srgbClr val="FFFFFF"/>
          </a:solidFill>
          <a:ln w="6350">
            <a:solidFill>
              <a:srgbClr val="FFFFFF"/>
            </a:solidFill>
            <a:prstDash val="solid"/>
          </a:ln>
        </p:spPr>
      </p:sp>
      <p:sp>
        <p:nvSpPr>
          <p:cNvPr id="12" name="Text 10"/>
          <p:cNvSpPr/>
          <p:nvPr/>
        </p:nvSpPr>
        <p:spPr>
          <a:xfrm>
            <a:off x="4654296"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02 / DATA</a:t>
            </a:r>
            <a:endParaRPr lang="en-US" sz="1200" dirty="0"/>
          </a:p>
        </p:txBody>
      </p:sp>
      <p:sp>
        <p:nvSpPr>
          <p:cNvPr id="13" name="Text 11"/>
          <p:cNvSpPr/>
          <p:nvPr/>
        </p:nvSpPr>
        <p:spPr>
          <a:xfrm>
            <a:off x="4654296"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47,984 teacher records</a:t>
            </a:r>
            <a:endParaRPr lang="en-US" sz="2100" dirty="0"/>
          </a:p>
        </p:txBody>
      </p:sp>
      <p:sp>
        <p:nvSpPr>
          <p:cNvPr id="14" name="Shape 12"/>
          <p:cNvSpPr/>
          <p:nvPr/>
        </p:nvSpPr>
        <p:spPr>
          <a:xfrm>
            <a:off x="8348472" y="1828800"/>
            <a:ext cx="3227832" cy="1234440"/>
          </a:xfrm>
          <a:prstGeom prst="rect">
            <a:avLst/>
          </a:prstGeom>
          <a:solidFill>
            <a:srgbClr val="FFFFFF"/>
          </a:solidFill>
          <a:ln w="6350">
            <a:solidFill>
              <a:srgbClr val="FFFFFF"/>
            </a:solidFill>
            <a:prstDash val="solid"/>
          </a:ln>
        </p:spPr>
      </p:sp>
      <p:sp>
        <p:nvSpPr>
          <p:cNvPr id="15" name="Text 13"/>
          <p:cNvSpPr/>
          <p:nvPr/>
        </p:nvSpPr>
        <p:spPr>
          <a:xfrm>
            <a:off x="8531352"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03 / WARM START</a:t>
            </a:r>
            <a:endParaRPr lang="en-US" sz="1200" dirty="0"/>
          </a:p>
        </p:txBody>
      </p:sp>
      <p:sp>
        <p:nvSpPr>
          <p:cNvPr id="16" name="Text 14"/>
          <p:cNvSpPr/>
          <p:nvPr/>
        </p:nvSpPr>
        <p:spPr>
          <a:xfrm>
            <a:off x="8531352"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Ridge BC + 2 DAgger rounds</a:t>
            </a:r>
            <a:endParaRPr lang="en-US" sz="2100" dirty="0"/>
          </a:p>
        </p:txBody>
      </p:sp>
      <p:sp>
        <p:nvSpPr>
          <p:cNvPr id="17" name="Shape 15"/>
          <p:cNvSpPr/>
          <p:nvPr/>
        </p:nvSpPr>
        <p:spPr>
          <a:xfrm>
            <a:off x="8348472" y="3886200"/>
            <a:ext cx="3227832" cy="1234440"/>
          </a:xfrm>
          <a:prstGeom prst="rect">
            <a:avLst/>
          </a:prstGeom>
          <a:solidFill>
            <a:srgbClr val="FFFFFF"/>
          </a:solidFill>
          <a:ln w="6350">
            <a:solidFill>
              <a:srgbClr val="FFFFFF"/>
            </a:solidFill>
            <a:prstDash val="solid"/>
          </a:ln>
        </p:spPr>
      </p:sp>
      <p:sp>
        <p:nvSpPr>
          <p:cNvPr id="18" name="Text 16"/>
          <p:cNvSpPr/>
          <p:nvPr/>
        </p:nvSpPr>
        <p:spPr>
          <a:xfrm>
            <a:off x="8531352"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04 / PPO</a:t>
            </a:r>
            <a:endParaRPr lang="en-US" sz="1200" dirty="0"/>
          </a:p>
        </p:txBody>
      </p:sp>
      <p:sp>
        <p:nvSpPr>
          <p:cNvPr id="19" name="Text 17"/>
          <p:cNvSpPr/>
          <p:nvPr/>
        </p:nvSpPr>
        <p:spPr>
          <a:xfrm>
            <a:off x="8531352"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49,152 steps + anchor gate</a:t>
            </a:r>
            <a:endParaRPr lang="en-US" sz="2100" dirty="0"/>
          </a:p>
        </p:txBody>
      </p:sp>
      <p:sp>
        <p:nvSpPr>
          <p:cNvPr id="20" name="Shape 18"/>
          <p:cNvSpPr/>
          <p:nvPr/>
        </p:nvSpPr>
        <p:spPr>
          <a:xfrm>
            <a:off x="4471416" y="3886200"/>
            <a:ext cx="3227832" cy="1234440"/>
          </a:xfrm>
          <a:prstGeom prst="rect">
            <a:avLst/>
          </a:prstGeom>
          <a:solidFill>
            <a:srgbClr val="FFFFFF"/>
          </a:solidFill>
          <a:ln w="6350">
            <a:solidFill>
              <a:srgbClr val="FFFFFF"/>
            </a:solidFill>
            <a:prstDash val="solid"/>
          </a:ln>
        </p:spPr>
      </p:sp>
      <p:sp>
        <p:nvSpPr>
          <p:cNvPr id="21" name="Text 19"/>
          <p:cNvSpPr/>
          <p:nvPr/>
        </p:nvSpPr>
        <p:spPr>
          <a:xfrm>
            <a:off x="4654296"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05 / VERIFY</a:t>
            </a:r>
            <a:endParaRPr lang="en-US" sz="1200" dirty="0"/>
          </a:p>
        </p:txBody>
      </p:sp>
      <p:sp>
        <p:nvSpPr>
          <p:cNvPr id="22" name="Text 20"/>
          <p:cNvSpPr/>
          <p:nvPr/>
        </p:nvSpPr>
        <p:spPr>
          <a:xfrm>
            <a:off x="4654296"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Frozen PPO and BC: 40/40</a:t>
            </a:r>
            <a:endParaRPr lang="en-US" sz="2100" dirty="0"/>
          </a:p>
        </p:txBody>
      </p:sp>
      <p:sp>
        <p:nvSpPr>
          <p:cNvPr id="23" name="Shape 21"/>
          <p:cNvSpPr/>
          <p:nvPr/>
        </p:nvSpPr>
        <p:spPr>
          <a:xfrm>
            <a:off x="594360" y="3886200"/>
            <a:ext cx="3227832" cy="1234440"/>
          </a:xfrm>
          <a:prstGeom prst="rect">
            <a:avLst/>
          </a:prstGeom>
          <a:solidFill>
            <a:srgbClr val="FFFFFF"/>
          </a:solidFill>
          <a:ln w="6350">
            <a:solidFill>
              <a:srgbClr val="FFFFFF"/>
            </a:solidFill>
            <a:prstDash val="solid"/>
          </a:ln>
        </p:spPr>
      </p:sp>
      <p:sp>
        <p:nvSpPr>
          <p:cNvPr id="24" name="Text 22"/>
          <p:cNvSpPr/>
          <p:nvPr/>
        </p:nvSpPr>
        <p:spPr>
          <a:xfrm>
            <a:off x="777240"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06 / EVIDENCE</a:t>
            </a:r>
            <a:endParaRPr lang="en-US" sz="1200" dirty="0"/>
          </a:p>
        </p:txBody>
      </p:sp>
      <p:sp>
        <p:nvSpPr>
          <p:cNvPr id="25" name="Text 23"/>
          <p:cNvSpPr/>
          <p:nvPr/>
        </p:nvSpPr>
        <p:spPr>
          <a:xfrm>
            <a:off x="777240"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Contact painting + full video</a:t>
            </a:r>
            <a:endParaRPr lang="en-US" sz="2100" dirty="0"/>
          </a:p>
        </p:txBody>
      </p:sp>
      <p:sp>
        <p:nvSpPr>
          <p:cNvPr id="26" name="Shape 24"/>
          <p:cNvSpPr/>
          <p:nvPr/>
        </p:nvSpPr>
        <p:spPr>
          <a:xfrm>
            <a:off x="3840480" y="2441448"/>
            <a:ext cx="566928" cy="0"/>
          </a:xfrm>
          <a:prstGeom prst="line">
            <a:avLst/>
          </a:prstGeom>
          <a:noFill/>
          <a:ln w="31750">
            <a:solidFill>
              <a:srgbClr val="087E8B"/>
            </a:solidFill>
            <a:prstDash val="solid"/>
            <a:tailEnd type="triangle"/>
          </a:ln>
        </p:spPr>
      </p:sp>
      <p:sp>
        <p:nvSpPr>
          <p:cNvPr id="27" name="Shape 25"/>
          <p:cNvSpPr/>
          <p:nvPr/>
        </p:nvSpPr>
        <p:spPr>
          <a:xfrm>
            <a:off x="7708392" y="2441448"/>
            <a:ext cx="576072" cy="0"/>
          </a:xfrm>
          <a:prstGeom prst="line">
            <a:avLst/>
          </a:prstGeom>
          <a:noFill/>
          <a:ln w="31750">
            <a:solidFill>
              <a:srgbClr val="087E8B"/>
            </a:solidFill>
            <a:prstDash val="solid"/>
            <a:tailEnd type="triangle"/>
          </a:ln>
        </p:spPr>
      </p:sp>
      <p:sp>
        <p:nvSpPr>
          <p:cNvPr id="28" name="Shape 26"/>
          <p:cNvSpPr/>
          <p:nvPr/>
        </p:nvSpPr>
        <p:spPr>
          <a:xfrm>
            <a:off x="9939528" y="3145536"/>
            <a:ext cx="0" cy="621792"/>
          </a:xfrm>
          <a:prstGeom prst="line">
            <a:avLst/>
          </a:prstGeom>
          <a:noFill/>
          <a:ln w="31750">
            <a:solidFill>
              <a:srgbClr val="087E8B"/>
            </a:solidFill>
            <a:prstDash val="solid"/>
            <a:tailEnd type="triangle"/>
          </a:ln>
        </p:spPr>
      </p:sp>
      <p:sp>
        <p:nvSpPr>
          <p:cNvPr id="29" name="Shape 27"/>
          <p:cNvSpPr/>
          <p:nvPr/>
        </p:nvSpPr>
        <p:spPr>
          <a:xfrm>
            <a:off x="7717536" y="4480560"/>
            <a:ext cx="530352" cy="0"/>
          </a:xfrm>
          <a:prstGeom prst="line">
            <a:avLst/>
          </a:prstGeom>
          <a:noFill/>
          <a:ln w="31750">
            <a:solidFill>
              <a:srgbClr val="087E8B"/>
            </a:solidFill>
            <a:prstDash val="solid"/>
            <a:headEnd type="triangle"/>
          </a:ln>
        </p:spPr>
      </p:sp>
      <p:sp>
        <p:nvSpPr>
          <p:cNvPr id="30" name="Shape 28"/>
          <p:cNvSpPr/>
          <p:nvPr/>
        </p:nvSpPr>
        <p:spPr>
          <a:xfrm>
            <a:off x="3840480" y="4480560"/>
            <a:ext cx="530352" cy="0"/>
          </a:xfrm>
          <a:prstGeom prst="line">
            <a:avLst/>
          </a:prstGeom>
          <a:noFill/>
          <a:ln w="31750">
            <a:solidFill>
              <a:srgbClr val="087E8B"/>
            </a:solidFill>
            <a:prstDash val="solid"/>
            <a:headEnd type="triangle"/>
          </a:ln>
        </p:spPr>
      </p:sp>
      <p:sp>
        <p:nvSpPr>
          <p:cNvPr id="31" name="Text 29"/>
          <p:cNvSpPr/>
          <p:nvPr/>
        </p:nvSpPr>
        <p:spPr>
          <a:xfrm>
            <a:off x="731520" y="5641848"/>
            <a:ext cx="10789920" cy="347472"/>
          </a:xfrm>
          <a:prstGeom prst="rect">
            <a:avLst/>
          </a:prstGeom>
          <a:noFill/>
          <a:ln/>
        </p:spPr>
        <p:txBody>
          <a:bodyPr wrap="square" lIns="0" tIns="0" rIns="0" bIns="0" rtlCol="0" anchor="ctr"/>
          <a:lstStyle/>
          <a:p>
            <a:pPr indent="0" marL="0">
              <a:buNone/>
            </a:pPr>
            <a:r>
              <a:rPr lang="en-US" sz="1900" b="1" dirty="0">
                <a:solidFill>
                  <a:srgbClr val="D96C35"/>
                </a:solidFill>
                <a:latin typeface="Aptos" pitchFamily="34" charset="0"/>
                <a:ea typeface="Aptos" pitchFamily="34" charset="-122"/>
                <a:cs typeface="Aptos" pitchFamily="34" charset="-120"/>
              </a:rPr>
              <a:t>Failure is data: change one cause, retrain, and repeat the same evaluation gates.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Build the case step by step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09</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First preserve the history: drawing-pilot-01 and drawing-refinement-02 each used 32,768 PPO transitions and failed pencil acceptance. Their teacher feasibility video is not a successful learned policy.</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Diagnosis found a confirmed configuration defect: intended initial_std=0.005 was reset to effective 0.02 after BC. Both historical PPO policies also drifted from BC. These observations do not prove a single cause for every failure.</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Build a separate brush-v2 contract with compliant contact, physical color wells and a structured action-delta actor. Multiple changes occurred together, so do not attribute the entire improvement to PPO or brush compliance alone.</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Archive training sources before collecting data. With data seed 11, the analytic Jacobian teacher provides eight 5,998-step episodes: 47,984 initial labeled observations/actions.</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Build the case step by step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10</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Fit ridge BC with ridge=0.01. Relabel student-visited states in two DAgger rounds and refit; dataset sizes become 47,984, 77,974 and 105,858. These are supervised fit records, not fresh PPO transitions.</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Warm-start PPO with training seed 101, small per-action noise and learning_rate=1e-7. Collect 49,152 genuine on-policy transitions; evaluate deterministic action drift on saved BC/DAgger anchor observations after each update.</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Accept an update only when maximum drift is finite and &lt;=0.00025; otherwise restore policy parameters and optimizer state. Export immutable deterministic PPO and matching BC ONNX with static 93-input/15-output interfaces.</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Run identical independent acceptance suites on both models, verify source/model hashes, inspect all failures and negative controls, then render the same PPO ONNX. The final gate passes; this lesson does not rerun training.</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PPO: improve the actor without trusting a huge step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11</a:t>
            </a:r>
            <a:endParaRPr lang="en-US" sz="1200" dirty="0"/>
          </a:p>
        </p:txBody>
      </p:sp>
      <p:sp>
        <p:nvSpPr>
          <p:cNvPr id="8" name="Shape 6"/>
          <p:cNvSpPr/>
          <p:nvPr/>
        </p:nvSpPr>
        <p:spPr>
          <a:xfrm>
            <a:off x="594360" y="1810512"/>
            <a:ext cx="10972800" cy="932688"/>
          </a:xfrm>
          <a:prstGeom prst="rect">
            <a:avLst/>
          </a:prstGeom>
          <a:solidFill>
            <a:srgbClr val="142D3B"/>
          </a:solidFill>
          <a:ln w="6350">
            <a:solidFill>
              <a:srgbClr val="142D3B"/>
            </a:solidFill>
            <a:prstDash val="solid"/>
          </a:ln>
        </p:spPr>
      </p:sp>
      <p:sp>
        <p:nvSpPr>
          <p:cNvPr id="9" name="Text 7"/>
          <p:cNvSpPr/>
          <p:nvPr/>
        </p:nvSpPr>
        <p:spPr>
          <a:xfrm>
            <a:off x="914400" y="1975104"/>
            <a:ext cx="10241280" cy="502920"/>
          </a:xfrm>
          <a:prstGeom prst="rect">
            <a:avLst/>
          </a:prstGeom>
          <a:noFill/>
          <a:ln/>
        </p:spPr>
        <p:txBody>
          <a:bodyPr wrap="square" lIns="0" tIns="0" rIns="0" bIns="0" rtlCol="0" anchor="ctr"/>
          <a:lstStyle/>
          <a:p>
            <a:pPr indent="0" marL="0">
              <a:buNone/>
            </a:pPr>
            <a:r>
              <a:rPr lang="en-US" sz="2900" b="1" dirty="0">
                <a:solidFill>
                  <a:srgbClr val="FFFFFF"/>
                </a:solidFill>
                <a:latin typeface="Aptos" pitchFamily="34" charset="0"/>
                <a:ea typeface="Aptos" pitchFamily="34" charset="-122"/>
                <a:cs typeface="Aptos" pitchFamily="34" charset="-120"/>
              </a:rPr>
              <a:t>ratio = πnew(a | o) / πold(a | o)</a:t>
            </a:r>
            <a:endParaRPr lang="en-US" sz="2900" dirty="0"/>
          </a:p>
        </p:txBody>
      </p:sp>
      <p:sp>
        <p:nvSpPr>
          <p:cNvPr id="10" name="Text 8"/>
          <p:cNvSpPr/>
          <p:nvPr/>
        </p:nvSpPr>
        <p:spPr>
          <a:xfrm>
            <a:off x="731520" y="2971800"/>
            <a:ext cx="10789920" cy="640080"/>
          </a:xfrm>
          <a:prstGeom prst="rect">
            <a:avLst/>
          </a:prstGeom>
          <a:noFill/>
          <a:ln/>
        </p:spPr>
        <p:txBody>
          <a:bodyPr wrap="square" lIns="0" tIns="0" rIns="0" bIns="0" rtlCol="0" anchor="ctr"/>
          <a:lstStyle/>
          <a:p>
            <a:pPr indent="0" marL="0">
              <a:buNone/>
            </a:pPr>
            <a:r>
              <a:rPr lang="en-US" sz="2500" b="1" dirty="0">
                <a:solidFill>
                  <a:srgbClr val="142D3B"/>
                </a:solidFill>
                <a:latin typeface="Aptos" pitchFamily="34" charset="0"/>
                <a:ea typeface="Aptos" pitchFamily="34" charset="-122"/>
                <a:cs typeface="Aptos" pitchFamily="34" charset="-120"/>
              </a:rPr>
              <a:t>Maximize mean[min(ratio × A, clip(ratio, 1 − ε, 1 + ε) × A)]</a:t>
            </a:r>
            <a:endParaRPr lang="en-US" sz="2500" dirty="0"/>
          </a:p>
        </p:txBody>
      </p:sp>
      <p:sp>
        <p:nvSpPr>
          <p:cNvPr id="11" name="Text 9"/>
          <p:cNvSpPr/>
          <p:nvPr/>
        </p:nvSpPr>
        <p:spPr>
          <a:xfrm>
            <a:off x="731520" y="3904488"/>
            <a:ext cx="10789920" cy="640080"/>
          </a:xfrm>
          <a:prstGeom prst="rect">
            <a:avLst/>
          </a:prstGeom>
          <a:noFill/>
          <a:ln/>
        </p:spPr>
        <p:txBody>
          <a:bodyPr wrap="square" lIns="0" tIns="0" rIns="0" bIns="0" rtlCol="0" anchor="ctr"/>
          <a:lstStyle/>
          <a:p>
            <a:pPr indent="0" marL="0">
              <a:buNone/>
            </a:pPr>
            <a:r>
              <a:rPr lang="en-US" sz="2300" dirty="0">
                <a:solidFill>
                  <a:srgbClr val="142D3B"/>
                </a:solidFill>
                <a:latin typeface="Aptos" pitchFamily="34" charset="0"/>
                <a:ea typeface="Aptos" pitchFamily="34" charset="-122"/>
                <a:cs typeface="Aptos" pitchFamily="34" charset="-120"/>
              </a:rPr>
              <a:t>Actor: chooses joint actions.   Critic: estimates future discounted reward.</a:t>
            </a:r>
            <a:endParaRPr lang="en-US" sz="2300" dirty="0"/>
          </a:p>
        </p:txBody>
      </p:sp>
      <p:sp>
        <p:nvSpPr>
          <p:cNvPr id="12" name="Text 10"/>
          <p:cNvSpPr/>
          <p:nvPr/>
        </p:nvSpPr>
        <p:spPr>
          <a:xfrm>
            <a:off x="731520" y="4809744"/>
            <a:ext cx="10789920" cy="731520"/>
          </a:xfrm>
          <a:prstGeom prst="rect">
            <a:avLst/>
          </a:prstGeom>
          <a:noFill/>
          <a:ln/>
        </p:spPr>
        <p:txBody>
          <a:bodyPr wrap="square" lIns="0" tIns="0" rIns="0" bIns="0" rtlCol="0" anchor="ctr"/>
          <a:lstStyle/>
          <a:p>
            <a:pPr indent="0" marL="0">
              <a:buNone/>
            </a:pPr>
            <a:r>
              <a:rPr lang="en-US" sz="2200" dirty="0">
                <a:solidFill>
                  <a:srgbClr val="566C79"/>
                </a:solidFill>
                <a:latin typeface="Aptos" pitchFamily="34" charset="0"/>
                <a:ea typeface="Aptos" pitchFamily="34" charset="-122"/>
                <a:cs typeface="Aptos" pitchFamily="34" charset="-120"/>
              </a:rPr>
              <a:t>A = advantage.  ε = clipping range.  Old log probabilities stay fixed for each collected batch.</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Follow one rollout through the learner</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Collect observations, sampled actions, old log probabilities, values, rewards and episode-boundary flags using the current stochastic actor.</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Compute TD residuals and generalized advantage estimates (GAE). A true terminal has zero continuation value; a timeout may bootstrap the saved final observation.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Cut advantage traces at reset boundaries. Never bootstrap a timeout from the first observation of the next episode.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00" dirty="0">
                <a:solidFill>
                  <a:srgbClr val="142D3B"/>
                </a:solidFill>
                <a:latin typeface="Aptos" pitchFamily="34" charset="0"/>
                <a:ea typeface="Aptos" pitchFamily="34" charset="-122"/>
                <a:cs typeface="Aptos" pitchFamily="34" charset="-120"/>
              </a:rPr>
              <a:t>Reuse this batch for PPO minibatch updates, then collect fresh on-policy data. Export the deterministic actor and its observation transform for evaluation.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Paper exercise: count samples and clip the objective</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Illustrative arithmetic, NOT this run: 16 environments × 128 steps = 2,048 fresh transitions per rollout. Four epochs reuse those transitions; they do not create 8,192 new samples.</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With ε = 0.2, ratio = 1.4 and A = +2: min(2.8, 2.4) = 2.4. The minimized policy term is −2.4 before averaging and additional loss terms.</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With the same ratio and A = −2: min(−2.8, −2.4) = −2.8. Explain why clipping is asymmetric once the sign of the advantage changes.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Run from repo root: python3 docs/microduck-training-student-book/learning_lab.py --gae. This is a deterministic arithmetic lab, not new policy training.</a:t>
            </a:r>
            <a:endParaRPr lang="en-US" sz="1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design: what the agent is paid to do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tracking = 2.0 * exp(-(tip_target_distance / 0.006)^2): a smooth local tracking reward. The 6 mm reward scale is not the stricter 1.5 mm final scoring tolerance.</a:t>
            </a:r>
            <a:endParaRPr lang="en-US" sz="17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00" dirty="0">
                <a:solidFill>
                  <a:srgbClr val="142D3B"/>
                </a:solidFill>
                <a:latin typeface="Aptos" pitchFamily="34" charset="0"/>
                <a:ea typeface="Aptos" pitchFamily="34" charset="-122"/>
                <a:cs typeface="Aptos" pitchFamily="34" charset="-120"/>
              </a:rPr>
              <a:t>contact = 0.4 when actual mark presence matches the requested pen-down state. Correct pen-up travel can also receive this reward; constant contact is not the goal.</a:t>
            </a:r>
            <a:endParaRPr lang="en-US" sz="17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grasp = 0.3 for maintaining grasp through the physics substeps; upright = 0.3 * max(0, trunk_upright). Balance and retention support, but do not replace, image-geometry acceptance.</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action_rate_penalty = -0.01 * sum((action - previous_action)^2) discourages abrupt control changes.</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design: what the agent is paid to do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15</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force_penalty = -0.02 * max(0, canvas_force - 0.5)^2. Final validation separately enforces peak force below 0.5 N.</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sp>
      <p:sp>
        <p:nvSpPr>
          <p:cNvPr id="12" name="Text 10"/>
          <p:cNvSpPr/>
          <p:nvPr/>
        </p:nvSpPr>
        <p:spPr>
          <a:xfrm>
            <a:off x="731520" y="33162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color = 0.4 when loaded_color equals desired_color. It rewards the achieved contact state; it does not prove the actor learned a color plan, because the actor ignores the added color tail.</a:t>
            </a:r>
            <a:endParaRPr lang="en-US" sz="21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sp>
      <p:sp>
        <p:nvSpPr>
          <p:cNvPr id="15" name="Text 13"/>
          <p:cNvSpPr/>
          <p:nvPr/>
        </p:nvSpPr>
        <p:spPr>
          <a:xfrm>
            <a:off x="731520" y="47487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The environment returns the sum of these step rewards. Logs retain reward_mean, not a complete episodic-return series. A higher reward or accepted anchor update does not automatically mean a better painting.</a:t>
            </a:r>
            <a:endParaRPr lang="en-US" sz="2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Recorded training recipe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Selected run: rlx/runs/studio/drawing/brush-color-v2-03. Data seed 11; training seed 101; dataset SHA-256 is recorded in training.json and validated against the teacher sidecar before fitting.</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Ridge BC: 0.01; two DAgger rounds. Normalized increment MSE after fits: 8.067842827585991e-06, 1.9331184375914745e-05 and 3.993013524450362e-05. Changing datasets make these values unsuitable as a single monotonically comparable learning curve.</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One environment; n_steps=6144; eight rollouts produce 49,152 fresh transitions. batch_size=512 gives 12 minibatches per epoch; n_epochs=2 reuses data rather than doubling simulator transitions.</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PPO learning_rate=1e-7; gamma=0.995; gae_lambda=0.95; clip_range=0.05; target_kl=0.002; max_grad_norm=0.3. These values are from the archived training script, not generic PPO defaults.</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Recorded training recipe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Value coefficient vf_coef=0.05; entropy coefficient ent_coef=0. Exploration standard deviations: head 0.0003, body/legs 0.0001, jaw 0.0002. The logged entropy_loss is not the entropy itself.</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Anchor observations are subsampled from BC/DAgger data using a stride based on 4,096. Each update compares deterministic actions against the saved BC/DAgger actor; maximum allowed drift is 0.00025.</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All eight PPO updates passed the drift gate. The largest recorded anchor_max_drift is 0.00015974044799804688. Acceptance means the action-drift constraint was met, not a causal gain in image quality.</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ONNX parity max_absolute_error=1.4901161193847656e-08, passed=true. PPO ONNX SHA-256: 6e083a2a1a0e3114016be9ef0d377d9e9245648ca174303c5f8d0340bdf4500e.</a:t>
            </a:r>
            <a:endParaRPr lang="en-US" sz="1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Recorded training recipe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18</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Accounting exercise: 47,984 initial teacher records; 105,858 final fit records; 49,152 PPO transitions; 40 * 5,998 = 239,920 evaluation steps per model; 3,484 contact rows in the showcase trace. These are different data populations.</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19</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PYTHONPATH=rlx:microduck_local/src rlx/.venv-microduck/bin/python rlx/examples/ppo_microduck_brush.py --help</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Inspect the brush CLI and its separate 93/15 interface before running an experiment.</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DATA="$(mktemp -d /tmp/microduck-brush-data.XXXXXX)"; PYTHONPATH=rlx:microduck_local/src rlx/.venv-microduck/bin/python rlx/examples/ppo_microduck_brush.py data --out "$DATA" --seed 11; printf '%s\n' "$DATA"</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Create teacher data in a fresh temporary directory. Retain the printed DATA path for the next command; never overwrite the published dataset.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20</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RUN="$(mktemp -d /tmp/microduck-brush-run.XXXXXX)"; PYTHONPATH=rlx:microduck_local/src rlx/.venv-microduck/bin/python rlx/examples/ppo_microduck_brush.py train --out "$RUN" --data "$DATA/teacher.npz" --seed 101 --steps 49152 --dagger 2 --ridge 0.01 --learning-rate 1e-7 --anchor-limit 0.00025</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In the same shell, train ridge BC, two DAgger rounds and anchored PPO into a fresh RUN. This reproduction is a new experiment, not a guaranteed pass.</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OUT="$(mktemp -d /tmp/microduck-brush-eval.XXXXXX)"; PYTHONPATH=rlx:microduck_local/src rlx/.venv-microduck/bin/python rlx/examples/ppo_microduck_brush.py eval --onnx rlx/runs/studio/drawing/brush-color-v2-03/policy.onnx --out "$OUT/ppo-eval.json" --seed 10001 --episodes 4</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Evaluate the published PPO ONNX on ten conditions times four seeds; write a separate report, not over the source evidence.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21</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OUT="$(mktemp -d /tmp/microduck-brush-bc-eval.XXXXXX)"; PYTHONPATH=rlx:microduck_local/src rlx/.venv-microduck/bin/python rlx/examples/ppo_microduck_brush.py eval --onnx rlx/runs/studio/drawing/brush-color-v2-03/bc.onnx --out "$OUT/bc-eval.json" --seed 10001 --episodes 4</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Evaluate matching BC with the identical gate; do not compare PPO against an unmatched teacher or different task.</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OUT="$(mktemp -d /tmp/microduck-brush-render.XXXXXX)"; PYTHONPATH=rlx:microduck_local/src rlx/.venv-microduck/bin/python rlx/examples/render_microduck_brush.py --onnx rlx/runs/studio/drawing/brush-color-v2-03/policy.onnx --out "$OUT" --seed 501 --seconds 120</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Render the published learned ONNX with no runtime teacher. The 120 s request completes a 119.96 s authored trajectory.</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does the logged signal match the task?</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22</a:t>
            </a:r>
            <a:endParaRPr lang="en-US" sz="1200" dirty="0"/>
          </a:p>
        </p:txBody>
      </p:sp>
      <p:pic>
        <p:nvPicPr>
          <p:cNvPr id="8" name="Image 0" descr="/Volumes/ExternalSSD/geoagent/microduck-lab/docs/classroom-ppt/assets/drawing/reward.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Training reward is an optimization signal, not the acceptance test. See raw/&lt;case&gt;/ for complete recorded fields.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Loss: inspect actor, critic and policy drift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23</a:t>
            </a:r>
            <a:endParaRPr lang="en-US" sz="1200" dirty="0"/>
          </a:p>
        </p:txBody>
      </p:sp>
      <p:pic>
        <p:nvPicPr>
          <p:cNvPr id="8" name="Image 0" descr="/Volumes/ExternalSSD/geoagent/microduck-lab/docs/classroom-ppt/assets/drawing/los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A lower loss does not prove a better robot skill. Loss sign and scale depend on the implementation.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Diagnostics: is the optimizer behaving?</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24</a:t>
            </a:r>
            <a:endParaRPr lang="en-US" sz="1200" dirty="0"/>
          </a:p>
        </p:txBody>
      </p:sp>
      <p:pic>
        <p:nvPicPr>
          <p:cNvPr id="8" name="Image 0" descr="/Volumes/ExternalSSD/geoagent/microduck-lab/docs/classroom-ppt/assets/drawing/diagnostic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Entropy, clipping, explained variance and timing are diagnostics — not a standalone pass/fail certificate.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anchor_max_drift: first 0.00008613 → final 0.0001460; min 0.00008613, max 0.0001597; 8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approx_kl: first 0.0002954 → final 0.0001603; min 0.00009847, max 0.0002954; 8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clip_fraction: first 0.02808 → final 0.01131; min 0.004313, max 0.02808; 8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entropy_loss: first 111.8 → final 111.8; min 111.8, max 111.8; 8 logged samples.</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26</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policy_gradient_loss: first -0.0005970 → final -0.0004170; min -0.001051, max -0.0002070; 8 logged samples.</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sp>
      <p:sp>
        <p:nvSpPr>
          <p:cNvPr id="12" name="Text 10"/>
          <p:cNvSpPr/>
          <p:nvPr/>
        </p:nvSpPr>
        <p:spPr>
          <a:xfrm>
            <a:off x="731520" y="33162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reward_mean: first 3.293 → final 3.302; min 3.293, max 3.303; 8 logged samples.</a:t>
            </a:r>
            <a:endParaRPr lang="en-US" sz="21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sp>
      <p:sp>
        <p:nvSpPr>
          <p:cNvPr id="15" name="Text 13"/>
          <p:cNvSpPr/>
          <p:nvPr/>
        </p:nvSpPr>
        <p:spPr>
          <a:xfrm>
            <a:off x="731520" y="47487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value_loss: first 3603 → final 3616; min 3603, max 3618; 8 logged samples.</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Freeze model bytes before evaluation. Check ONNX, checkpoint, sidecar, embedded training metadata and archived training-source hashes; inspect provenance_errors rather than treating a filename as provenance.</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Ten required configurations: nominal; offset (0.002,0.002) m; scale 0.95; grip friction 0.9; brush stiffness 30 N/m; combined_left; combined_small; combined_right; boundary_large; boundary_soft. Each must pass all four seeds.</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Combined gates vary offset, scale, friction and stiffness together. Boundaries reach scale 0.88 to 1.12, grip friction 0.8 and stiffness 18 to 40 N/m; exact configurations are retained in raw/drawing/eval.json and the source workflow.</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For each of gold, orange, charcoal and blue: coverage &gt;=0.95 and precision &gt;=0.95 at geometric tolerance 0.0015 m. Require a full 5,998-step trajectory, no fall/drop and assistance=0.</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Safety-style simulation gates: grasp_fraction &gt;=0.90, max_normal_force_n &lt;0.5, max_compression_m &lt;0.0035, pen_up_leak_fraction &lt;0.05. These are simulation acceptance checks, not physical-robot safety certification.</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Require actual physical palette loading in gold -&gt; orange -&gt; charcoal -&gt; blue order. Both null and open_jaw negative controls must fail. Reference-target substitution or merely showing a colorful texture is not valid evidence.</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Evaluate matching BC with the same condition and seed suite. PPO 40/40 and BC 40/40 support preservation; neither success rate nor the slightly lower PPO precision demonstrates PPO superiority.</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350" dirty="0">
                <a:solidFill>
                  <a:srgbClr val="142D3B"/>
                </a:solidFill>
                <a:latin typeface="Aptos" pitchFamily="34" charset="0"/>
                <a:ea typeface="Aptos" pitchFamily="34" charset="-122"/>
                <a:cs typeface="Aptos" pitchFamily="34" charset="-120"/>
              </a:rPr>
              <a:t>Both final PPO and matching BC reports allow an evaluator-only pipeline change: training_pipeline_source_match=false, environment_source_match=true and provenance_errors=[]. The archived training script still matches each model. Matching BC hardened re-evaluation completed on September 11, 2026 at 21:41:35 UTC.</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29</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Bind render source_sha256 to the evaluated PPO ONNX. Separately inspect the browser receipt: viewer.json reports passed=false for a bounded live check. A successful offline ONNX suite does not imply every UI verification passed.</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30</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Released brush-color-v2-03: passed=true, skill_status=passed, 40/40 required PPO episodes, ten unique configurations and four seeds each. Each run completes 5,998 steps / 119.96 s with assistance=0.</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PPO aggregate mean_coverage=1.0 and mean_precision=0.999531977503557. Matching BC also passes 40/40, with mean_coverage=1.0 and mean_precision=0.9996346455645799. Conclusion: PPO preserved successful BC/DAgger behavior.</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PPO worst per-color precision is 0.9862436754827598, above 0.95; minimum grasp_fraction is 0.9998332777592531. Aggregate coverage must not hide a failed individual color or seed.</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PPO peak force 0.040318330721211285 N, peak compression 0.0015517988613261476 m and maximum pen-up leak 0.04143426294820717 all satisfy the declared gates. These are maxima over the required evaluation suite, not a single frame.</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31</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All eight recorded updates passed the anchor gate. reward_mean moves from 3.2931220531463623 to 3.3020718097686768; the small change is not proof of improved painting.</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Final policy_gradient_loss=-0.0004169998671083401; value_loss=3616.0631205240884; approx_kl=0.0001603432756382972; clip_fraction=0.011311848958333334. Value loss remains large despite accepted skill behavior: optimizer diagnostics and task success differ.</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Source-bound showcase: controller=onnx, teacher_diagnostic=false, assessment passed=true, 3,484 recorded contact rows and all four colors. The actual painted image comes from the contact trace, not the authored reference image.</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History remains intact: the two pencil PPO trials failed; brush-color-v2-01 was preliminary 20/20; brush-color-v2-02 failed BC validation with data seed 101; final brush-color-v2-03 uses data seed 11 and train seed 101.</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32</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Independent boundaries: final PPO and matching BC both report provenance_errors=[] and environment_source_match=true. The browser/live receipt still reports passed=false. Do not silently merge independent model acceptance and browser verification.</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 IMAGE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Successful rollout: actual contact painting</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33</a:t>
            </a:r>
            <a:endParaRPr lang="en-US" sz="1200" dirty="0"/>
          </a:p>
        </p:txBody>
      </p:sp>
      <p:pic>
        <p:nvPicPr>
          <p:cNvPr id="8" name="Image 0" descr="/Volumes/ExternalSSD/geoagent/microduck-lab/docs/classroom-ppt/assets/drawing/result.png">    </p:cNvPr>
          <p:cNvPicPr>
            <a:picLocks noChangeAspect="1"/>
          </p:cNvPicPr>
          <p:nvPr/>
        </p:nvPicPr>
        <p:blipFill>
          <a:blip r:embed="rId1"/>
          <a:stretch>
            <a:fillRect/>
          </a:stretch>
        </p:blipFill>
        <p:spPr>
          <a:xfrm>
            <a:off x="3329940" y="1664208"/>
            <a:ext cx="5547360" cy="4160520"/>
          </a:xfrm>
          <a:prstGeom prst="rect">
            <a:avLst/>
          </a:prstGeom>
        </p:spPr>
      </p:pic>
      <p:sp>
        <p:nvSpPr>
          <p:cNvPr id="9" name="Text 6"/>
          <p:cNvSpPr/>
          <p:nvPr/>
        </p:nvSpPr>
        <p:spPr>
          <a:xfrm>
            <a:off x="731520" y="5943600"/>
            <a:ext cx="10744200" cy="347472"/>
          </a:xfrm>
          <a:prstGeom prst="rect">
            <a:avLst/>
          </a:prstGeom>
          <a:noFill/>
          <a:ln/>
        </p:spPr>
        <p:txBody>
          <a:bodyPr wrap="square" lIns="0" tIns="0" rIns="0" bIns="0" rtlCol="0" anchor="ctr"/>
          <a:lstStyle/>
          <a:p>
            <a:pPr algn="ctr" indent="0" marL="0">
              <a:buNone/>
            </a:pPr>
            <a:r>
              <a:rPr lang="en-US" sz="1200" dirty="0">
                <a:solidFill>
                  <a:srgbClr val="566C79"/>
                </a:solidFill>
                <a:latin typeface="Aptos" pitchFamily="34" charset="0"/>
                <a:ea typeface="Aptos" pitchFamily="34" charset="-122"/>
                <a:cs typeface="Aptos" pitchFamily="34" charset="-120"/>
              </a:rPr>
              <a:t>Actual four-color brush contact painting from the released PPO ONNX; not the reference target. The full 40-episode suite passes, and matching BC also passes. Source: docs/drawing-case/brush/media/render.json.</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EMBEDDED OFFLINE VIDEO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Watch the actual saved rollout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34</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58368" y="1691640"/>
            <a:ext cx="7452360" cy="4197096"/>
          </a:xfrm>
          <a:prstGeom prst="rect">
            <a:avLst/>
          </a:prstGeom>
        </p:spPr>
      </p:pic>
      <p:sp>
        <p:nvSpPr>
          <p:cNvPr id="9" name="Text 6"/>
          <p:cNvSpPr/>
          <p:nvPr/>
        </p:nvSpPr>
        <p:spPr>
          <a:xfrm>
            <a:off x="8439912" y="1847088"/>
            <a:ext cx="2926080" cy="320040"/>
          </a:xfrm>
          <a:prstGeom prst="rect">
            <a:avLst/>
          </a:prstGeom>
          <a:noFill/>
          <a:ln/>
        </p:spPr>
        <p:txBody>
          <a:bodyPr wrap="square" lIns="0" tIns="0" rIns="0" bIns="0" rtlCol="0" anchor="ctr"/>
          <a:lstStyle/>
          <a:p>
            <a:pPr indent="0" marL="0">
              <a:buNone/>
            </a:pPr>
            <a:r>
              <a:rPr lang="en-US" sz="1300" b="1" dirty="0">
                <a:solidFill>
                  <a:srgbClr val="087E8B"/>
                </a:solidFill>
                <a:latin typeface="Aptos" pitchFamily="34" charset="0"/>
                <a:ea typeface="Aptos" pitchFamily="34" charset="-122"/>
                <a:cs typeface="Aptos" pitchFamily="34" charset="-120"/>
              </a:rPr>
              <a:t>BEFORE PLAY</a:t>
            </a:r>
            <a:endParaRPr lang="en-US" sz="1300" dirty="0"/>
          </a:p>
        </p:txBody>
      </p:sp>
      <p:sp>
        <p:nvSpPr>
          <p:cNvPr id="10" name="Text 7"/>
          <p:cNvSpPr/>
          <p:nvPr/>
        </p:nvSpPr>
        <p:spPr>
          <a:xfrm>
            <a:off x="8439912" y="2322576"/>
            <a:ext cx="2880360" cy="960120"/>
          </a:xfrm>
          <a:prstGeom prst="rect">
            <a:avLst/>
          </a:prstGeom>
          <a:noFill/>
          <a:ln/>
        </p:spPr>
        <p:txBody>
          <a:bodyPr wrap="square" lIns="0" tIns="0" rIns="0" bIns="0" rtlCol="0" anchor="ctr"/>
          <a:lstStyle/>
          <a:p>
            <a:pPr indent="0" marL="0">
              <a:buNone/>
            </a:pPr>
            <a:r>
              <a:rPr lang="en-US" sz="2300" b="1" dirty="0">
                <a:solidFill>
                  <a:srgbClr val="142D3B"/>
                </a:solidFill>
                <a:latin typeface="Aptos" pitchFamily="34" charset="0"/>
                <a:ea typeface="Aptos" pitchFamily="34" charset="-122"/>
                <a:cs typeface="Aptos" pitchFamily="34" charset="-120"/>
              </a:rPr>
              <a:t>Predict one success signal and one failure signal.</a:t>
            </a:r>
            <a:endParaRPr lang="en-US" sz="2300" dirty="0"/>
          </a:p>
        </p:txBody>
      </p:sp>
      <p:sp>
        <p:nvSpPr>
          <p:cNvPr id="11" name="Text 8"/>
          <p:cNvSpPr/>
          <p:nvPr/>
        </p:nvSpPr>
        <p:spPr>
          <a:xfrm>
            <a:off x="8439912" y="3685032"/>
            <a:ext cx="2926080" cy="320040"/>
          </a:xfrm>
          <a:prstGeom prst="rect">
            <a:avLst/>
          </a:prstGeom>
          <a:noFill/>
          <a:ln/>
        </p:spPr>
        <p:txBody>
          <a:bodyPr wrap="square" lIns="0" tIns="0" rIns="0" bIns="0" rtlCol="0" anchor="ctr"/>
          <a:lstStyle/>
          <a:p>
            <a:pPr indent="0" marL="0">
              <a:buNone/>
            </a:pPr>
            <a:r>
              <a:rPr lang="en-US" sz="1300" b="1" dirty="0">
                <a:solidFill>
                  <a:srgbClr val="D96C35"/>
                </a:solidFill>
                <a:latin typeface="Aptos" pitchFamily="34" charset="0"/>
                <a:ea typeface="Aptos" pitchFamily="34" charset="-122"/>
                <a:cs typeface="Aptos" pitchFamily="34" charset="-120"/>
              </a:rPr>
              <a:t>AFTER PLAY</a:t>
            </a:r>
            <a:endParaRPr lang="en-US" sz="1300" dirty="0"/>
          </a:p>
        </p:txBody>
      </p:sp>
      <p:sp>
        <p:nvSpPr>
          <p:cNvPr id="12" name="Text 9"/>
          <p:cNvSpPr/>
          <p:nvPr/>
        </p:nvSpPr>
        <p:spPr>
          <a:xfrm>
            <a:off x="8439912" y="4151376"/>
            <a:ext cx="2880360" cy="1005840"/>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Which claims does this clip support? What remains untested?</a:t>
            </a:r>
            <a:endParaRPr lang="en-US" sz="2100" dirty="0"/>
          </a:p>
        </p:txBody>
      </p:sp>
      <p:sp>
        <p:nvSpPr>
          <p:cNvPr id="13" name="Text 10"/>
          <p:cNvSpPr/>
          <p:nvPr/>
        </p:nvSpPr>
        <p:spPr>
          <a:xfrm>
            <a:off x="731520" y="5998464"/>
            <a:ext cx="10789920" cy="274320"/>
          </a:xfrm>
          <a:prstGeom prst="rect">
            <a:avLst/>
          </a:prstGeom>
          <a:noFill/>
          <a:ln/>
        </p:spPr>
        <p:txBody>
          <a:bodyPr wrap="square" lIns="0" tIns="0" rIns="0" bIns="0" rtlCol="0" anchor="ctr"/>
          <a:lstStyle/>
          <a:p>
            <a:pPr indent="0" marL="0">
              <a:buNone/>
            </a:pPr>
            <a:r>
              <a:rPr lang="en-US" sz="1050" dirty="0">
                <a:solidFill>
                  <a:srgbClr val="566C79"/>
                </a:solidFill>
                <a:latin typeface="Aptos" pitchFamily="34" charset="0"/>
                <a:ea typeface="Aptos" pitchFamily="34" charset="-122"/>
                <a:cs typeface="Aptos" pitchFamily="34" charset="-120"/>
              </a:rPr>
              <a:t>120.0 s saved MP4  •  Click in PowerPoint Slide Show  •  Backup: videos/drawing-rollout.mp4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EMBEDDED OFFLINE VIDEO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Historical pencil teacher: a different 83/15 experiment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35</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58368" y="1691640"/>
            <a:ext cx="7452360" cy="4197096"/>
          </a:xfrm>
          <a:prstGeom prst="rect">
            <a:avLst/>
          </a:prstGeom>
        </p:spPr>
      </p:pic>
      <p:sp>
        <p:nvSpPr>
          <p:cNvPr id="9" name="Text 6"/>
          <p:cNvSpPr/>
          <p:nvPr/>
        </p:nvSpPr>
        <p:spPr>
          <a:xfrm>
            <a:off x="8439912" y="1847088"/>
            <a:ext cx="2926080" cy="320040"/>
          </a:xfrm>
          <a:prstGeom prst="rect">
            <a:avLst/>
          </a:prstGeom>
          <a:noFill/>
          <a:ln/>
        </p:spPr>
        <p:txBody>
          <a:bodyPr wrap="square" lIns="0" tIns="0" rIns="0" bIns="0" rtlCol="0" anchor="ctr"/>
          <a:lstStyle/>
          <a:p>
            <a:pPr indent="0" marL="0">
              <a:buNone/>
            </a:pPr>
            <a:r>
              <a:rPr lang="en-US" sz="1300" b="1" dirty="0">
                <a:solidFill>
                  <a:srgbClr val="087E8B"/>
                </a:solidFill>
                <a:latin typeface="Aptos" pitchFamily="34" charset="0"/>
                <a:ea typeface="Aptos" pitchFamily="34" charset="-122"/>
                <a:cs typeface="Aptos" pitchFamily="34" charset="-120"/>
              </a:rPr>
              <a:t>BEFORE PLAY</a:t>
            </a:r>
            <a:endParaRPr lang="en-US" sz="1300" dirty="0"/>
          </a:p>
        </p:txBody>
      </p:sp>
      <p:sp>
        <p:nvSpPr>
          <p:cNvPr id="10" name="Text 7"/>
          <p:cNvSpPr/>
          <p:nvPr/>
        </p:nvSpPr>
        <p:spPr>
          <a:xfrm>
            <a:off x="8439912" y="2322576"/>
            <a:ext cx="2880360" cy="960120"/>
          </a:xfrm>
          <a:prstGeom prst="rect">
            <a:avLst/>
          </a:prstGeom>
          <a:noFill/>
          <a:ln/>
        </p:spPr>
        <p:txBody>
          <a:bodyPr wrap="square" lIns="0" tIns="0" rIns="0" bIns="0" rtlCol="0" anchor="ctr"/>
          <a:lstStyle/>
          <a:p>
            <a:pPr indent="0" marL="0">
              <a:buNone/>
            </a:pPr>
            <a:r>
              <a:rPr lang="en-US" sz="2300" b="1" dirty="0">
                <a:solidFill>
                  <a:srgbClr val="142D3B"/>
                </a:solidFill>
                <a:latin typeface="Aptos" pitchFamily="34" charset="0"/>
                <a:ea typeface="Aptos" pitchFamily="34" charset="-122"/>
                <a:cs typeface="Aptos" pitchFamily="34" charset="-120"/>
              </a:rPr>
              <a:t>Predict one success signal and one failure signal.</a:t>
            </a:r>
            <a:endParaRPr lang="en-US" sz="2300" dirty="0"/>
          </a:p>
        </p:txBody>
      </p:sp>
      <p:sp>
        <p:nvSpPr>
          <p:cNvPr id="11" name="Text 8"/>
          <p:cNvSpPr/>
          <p:nvPr/>
        </p:nvSpPr>
        <p:spPr>
          <a:xfrm>
            <a:off x="8439912" y="3685032"/>
            <a:ext cx="2926080" cy="320040"/>
          </a:xfrm>
          <a:prstGeom prst="rect">
            <a:avLst/>
          </a:prstGeom>
          <a:noFill/>
          <a:ln/>
        </p:spPr>
        <p:txBody>
          <a:bodyPr wrap="square" lIns="0" tIns="0" rIns="0" bIns="0" rtlCol="0" anchor="ctr"/>
          <a:lstStyle/>
          <a:p>
            <a:pPr indent="0" marL="0">
              <a:buNone/>
            </a:pPr>
            <a:r>
              <a:rPr lang="en-US" sz="1300" b="1" dirty="0">
                <a:solidFill>
                  <a:srgbClr val="D96C35"/>
                </a:solidFill>
                <a:latin typeface="Aptos" pitchFamily="34" charset="0"/>
                <a:ea typeface="Aptos" pitchFamily="34" charset="-122"/>
                <a:cs typeface="Aptos" pitchFamily="34" charset="-120"/>
              </a:rPr>
              <a:t>AFTER PLAY</a:t>
            </a:r>
            <a:endParaRPr lang="en-US" sz="1300" dirty="0"/>
          </a:p>
        </p:txBody>
      </p:sp>
      <p:sp>
        <p:nvSpPr>
          <p:cNvPr id="12" name="Text 9"/>
          <p:cNvSpPr/>
          <p:nvPr/>
        </p:nvSpPr>
        <p:spPr>
          <a:xfrm>
            <a:off x="8439912" y="4151376"/>
            <a:ext cx="2880360" cy="1005840"/>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Which claims does this clip support? What remains untested?</a:t>
            </a:r>
            <a:endParaRPr lang="en-US" sz="2100" dirty="0"/>
          </a:p>
        </p:txBody>
      </p:sp>
      <p:sp>
        <p:nvSpPr>
          <p:cNvPr id="13" name="Text 10"/>
          <p:cNvSpPr/>
          <p:nvPr/>
        </p:nvSpPr>
        <p:spPr>
          <a:xfrm>
            <a:off x="731520" y="5998464"/>
            <a:ext cx="10789920" cy="274320"/>
          </a:xfrm>
          <a:prstGeom prst="rect">
            <a:avLst/>
          </a:prstGeom>
          <a:noFill/>
          <a:ln/>
        </p:spPr>
        <p:txBody>
          <a:bodyPr wrap="square" lIns="0" tIns="0" rIns="0" bIns="0" rtlCol="0" anchor="ctr"/>
          <a:lstStyle/>
          <a:p>
            <a:pPr indent="0" marL="0">
              <a:buNone/>
            </a:pPr>
            <a:r>
              <a:rPr lang="en-US" sz="1050" dirty="0">
                <a:solidFill>
                  <a:srgbClr val="566C79"/>
                </a:solidFill>
                <a:latin typeface="Aptos" pitchFamily="34" charset="0"/>
                <a:ea typeface="Aptos" pitchFamily="34" charset="-122"/>
                <a:cs typeface="Aptos" pitchFamily="34" charset="-120"/>
              </a:rPr>
              <a:t>Historical pencil feasibility only. This is an analytic teacher, not the brush-v2 learned PPO policy, not the matching BC baseline, and not evidence that the old pencil PPO trials passed.  •  32.0 s saved MP4  •  Click in PowerPoint Slide Show  •  Backup: videos/drawing-teacher.mp4</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Limits and failure analysis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Successful fixed-template simulated painting is now supported. The earlier pencil experiments were not retroactively successful, and a new 93/15 brush contract is not a replacement for stock 61/14 deployment.</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BC/DAgger already passed the same 40/40 benchmark with slightly higher precision. No PPO improvement, from-scratch acquisition or single-factor causal explanation is established.</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The actor ignores color-tail observations 83:93; color and dip order are authored. Do not describe the system as learned color planning, vision, arbitrary drawing or autonomous missed-dip recovery.</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The brush starts in the mouth. Pickup, washing, pigment mixing, material calibration, real servo safety and hardware transfer remain untested. Decorative hairs are not independently simulated flexible bristles.</a:t>
            </a:r>
            <a:endParaRPr lang="en-US" sz="16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Limits and failure analysis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37</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failed brush data-seed-101 attempt demonstrates seed sensitivity. Repeating the recipe with a different seed is an experiment, not a promised classroom pass.</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sp>
      <p:sp>
        <p:nvSpPr>
          <p:cNvPr id="12" name="Text 10"/>
          <p:cNvSpPr/>
          <p:nvPr/>
        </p:nvSpPr>
        <p:spPr>
          <a:xfrm>
            <a:off x="731520" y="33162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Anchor acceptance limits action drift only on selected training observations. It is not an independent generalization or painting-quality certificate; the 40-episode ONNX suite provides separate evidence.</a:t>
            </a:r>
            <a:endParaRPr lang="en-US" sz="205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sp>
      <p:sp>
        <p:nvSpPr>
          <p:cNvPr id="15" name="Text 13"/>
          <p:cNvSpPr/>
          <p:nvPr/>
        </p:nvSpPr>
        <p:spPr>
          <a:xfrm>
            <a:off x="731520" y="47487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This classroom update reuses existing training/evaluation artifacts and video; it performs no new training. Browser verification and any future model re-evaluation must be tracked independently.</a:t>
            </a:r>
            <a:endParaRPr lang="en-US" sz="2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PROPOSED PRACTICE — NOT MEASURED RESULTS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Student lab: change one variable, keep the gates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Explain the three contracts: stock 61/14, historical pencil 83/15 and current brush 93/15. Identify the passive compliance coordinate that is not an additional action.</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Compute fresh PPO transitions as 1 * 6144 * 8 = 49,152. Explain why two optimizer epochs, teacher records and contact rows are not extra on-policy simulator transitions.</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800" dirty="0">
                <a:solidFill>
                  <a:srgbClr val="142D3B"/>
                </a:solidFill>
                <a:latin typeface="Aptos" pitchFamily="34" charset="0"/>
                <a:ea typeface="Aptos" pitchFamily="34" charset="-122"/>
                <a:cs typeface="Aptos" pitchFamily="34" charset="-120"/>
              </a:rPr>
              <a:t>Trace one approach -&gt; dip -&gt; paint sequence. Distinguish the authored target plan, learned motor action, physical pigment loading and contact-based scoring.</a:t>
            </a:r>
            <a:endParaRPr lang="en-US" sz="18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Read reward_mean, policy_gradient_loss, value_loss, approx_kl, clip_fraction, entropy_loss and anchor_max_drift from the eight-row CSV. Explain why entropy_loss is not entropy and why accepted_update is not a success-rate curve.</a:t>
            </a:r>
            <a:endParaRPr lang="en-US" sz="16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PROPOSED PRACTICE — NOT MEASURED RESULTS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Student lab: change one variable, keep the gates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39</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Propose one controlled change: anchor limit, exploration noise, or training-data seed. Keep the BC baseline, source hashes, evaluation conditions and acceptance thresholds fixed; retain rejected updates and failed runs.</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Compare the 40/40 BC and PPO tables. Write the strongest justified claim, then name the missing evidence needed to claim PPO improved quality, generalized to unseen artwork, or worked on a physical robot.</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Submit an experiment, not just a video</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40</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Before training: write one hypothesis, the changed parameter, the fixed baseline, seed list, acceptance criteria and time/transition budget.</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During training: save the exact command, environment versions, initialization, checkpoint and raw reward/loss/KL metrics. Never overwrite the saved reference run.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700" dirty="0">
                <a:solidFill>
                  <a:srgbClr val="142D3B"/>
                </a:solidFill>
                <a:latin typeface="Aptos" pitchFamily="34" charset="0"/>
                <a:ea typeface="Aptos" pitchFamily="34" charset="-122"/>
                <a:cs typeface="Aptos" pitchFamily="34" charset="-120"/>
              </a:rPr>
              <a:t>After training: evaluate the frozen exported policy on matched seeds; include all failures, aggregate metrics, the full rollout video and a source-bound result table.</a:t>
            </a:r>
            <a:endParaRPr lang="en-US" sz="17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700" dirty="0">
                <a:solidFill>
                  <a:srgbClr val="142D3B"/>
                </a:solidFill>
                <a:latin typeface="Aptos" pitchFamily="34" charset="0"/>
                <a:ea typeface="Aptos" pitchFamily="34" charset="-122"/>
                <a:cs typeface="Aptos" pitchFamily="34" charset="-120"/>
              </a:rPr>
              <a:t>Rubric / 10: reproducibility 2; environment and reward explanation 2; PPO and metrics interpretation 2; honest verification 2; one evidence-based next experiment 2.</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REPOSITORY-RELATIVE PATHS / FULL SOURCES IN NOTES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Source map and further study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41</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docs/drawing-case/brush/README.en.md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docs/drawing-case/brush/RESULTS.md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docs/drawing-case/brush/DIAGNOSIS.md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docs/drawing-case/brush/training.json</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REPOSITORY-RELATIVE PATHS / FULL SOURCES IN NOTES  /  COLORED-DUCK PAINTING: SUCCESSFUL BRUSH-V2 FEEDBACK CONTROL</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Source map and further study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42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docs/microduck-training-student-book/chapters/02a-ppo-code-lab.md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docs/microduck-training-student-book/chapters/02b-gae-workshop.md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scripts/scenarios/README.md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README.md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Community education — not affiliated with Pollen Robotics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Microduck PPO Lab 8: Colored-duck painting: successful brush-v2 feedback control</dc:title>
  <dc:subject>Source-grounded PPO robot training: setup, environment, rewards, verification and evidence</dc:subject>
  <dc:creator>Microduck Lab classroom materials</dc:creator>
  <cp:lastModifiedBy>Microduck Lab classroom materials</cp:lastModifiedBy>
  <cp:revision>1</cp:revision>
  <dcterms:created xsi:type="dcterms:W3CDTF">2026-09-11T21:45:23Z</dcterms:created>
  <dcterms:modified xsi:type="dcterms:W3CDTF">2026-09-11T21:45:23Z</dcterms:modified>
</cp:coreProperties>
</file>