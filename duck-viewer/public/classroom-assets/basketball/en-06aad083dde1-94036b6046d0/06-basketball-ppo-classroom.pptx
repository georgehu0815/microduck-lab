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9064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Basketball: Blind Recurrent Balance, Not Steering
Use case: Teach recurrent policy state, actor warm-starts, physical-assistance curricula, and honest task decomposition. The retained policy demonstrates unassisted balance on a moving free basketball, while commanded rolling and general steering remain unmastered.
Start by explaining the difference between a simulation training pipeline and skill mastery. The cover image is a frame decoded from this case's actual rollout, not generated artwork.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build — and what the evidence says
Use case: Teach recurrent policy state, actor warm-starts, physical-assistance curricula, and honest task decomposition. The retained policy demonstrates unassisted balance on a moving free basketball, while commanded rolling and general steering remain unmastered.
By the end: describe the scene, map observations to actions, explain the reward, trace one PPO update, run a bounded experiment, and defend an evaluation claim.
The demonstrated result is balance, not stationary world-position hold, commanded rolling, or steering.
Scope: local MuJoCo simulation. Do not deploy these classroom artifacts to a physical robot; hardware transfer requires a separate validated process.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1/3
Microduck full-collision MuJoCo model with CPU BAM actuators and 50 Hz policy control
A free basketball sphere with radius 0.12 m and mass 0.62 kg
microduck-playground/src/mjlab_microduck/robot/assets/basketball/basketball.obj and basketball.png for the non-colliding visual mesh and texture
microduck-playground/artifacts/basketball/checkpoint.pt and policy.onnx as the hash-verified b11 source actor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2/3
rlx/rlx/environments/basketball.py for scene physics, assistance, reward, termination, and metrics
rlx/rlx/models/basketball.py for the LSTM256 actor, fresh critic, recurrent ONNX export, and parity test
rlx/examples/ppo_microduck_basketball.py for local recurrent PPO continuation
rlx/scripts/eval_basketball_local.py for deterministic first-fall evaluation and rendering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3/3
rlx/runs/studio/basketball/basketball-balance-01/ for the retained Studio policy, evaluation, and preview
rlx/artifacts/basketball-local-20260910/ for the 102,400-step fixed-command training record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1/3
The physical sphere center starts at z=0.121 m. The robot root starts at z=0.368 m, upright near the ball apex; the task does not teach climbing onto the ball or floor recovery.
The physics step is 0.005 s with four substeps per action, giving a 0.02 s control interval and 50 Hz policy rate.
Observation contract: float32[61]. Indices 0:3 trunk angular velocity; 3:6 projected gravity; 6:20 joint offsets; 20:34 one-step-lagged joint velocity; 34:48 previous raw action; 48:51 velocity command; 51:61 zero padding.
Action contract: 14 joint-target offsets. Applied targets are default pose plus clip(action, -4, 4); the observation preserves the previous raw action.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2/3
The actor receives no ball position, velocity, rotation, contact, radius, or world-position signal. It is a blind recurrent actor that can infer dynamics only through proprioceptive history.
Recurrent ONNX inputs are obs [1,61], h_in [1,1,256], and c_in [1,1,256]; outputs are actions [1,14], h_out [1,1,256], and c_out [1,1,256].
Hidden and cell state carry across ordinary steps and command changes, then reset on trial, episode, policy, environment, or recovery boundaries.
The physical assistance ladder is hold levels 1, 0.5, 0.25, 0.1, 0.03, and 0. It applies restoring force and torque through simulation only; rewards remain unchanged.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3/3
The retained fixed-command run trained with hold 0 and curriculum disabled. Evaluation always forces hold 0 and never auto-resets a failed trial.
The direct evaluation uses 60 s, 3,000 steps, seeds 101/202/303, randomized initial yaw, zero command and 0.15 m/s forward command, no pushes, no observation noise, and no mass/friction domain randomization.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Case-specific build flow
01 / SOURCE: Warm-start recurrent actor
02 / SCENE: Free ball + real contacts
03 / PPO: Ordered recurrent replay
04 / EXPORT: Carry and reset hidden state
05 / VERIFY: Balance vs rolling tests
06 / EVIDENCE: Balance, not steering
This is an explanatory workflow diagram, not a measured learning curve.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1/3
Verify the supplied b11 checkpoint and ONNX hashes before loading the source actor.
Build the free-ball MuJoCo scene with a colliding sphere and a separate massless, non-colliding visual mesh.
Reset the robot near the apex and zero recurrent hidden and cell state.
Transfer the mature recurrent actor and freeze its observation normalizer; initialize a fresh 61-input feedforward critic and fresh Adam optimizer.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2/3
Collect complete time-by-environment recurrent rollouts, preserving the initial hidden/cell tensors and episode-start masks.
Replay the full ordered recurrent sequence during every PPO epoch; do not shuffle observations as independent rows.
Apply KL early stopping at target 0.02, save intermediate checkpoints, export recurrent ONNX, and test a state reset during parity comparison.
Evaluate zero-command balance and commanded-forward rolling as separate classifications.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3/3
For each trial, carry recurrent state until first fall or exactly 3,000 steps; do not hide failure with automatic resets.
Check support, tilt, root offset, ball travel, ball rotation, directional progress, velocity tracking, assistance, and contact exploits.
Inspect both the zero-command balance video and the failed forward-command rolling video before writing the classroom claim.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clipped surrogate
This is a teaching formula, not a saved experiment value. The optimizer minimizes the negative policy surrogate plus the implementation-specific value and entropy terms. PPO clipping is not a hard KL bound; monitor KL and clip fraction. A negative policy loss or Gaussian entropy is not automatically an error. Each scenario has its own reward units and optimizer conventions.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rollout through the learner
Collect observations, sampled actions, old log probabilities, values, rewards and episode-boundary flags using the current stochastic actor.
Compute TD residuals and generalized advantage estimates (GAE). A true terminal has zero continuation value; a timeout may bootstrap the saved final observation.
Cut advantage traces at reset boundaries. Never bootstrap a timeout from the first observation of the next episode.
Reuse this batch for PPO minibatch updates, then collect fresh on-policy data. Export the deterministic actor and its observation transform for evaluation.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exercise: count samples and clip the objective
Illustrative arithmetic, NOT this run: 16 environments × 128 steps = 2,048 fresh transitions per rollout. Four epochs reuse those transitions; they do not create 8,192 new samples.
With ε = 0.2, ratio = 1.4 and A = +2: min(2.8, 2.4) = 2.4. The minimized policy term is −2.4 before averaging and additional loss terms.
With the same ratio and A = −2: min(−2.8, −2.4) = −2.8. Explain why clipping is asymmetric once the sign of the advantage changes.
Run from repo root: python3 docs/microduck-training-student-book/learning_lab.py --gae. This is a deterministic arithmetic lab, not new policy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1/3
name: linear_tracking | weight: 1 | sign: reward | definition: exp(-sum((body_linear_velocity_xy - command_xy) squared) / 0.1)
name: yaw_tracking | weight: 0.5 | sign: reward | definition: exp(-(gyro_z - command_yaw) squared / 0.5)
name: upright | weight: 1 | sign: reward | definition: exp(-sum(projected_gravity_xy squared) / 0.09)
name: centered | weight: 2 | sign: reward | definition: exp(-sum(horizontal trunk-to-ball offset squared) / 0.0016)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2/3
name: feet_on_ball | weight: 1 | sign: reward | definition: mean(exp(-foot-to-ball surface gap squared / 0.0004))
name: height | weight: 1 | sign: reward | definition: exp(-(relative trunk height - ball radius - 0.125) squared / 0.0009)
name: ball_speed_penalty | weight: 0.05 | sign: penalty | definition: -min(sum(ball horizontal velocity squared), 100)
name: angular_velocity_penalty | weight: 0.05 | sign: penalty | definition: -min(sum(trunk roll/pitch angular velocity squared), 100)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3/3
name: action_rate_penalty | weight: 0.2 | sign: penalty | definition: -min(sum((last_action - previous_action) squared), 100)
name: reward_scale | weight: 0.02 | sign: time scaling | definition: Every weighted term is multiplied by CTRL_DT=0.02 before summation; the same weights are used at every hold/curriculum level.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1/2
config: warm_start | value: b11 iteration 6999 actor, frozen normalizer, fresh local critic and fresh Adam optimizer; not an upstream optimizer resume
config: fixed_command_run | value: 102,400 local transitions from 100 updates x 8 environments x 128 steps, command [0.15,0,0], seed 42
config: optimizer | value: learning rate 2e-6, 5 recurrent replay epochs maximum, target KL 0.02, maximum gradient norm 1.0
config: ppo_objective | value: gamma 0.99, GAE lambda 0.95, clip coefficient 0.2, value coefficient 1.0, entropy coefficient 0.01, normalized advantages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2/2
config: exploration_and_environment | value: initial action standard deviation 0.03, BAM actuator, hold 0, curriculum off, pushes off, observation noise off, domain randomization off
config: checkpointing | value: intermediate artifacts at updates 25, 50, and 75; final update 100; actor parameter L2 change 0.042958568781614304
config: telemetry_fields | value: update; loss; policy_loss; value_loss; entropy; gradient_norm; approx_kl; epochs_completed; kl_early_stop; hold_min; hold_max; completed_episodes
config: evidence_gap | value: The Studio directory has no independent training trace. Charts use the archived source adaptation summary (100 PPO updates), whose checkpoint SHA-256 exactly matches the imported Studio checkpoint. No historical training reward series was retained.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1/3
From .:
rlx/.venv-microduck/bin/python -m pytest rlx/tests/test_basketball.py rlx/tests/test_basketball_policy.py rlx/tests/test_basketball_evaluation.py -q
Run scene, recurrent policy, and evaluation-honesty contract tests.
From .:
bash scripts/train-basketball.sh --output rlx/artifacts/basketball-smoke --num-envs 4 --updates 5 --steps 32 --learning-rate 2e-6
Run the documented five-update training smoke in a fresh output directory.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2/3
From .:
bash scripts/train-basketball.sh --output rlx/artifacts/basketball-training --num-envs 8 --updates 100 --steps 128 --learning-rate 2e-6 --save-interval 25 --command .15 0 0
Run the documented unassisted fixed-forward local adaptation.
From .:
rlx/.venv-microduck/bin/python rlx/scripts/eval_basketball_local.py --policy rlx/artifacts/basketball-training/policy.onnx --output rlx/artifacts/basketball-evaluation --seconds 60 --seeds 101 202 303 --command 0 0 0 --command .15 0 0 --render
Evaluate and render stationary balance and commanded rolling separately.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3/3
From duck-viewer:
npm run dev
Open the Studio and inspect basketball-balance-01 with private recurrent state per duck.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does the logged signal match the task?
Chart source: rlx/artifacts/basketball-local-20260910/summary.json
Archived source-adaptation updates; checkpoint.pt SHA-256 9223942c693d42c57174391b3086766da78ba47ee58bb59160cdd2e67ba36a94 matches the selected Studio checkpoint. No reward learning curve retained.
Training reward is an optimization signal, not the acceptance test. See raw/&lt;case&gt;/ for complete recorded fields.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inspect actor, critic and policy drift
Chart source: rlx/artifacts/basketball-local-20260910/summary.json
Archived source-adaptation updates; checkpoint.pt SHA-256 9223942c693d42c57174391b3086766da78ba47ee58bb59160cdd2e67ba36a94 matches the selected Studio checkpoint. No reward learning curve retained.
A lower loss does not prove a better robot skill. Loss sign and scale depend on the implementation.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Diagnostics: is the optimizer behaving?
Chart source: rlx/artifacts/basketball-local-20260910/summary.json
Archived source-adaptation updates; checkpoint.pt SHA-256 9223942c693d42c57174391b3086766da78ba47ee58bb59160cdd2e67ba36a94 matches the selected Studio checkpoint. No reward learning curve retained.
Entropy, clipping, explained variance and timing are diagnostics — not a standalone pass/fail certificate.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1/2
approx_kl: first 0.08338 → final 0.01402; min 0.003539, max 0.08338; 100 logged samples.
entropy: first -29.23 → final -29.14; min -29.23, max -29.14; 100 logged samples.
kl_early_stop: first 1.000 → final 0.000; min 0.000, max 1.000; 100 logged samples.
loss: first 1.660 → final 1.619; min 1.310, max 1.753; 100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2/2
policy_loss: first -7.637e-8 → final -0.01592; min -0.02564, max 0.003599; 100 logged samples.
value_loss: first 1.368 → final 1.343; min 1.037, max 1.461; 100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1/3
Verify source checkpoint and ONNX SHA256 before training; refuse arbitrary unverified source files.
Check that observation slots 51:61 remain zero and the actor receives no explicit ball state.
Confirm recurrent hidden/cell state carries through normal steps and resets exactly at episode boundaries.
Require recurrent PyTorch/ONNX parity over 40 steps with a state reset at step 20.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2/3
Evaluate every trial for the full 3,000-step first-fall horizon with hold zero and no automatic resets.
Classify sustained_balance separately from controlled_rolling and learned_success.
Require no robot-floor contact, no non-foot ball support, adequate foot-ball contact, bounded tilt and offset, and zero assistance for balance credit.
For forward rolling, additionally require at least 3.15 m signed command progress, linear tracking MAE at most 0.09 m/s, yaw tracking MAE at most 0.5 rad/s, and sufficient physical ball rotation.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3/3
Inspect the original MP4 rather than relying only on sparse contact-sheet frames or rotating texture.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1/2
fact: All 6 direct 60-second trials survived: seeds 101, 202, and 303 under zero command and 0.15 m/s forward command. | source: docs/basketball-showcase/evidence/evaluation.json
fact: All 6 trials met sustained-balance criteria, but 0 of 3 commanded-forward trials met controlled-rolling criteria; the aggregate report passed=false. | source: docs/basketball-showcase/evidence/evaluation.json
fact: Minimum foot-ball contact fraction was 0.9993333333333333, or 99.93333333333332 percent, and maximum tilt was 4.733669151434107 deg. | source: docs/basketball-showcase/evidence/evaluation.json
fact: The three forward-command signed progress values were 1.299956021320378 m, 0.3004973917973738 m, and 0.35659880459696325 m, each below the 3.15 m gate. | source: docs/basketball-showcase/evidence/evaluation.json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2/2
fact: Mean forward tracking MAE across the three 0.15 m/s trials was 0.13764476597849953 m/s, above the 0.09 m/s gate. | source: docs/basketball-showcase/evidence/evaluation.json
fact: The fixed-command run added 102,400 transitions, changed actor parameters by L2 distance 0.042958568781614304, and exported with maximum recurrent parity error 1.430511474609375e-06. | source: rlx/artifacts/basketball-local-20260910/summary.json
fact: The final update recorded loss 1.6185429096221924, policy_loss -0.015916798263788223, value_loss 1.343021035194397, entropy -29.143863677978516, approximate_kl 0.014023307710886002, and epochs_completed 5. | source: rlx/artifacts/basketball-local-20260910/summary.json
fact: The retained Studio adapter separately evaluates seeds 101-103 and still reports 6 of 6 sustained balance with 0 of 3 commanded rolling passes. | source: rlx/runs/studio/basketball/basketball-balance-01/evaluation.json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policy video
Source: rlx/runs/studio/basketball/basketball-balance-01/render/rollout.mp4
Embedded video bytes are copied unchanged, not regenerated and not sped up. A single video is not a seed sweep. PowerPoint playback requires a user click; use the included MP4 in a local player if a presentation viewer cannot decode embedded media.
The demonstrated result is balance, not stationary world-position hold, commanded rolling, or steering.
Lateral and yaw steering are not evaluated by the current Studio adapter, so full-skill success fails closed.
The robot starts on the ball; mounting, recovery from the floor, and transfer between surfaces are outside this task.
The actor is a warm-started mature b11 policy, not a policy trained from scratch by the local 102,400-step run.
The local critic and optimizer are fresh, so this is not exact continuation of the upstream GPU training state.
Loss charts are archived SOURCE-ADAPTATION diagnostics, not a new Studio training run. The imported checkpoint hash matches; the ONNX file was re-exported. Historical training reward remains unavailable.
The six nominal local trials omit sensor noise, mass/friction randomization, and pushes; they do not reproduce the upstream stress battery.
Historical direct evaluation hashes predate the current source snapshot; the report is retained evidence, not a fresh byte-identical rerun.
No hardware balance or safety claim is made.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1/3
The demonstrated result is balance, not stationary world-position hold, commanded rolling, or steering.
Lateral and yaw steering are not evaluated by the current Studio adapter, so full-skill success fails closed.
The robot starts on the ball; mounting, recovery from the floor, and transfer between surfaces are outside this task.
The actor is a warm-started mature b11 policy, not a policy trained from scratch by the local 102,400-step run.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2/3
The local critic and optimizer are fresh, so this is not exact continuation of the upstream GPU training state.
Loss charts are archived SOURCE-ADAPTATION diagnostics, not a new Studio training run. The imported checkpoint hash matches; the ONNX file was re-exported. Historical training reward remains unavailable.
The six nominal local trials omit sensor noise, mass/friction randomization, and pushes; they do not reproduce the upstream stress battery.
Historical direct evaluation hashes predate the current source snapshot; the report is retained evidence, not a fresh byte-identical rerun.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3/3
No hardware balance or safety claim is made.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1/3
Trace h_in/c_in to h_out/c_out for five steps, insert an episode reset, and mark where both recurrent tensors must become zero.
Calculate the 102,400 transition count from environments, rollout steps, and updates.
Compute each weighted reward contribution for a supplied one-step state, including the final 0.02 control-time scale.
Compare sustained_balance and controlled_rolling criteria and identify the extra measurements needed for steering credit.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2/3
Plot the three forward progress values against the 3.15 m threshold and explain why visible ball motion is insufficient.
Inspect the zero-command and forward-command videos and annotate support changes, drift, and camera-relative motion.
Read the final PPO loss record and explain why its finite values do not resolve the missing historical reward curve.
Propose a rolling-state initialization curriculum that changes exploration physics or spawns while leaving evaluation and reward weights fixed.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3/3
Write separate evidence statements for source b11 performance, local fixed-command adaptation, and Studio playback.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an experiment, not just a video
Before training: write one hypothesis, the changed parameter, the fixed baseline, seed list, acceptance criteria and time/transition budget.
During training: save the exact command, environment versions, initialization, checkpoint and raw reward/loss/KL metrics. Never overwrite the saved reference run.
After training: evaluate the frozen exported policy on matched seeds; include all failures, aggregate metrics, the full rollout video and a source-bound result table.
Rubric / 10: reproducibility 2; environment and reward explanation 2; PPO and metrics interpretation 2; honest verification 2; one evidence-based next experiment 2.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1/2
microduck_local/AGENTS.md
docs/student-book/microduck-lab-student-book.md
docs/basketball-bridge-book/chapters/en/03-ppo.md
docs/basketball-bridge-book/chapters/en/04-basketball.md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2/2
docs/microduck-training-student-book/chapters/02a-ppo-code-lab.md
docs/microduck-training-student-book/chapters/02b-gae-workshop.md
scripts/scenarios/README.md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docs/basketball-bridge-book/chapters/en/04-basketball.md
docs/basketball-bridge-book/chapters/en/06-evidence.md
docs/basketball-showcase/README.md
docs/basketball-showcase/RESULTS.md
docs/basketball-showcase/evidence/evaluation.json
rlx/rlx/environments/basketball.py
rlx/rlx/models/basketball.py
rlx/examples/ppo_microduck_basketball.py
rlx/scripts/eval_basketball_local.py
scripts/train-basketball.sh
rlx/artifacts/basketball-local-20260910/summary.json
rlx/artifacts/basketball-mixed-20260910/summary.json
rlx/runs/studio/basketball/basketball-balance-01/checkpoint.pt.json
rlx/runs/studio/basketball/basketball-balance-01/evaluation.json
rlx/runs/studio/basketball/basketball-balance-01/render/evidence.json
PPO teaching references:
docs/microduck-training-student-book/chapters/02a-ppo-code-lab.md
docs/microduck-training-student-book/chapters/02b-gae-workshop.md
scripts/scenarios/README.md
README.md
Evidence edition: 2026-09-11. Complete raw recorded metrics are bundled under raw/basketball/.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EIGHT CASES / ONE LEARNING METHOD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LAB 06</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01</a:t>
            </a:r>
            <a:endParaRPr lang="en-US" sz="1200" dirty="0"/>
          </a:p>
        </p:txBody>
      </p:sp>
      <p:sp>
        <p:nvSpPr>
          <p:cNvPr id="8" name="Text 6"/>
          <p:cNvSpPr/>
          <p:nvPr/>
        </p:nvSpPr>
        <p:spPr>
          <a:xfrm>
            <a:off x="658368" y="1828800"/>
            <a:ext cx="5532120" cy="1298448"/>
          </a:xfrm>
          <a:prstGeom prst="rect">
            <a:avLst/>
          </a:prstGeom>
          <a:noFill/>
          <a:ln/>
        </p:spPr>
        <p:txBody>
          <a:bodyPr wrap="square" lIns="0" tIns="0" rIns="0" bIns="0" rtlCol="0" anchor="ctr"/>
          <a:lstStyle/>
          <a:p>
            <a:pPr marL="0" indent="0">
              <a:buNone/>
            </a:pPr>
            <a:r>
              <a:rPr lang="en-US" sz="4300" b="1" dirty="0">
                <a:solidFill>
                  <a:srgbClr val="142D3B"/>
                </a:solidFill>
                <a:latin typeface="Aptos" pitchFamily="34" charset="0"/>
                <a:ea typeface="Aptos" pitchFamily="34" charset="-122"/>
                <a:cs typeface="Aptos" pitchFamily="34" charset="-120"/>
              </a:rPr>
              <a:t>Basketball balance</a:t>
            </a:r>
            <a:endParaRPr lang="en-US" sz="4300" dirty="0"/>
          </a:p>
        </p:txBody>
      </p:sp>
      <p:sp>
        <p:nvSpPr>
          <p:cNvPr id="9" name="Text 7"/>
          <p:cNvSpPr/>
          <p:nvPr/>
        </p:nvSpPr>
        <p:spPr>
          <a:xfrm>
            <a:off x="685800" y="3328416"/>
            <a:ext cx="5230368" cy="1005840"/>
          </a:xfrm>
          <a:prstGeom prst="rect">
            <a:avLst/>
          </a:prstGeom>
          <a:noFill/>
          <a:ln/>
        </p:spPr>
        <p:txBody>
          <a:bodyPr wrap="square" lIns="0" tIns="0" rIns="0" bIns="0" rtlCol="0" anchor="ctr"/>
          <a:lstStyle/>
          <a:p>
            <a:pPr marL="0" indent="0">
              <a:buNone/>
            </a:pPr>
            <a:r>
              <a:rPr lang="en-US" sz="2300" dirty="0">
                <a:solidFill>
                  <a:srgbClr val="566C79"/>
                </a:solidFill>
                <a:latin typeface="Aptos" pitchFamily="34" charset="0"/>
                <a:ea typeface="Aptos" pitchFamily="34" charset="-122"/>
                <a:cs typeface="Aptos" pitchFamily="34" charset="-120"/>
              </a:rPr>
              <a:t>Basketball: Blind Recurrent Balance, Not Steering</a:t>
            </a:r>
            <a:endParaRPr lang="en-US" sz="2300" dirty="0"/>
          </a:p>
        </p:txBody>
      </p:sp>
      <p:sp>
        <p:nvSpPr>
          <p:cNvPr id="10" name="Text 8"/>
          <p:cNvSpPr/>
          <p:nvPr/>
        </p:nvSpPr>
        <p:spPr>
          <a:xfrm>
            <a:off x="685800" y="4645152"/>
            <a:ext cx="5230368" cy="548640"/>
          </a:xfrm>
          <a:prstGeom prst="rect">
            <a:avLst/>
          </a:prstGeom>
          <a:noFill/>
          <a:ln/>
        </p:spPr>
        <p:txBody>
          <a:bodyPr wrap="square" lIns="0" tIns="0" rIns="0" bIns="0" rtlCol="0" anchor="ctr"/>
          <a:lstStyle/>
          <a:p>
            <a:pPr marL="0" indent="0">
              <a:buNone/>
            </a:pPr>
            <a:r>
              <a:rPr lang="en-US" sz="1700" dirty="0">
                <a:solidFill>
                  <a:srgbClr val="566C79"/>
                </a:solidFill>
                <a:latin typeface="Aptos" pitchFamily="34" charset="0"/>
                <a:ea typeface="Aptos" pitchFamily="34" charset="-122"/>
                <a:cs typeface="Aptos" pitchFamily="34" charset="-120"/>
              </a:rPr>
              <a:t>Environment design · PPO · Honest verification</a:t>
            </a:r>
            <a:endParaRPr lang="en-US" sz="1700" dirty="0"/>
          </a:p>
        </p:txBody>
      </p:sp>
      <p:pic>
        <p:nvPicPr>
          <p:cNvPr id="11" name="Image 0" descr="/Volumes/ExternalSSD/geoagent/microduck-lab/docs/classroom-ppt/assets/basketball/rollout-poster.png"/>
          <p:cNvPicPr>
            <a:picLocks noChangeAspect="1"/>
          </p:cNvPicPr>
          <p:nvPr/>
        </p:nvPicPr>
        <p:blipFill>
          <a:blip r:embed="rId3"/>
          <a:stretch>
            <a:fillRect/>
          </a:stretch>
        </p:blipFill>
        <p:spPr>
          <a:xfrm>
            <a:off x="6263640" y="2084546"/>
            <a:ext cx="5349240" cy="3008948"/>
          </a:xfrm>
          <a:prstGeom prst="rect">
            <a:avLst/>
          </a:prstGeom>
        </p:spPr>
      </p:pic>
      <p:sp>
        <p:nvSpPr>
          <p:cNvPr id="12" name="Text 9"/>
          <p:cNvSpPr/>
          <p:nvPr/>
        </p:nvSpPr>
        <p:spPr>
          <a:xfrm>
            <a:off x="685800" y="5550408"/>
            <a:ext cx="10698480" cy="393192"/>
          </a:xfrm>
          <a:prstGeom prst="rect">
            <a:avLst/>
          </a:prstGeom>
          <a:noFill/>
          <a:ln/>
        </p:spPr>
        <p:txBody>
          <a:bodyPr wrap="square" lIns="0" tIns="0" rIns="0" bIns="0" rtlCol="0" anchor="ctr"/>
          <a:lstStyle/>
          <a:p>
            <a:pPr marL="0" indent="0">
              <a:buNone/>
            </a:pPr>
            <a:r>
              <a:rPr lang="en-US" sz="2000" b="1" kern="0" spc="100" dirty="0">
                <a:solidFill>
                  <a:srgbClr val="087E8B"/>
                </a:solidFill>
                <a:latin typeface="Aptos" pitchFamily="34" charset="0"/>
                <a:ea typeface="Aptos" pitchFamily="34" charset="-122"/>
                <a:cs typeface="Aptos" pitchFamily="34" charset="-120"/>
              </a:rPr>
              <a:t>BUILD  →  TRAIN  →  VERIFY  →  EXPLAIN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What you will build — and what the evidence says</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550" dirty="0">
                <a:solidFill>
                  <a:srgbClr val="142D3B"/>
                </a:solidFill>
                <a:latin typeface="Aptos" pitchFamily="34" charset="0"/>
                <a:ea typeface="Aptos" pitchFamily="34" charset="-122"/>
                <a:cs typeface="Aptos" pitchFamily="34" charset="-120"/>
              </a:rPr>
              <a:t>Use case: Teach recurrent policy state, actor warm-starts, physical-assistance curricula, and honest task decomposition. The retained policy demonstrates unassisted balance on a moving free basketball, while commanded rolling and general steering remain unmastered.</a:t>
            </a:r>
            <a:endParaRPr lang="en-US" sz="15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750" dirty="0">
                <a:solidFill>
                  <a:srgbClr val="142D3B"/>
                </a:solidFill>
                <a:latin typeface="Aptos" pitchFamily="34" charset="0"/>
                <a:ea typeface="Aptos" pitchFamily="34" charset="-122"/>
                <a:cs typeface="Aptos" pitchFamily="34" charset="-120"/>
              </a:rPr>
              <a:t>By the end: describe the scene, map observations to actions, explain the reward, trace one PPO update, run a bounded experiment, and defend an evaluation claim.</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demonstrated result is balance, not stationary world-position hold, commanded rolling, or steering.</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Scope: local MuJoCo simulation. Do not deploy these classroom artifacts to a physical robot; hardware transfer requires a separate validated process.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Materials and prerequisites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Microduck full-collision MuJoCo model with CPU BAM actuators and 50 Hz policy control</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A free basketball sphere with radius 0.12 m and mass 0.62 kg</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950" dirty="0">
                <a:solidFill>
                  <a:srgbClr val="142D3B"/>
                </a:solidFill>
                <a:latin typeface="Aptos" pitchFamily="34" charset="0"/>
                <a:ea typeface="Aptos" pitchFamily="34" charset="-122"/>
                <a:cs typeface="Aptos" pitchFamily="34" charset="-120"/>
              </a:rPr>
              <a:t>microduck-playground/src/mjlab_microduck/robot/assets/basketball/basketball.obj and basketball.png for the non-colliding visual mesh and texture</a:t>
            </a:r>
            <a:endParaRPr lang="en-US" sz="19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microduck-playground/artifacts/basketball/checkpoint.pt and policy.onnx as the hash-verified b11 source actor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Materials and prerequisites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rlx/rlx/environments/basketball.py for scene physics, assistance, reward, termination, and metrics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rlx/rlx/models/basketball.py for the LSTM256 actor, fresh critic, recurrent ONNX export, and parity test</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rlx/examples/ppo_microduck_basketball.py for local recurrent PPO continuation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rlx/scripts/eval_basketball_local.py for deterministic first-fall evaluation and rendering</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Materials and prerequisites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05</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rlx/runs/studio/basketball/basketball-balance-01/ for the retained Studio policy, evaluation, and preview</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rlx/artifacts/basketball-local-20260910/ for the 102,400-step fixed-command training record</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Environment and policy contract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The physical sphere center starts at z=0.121 m. The robot root starts at z=0.368 m, upright near the ball apex; the task does not teach climbing onto the ball or floor recovery.</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physics step is 0.005 s with four substeps per action, giving a 0.02 s control interval and 50 Hz policy rate.</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Observation contract: float32[61]. Indices 0:3 trunk angular velocity; 3:6 projected gravity; 6:20 joint offsets; 20:34 one-step-lagged joint velocity; 34:48 previous raw action; 48:51 velocity command; 51:61 zero padding.</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Action contract: 14 joint-target offsets. Applied targets are default pose plus clip(action, -4, 4); the observation preserves the previous raw action.</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Environment and policy contract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The actor receives no ball position, velocity, rotation, contact, radius, or world-position signal. It is a blind recurrent actor that can infer dynamics only through proprioceptive history.</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Recurrent ONNX inputs are obs [1,61], h_in [1,1,256], and c_in [1,1,256]; outputs are actions [1,14], h_out [1,1,256], and c_out [1,1,256].</a:t>
            </a:r>
            <a:endParaRPr lang="en-US" sz="20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900" dirty="0">
                <a:solidFill>
                  <a:srgbClr val="142D3B"/>
                </a:solidFill>
                <a:latin typeface="Aptos" pitchFamily="34" charset="0"/>
                <a:ea typeface="Aptos" pitchFamily="34" charset="-122"/>
                <a:cs typeface="Aptos" pitchFamily="34" charset="-120"/>
              </a:rPr>
              <a:t>Hidden and cell state carry across ordinary steps and command changes, then reset on trial, episode, policy, environment, or recovery boundaries.</a:t>
            </a:r>
            <a:endParaRPr lang="en-US" sz="19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700" dirty="0">
                <a:solidFill>
                  <a:srgbClr val="142D3B"/>
                </a:solidFill>
                <a:latin typeface="Aptos" pitchFamily="34" charset="0"/>
                <a:ea typeface="Aptos" pitchFamily="34" charset="-122"/>
                <a:cs typeface="Aptos" pitchFamily="34" charset="-120"/>
              </a:rPr>
              <a:t>The physical assistance ladder is hold levels 1, 0.5, 0.25, 0.1, 0.03, and 0. It applies restoring force and torque through simulation only; rewards remain unchanged.</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Environment and policy contract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08</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retained fixed-command run trained with hold 0 and curriculum disabled. Evaluation always forces hold 0 and never auto-resets a failed trial.</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direct evaluation uses 60 s, 3,000 steps, seeds 101/202/303, randomized initial yaw, zero command and 0.15 m/s forward command, no pushes, no observation noise, and no mass/friction domain randomization.</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How this case is built: one evidence loop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09</a:t>
            </a:r>
            <a:endParaRPr lang="en-US" sz="1200" dirty="0"/>
          </a:p>
        </p:txBody>
      </p:sp>
      <p:sp>
        <p:nvSpPr>
          <p:cNvPr id="8" name="Shape 6"/>
          <p:cNvSpPr/>
          <p:nvPr/>
        </p:nvSpPr>
        <p:spPr>
          <a:xfrm>
            <a:off x="594360" y="1828800"/>
            <a:ext cx="3227832" cy="1234440"/>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77240" y="19659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01 / SOURCE</a:t>
            </a:r>
            <a:endParaRPr lang="en-US" sz="1200" dirty="0"/>
          </a:p>
        </p:txBody>
      </p:sp>
      <p:sp>
        <p:nvSpPr>
          <p:cNvPr id="10" name="Text 8"/>
          <p:cNvSpPr/>
          <p:nvPr/>
        </p:nvSpPr>
        <p:spPr>
          <a:xfrm>
            <a:off x="777240" y="23042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Warm-start recurrent actor</a:t>
            </a:r>
            <a:endParaRPr lang="en-US" sz="2100" dirty="0"/>
          </a:p>
        </p:txBody>
      </p:sp>
      <p:sp>
        <p:nvSpPr>
          <p:cNvPr id="11" name="Shape 9"/>
          <p:cNvSpPr/>
          <p:nvPr/>
        </p:nvSpPr>
        <p:spPr>
          <a:xfrm>
            <a:off x="4471416" y="1828800"/>
            <a:ext cx="3227832" cy="1234440"/>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4654296" y="19659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02 / SCENE</a:t>
            </a:r>
            <a:endParaRPr lang="en-US" sz="1200" dirty="0"/>
          </a:p>
        </p:txBody>
      </p:sp>
      <p:sp>
        <p:nvSpPr>
          <p:cNvPr id="13" name="Text 11"/>
          <p:cNvSpPr/>
          <p:nvPr/>
        </p:nvSpPr>
        <p:spPr>
          <a:xfrm>
            <a:off x="4654296" y="23042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Free ball + real contacts</a:t>
            </a:r>
            <a:endParaRPr lang="en-US" sz="2100" dirty="0"/>
          </a:p>
        </p:txBody>
      </p:sp>
      <p:sp>
        <p:nvSpPr>
          <p:cNvPr id="14" name="Shape 12"/>
          <p:cNvSpPr/>
          <p:nvPr/>
        </p:nvSpPr>
        <p:spPr>
          <a:xfrm>
            <a:off x="8348472" y="1828800"/>
            <a:ext cx="3227832" cy="1234440"/>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8531352" y="19659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03 / PPO</a:t>
            </a:r>
            <a:endParaRPr lang="en-US" sz="1200" dirty="0"/>
          </a:p>
        </p:txBody>
      </p:sp>
      <p:sp>
        <p:nvSpPr>
          <p:cNvPr id="16" name="Text 14"/>
          <p:cNvSpPr/>
          <p:nvPr/>
        </p:nvSpPr>
        <p:spPr>
          <a:xfrm>
            <a:off x="8531352" y="23042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Ordered recurrent replay</a:t>
            </a:r>
            <a:endParaRPr lang="en-US" sz="2100" dirty="0"/>
          </a:p>
        </p:txBody>
      </p:sp>
      <p:sp>
        <p:nvSpPr>
          <p:cNvPr id="17" name="Shape 15"/>
          <p:cNvSpPr/>
          <p:nvPr/>
        </p:nvSpPr>
        <p:spPr>
          <a:xfrm>
            <a:off x="8348472" y="3886200"/>
            <a:ext cx="3227832" cy="1234440"/>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8531352" y="40233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04 / EXPORT</a:t>
            </a:r>
            <a:endParaRPr lang="en-US" sz="1200" dirty="0"/>
          </a:p>
        </p:txBody>
      </p:sp>
      <p:sp>
        <p:nvSpPr>
          <p:cNvPr id="19" name="Text 17"/>
          <p:cNvSpPr/>
          <p:nvPr/>
        </p:nvSpPr>
        <p:spPr>
          <a:xfrm>
            <a:off x="8531352" y="43616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Carry and reset hidden state</a:t>
            </a:r>
            <a:endParaRPr lang="en-US" sz="2100" dirty="0"/>
          </a:p>
        </p:txBody>
      </p:sp>
      <p:sp>
        <p:nvSpPr>
          <p:cNvPr id="20" name="Shape 18"/>
          <p:cNvSpPr/>
          <p:nvPr/>
        </p:nvSpPr>
        <p:spPr>
          <a:xfrm>
            <a:off x="4471416" y="3886200"/>
            <a:ext cx="3227832" cy="1234440"/>
          </a:xfrm>
          <a:prstGeom prst="rect">
            <a:avLst/>
          </a:prstGeom>
          <a:solidFill>
            <a:srgbClr val="FFFFFF"/>
          </a:solidFill>
          <a:ln w="6350">
            <a:solidFill>
              <a:srgbClr val="FFFFFF"/>
            </a:solidFill>
            <a:prstDash val="solid"/>
          </a:ln>
        </p:spPr>
        <p:txBody>
          <a:bodyPr/>
          <a:lstStyle/>
          <a:p>
            <a:endParaRPr lang="en-US"/>
          </a:p>
        </p:txBody>
      </p:sp>
      <p:sp>
        <p:nvSpPr>
          <p:cNvPr id="21" name="Text 19"/>
          <p:cNvSpPr/>
          <p:nvPr/>
        </p:nvSpPr>
        <p:spPr>
          <a:xfrm>
            <a:off x="4654296" y="40233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05 / VERIFY</a:t>
            </a:r>
            <a:endParaRPr lang="en-US" sz="1200" dirty="0"/>
          </a:p>
        </p:txBody>
      </p:sp>
      <p:sp>
        <p:nvSpPr>
          <p:cNvPr id="22" name="Text 20"/>
          <p:cNvSpPr/>
          <p:nvPr/>
        </p:nvSpPr>
        <p:spPr>
          <a:xfrm>
            <a:off x="4654296" y="43616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Balance vs rolling tests</a:t>
            </a:r>
            <a:endParaRPr lang="en-US" sz="2100" dirty="0"/>
          </a:p>
        </p:txBody>
      </p:sp>
      <p:sp>
        <p:nvSpPr>
          <p:cNvPr id="23" name="Shape 21"/>
          <p:cNvSpPr/>
          <p:nvPr/>
        </p:nvSpPr>
        <p:spPr>
          <a:xfrm>
            <a:off x="594360" y="3886200"/>
            <a:ext cx="3227832" cy="1234440"/>
          </a:xfrm>
          <a:prstGeom prst="rect">
            <a:avLst/>
          </a:prstGeom>
          <a:solidFill>
            <a:srgbClr val="FFFFFF"/>
          </a:solidFill>
          <a:ln w="6350">
            <a:solidFill>
              <a:srgbClr val="FFFFFF"/>
            </a:solidFill>
            <a:prstDash val="solid"/>
          </a:ln>
        </p:spPr>
        <p:txBody>
          <a:bodyPr/>
          <a:lstStyle/>
          <a:p>
            <a:endParaRPr lang="en-US"/>
          </a:p>
        </p:txBody>
      </p:sp>
      <p:sp>
        <p:nvSpPr>
          <p:cNvPr id="24" name="Text 22"/>
          <p:cNvSpPr/>
          <p:nvPr/>
        </p:nvSpPr>
        <p:spPr>
          <a:xfrm>
            <a:off x="777240" y="40233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06 / EVIDENCE</a:t>
            </a:r>
            <a:endParaRPr lang="en-US" sz="1200" dirty="0"/>
          </a:p>
        </p:txBody>
      </p:sp>
      <p:sp>
        <p:nvSpPr>
          <p:cNvPr id="25" name="Text 23"/>
          <p:cNvSpPr/>
          <p:nvPr/>
        </p:nvSpPr>
        <p:spPr>
          <a:xfrm>
            <a:off x="777240" y="43616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Balance, not steering</a:t>
            </a:r>
            <a:endParaRPr lang="en-US" sz="2100" dirty="0"/>
          </a:p>
        </p:txBody>
      </p:sp>
      <p:sp>
        <p:nvSpPr>
          <p:cNvPr id="26" name="Shape 24"/>
          <p:cNvSpPr/>
          <p:nvPr/>
        </p:nvSpPr>
        <p:spPr>
          <a:xfrm>
            <a:off x="3840480" y="2441448"/>
            <a:ext cx="566928" cy="0"/>
          </a:xfrm>
          <a:prstGeom prst="line">
            <a:avLst/>
          </a:prstGeom>
          <a:noFill/>
          <a:ln w="31750">
            <a:solidFill>
              <a:srgbClr val="087E8B"/>
            </a:solidFill>
            <a:prstDash val="solid"/>
            <a:tailEnd type="triangle"/>
          </a:ln>
        </p:spPr>
        <p:txBody>
          <a:bodyPr/>
          <a:lstStyle/>
          <a:p>
            <a:endParaRPr lang="en-US"/>
          </a:p>
        </p:txBody>
      </p:sp>
      <p:sp>
        <p:nvSpPr>
          <p:cNvPr id="27" name="Shape 25"/>
          <p:cNvSpPr/>
          <p:nvPr/>
        </p:nvSpPr>
        <p:spPr>
          <a:xfrm>
            <a:off x="7708392" y="2441448"/>
            <a:ext cx="576072" cy="0"/>
          </a:xfrm>
          <a:prstGeom prst="line">
            <a:avLst/>
          </a:prstGeom>
          <a:noFill/>
          <a:ln w="31750">
            <a:solidFill>
              <a:srgbClr val="087E8B"/>
            </a:solidFill>
            <a:prstDash val="solid"/>
            <a:tailEnd type="triangle"/>
          </a:ln>
        </p:spPr>
        <p:txBody>
          <a:bodyPr/>
          <a:lstStyle/>
          <a:p>
            <a:endParaRPr lang="en-US"/>
          </a:p>
        </p:txBody>
      </p:sp>
      <p:sp>
        <p:nvSpPr>
          <p:cNvPr id="28" name="Shape 26"/>
          <p:cNvSpPr/>
          <p:nvPr/>
        </p:nvSpPr>
        <p:spPr>
          <a:xfrm>
            <a:off x="9939528" y="3145536"/>
            <a:ext cx="0" cy="621792"/>
          </a:xfrm>
          <a:prstGeom prst="line">
            <a:avLst/>
          </a:prstGeom>
          <a:noFill/>
          <a:ln w="31750">
            <a:solidFill>
              <a:srgbClr val="087E8B"/>
            </a:solidFill>
            <a:prstDash val="solid"/>
            <a:tailEnd type="triangle"/>
          </a:ln>
        </p:spPr>
        <p:txBody>
          <a:bodyPr/>
          <a:lstStyle/>
          <a:p>
            <a:endParaRPr lang="en-US"/>
          </a:p>
        </p:txBody>
      </p:sp>
      <p:sp>
        <p:nvSpPr>
          <p:cNvPr id="29" name="Shape 27"/>
          <p:cNvSpPr/>
          <p:nvPr/>
        </p:nvSpPr>
        <p:spPr>
          <a:xfrm>
            <a:off x="7717536" y="4480560"/>
            <a:ext cx="530352" cy="0"/>
          </a:xfrm>
          <a:prstGeom prst="line">
            <a:avLst/>
          </a:prstGeom>
          <a:noFill/>
          <a:ln w="31750">
            <a:solidFill>
              <a:srgbClr val="087E8B"/>
            </a:solidFill>
            <a:prstDash val="solid"/>
            <a:headEnd type="triangle"/>
          </a:ln>
        </p:spPr>
        <p:txBody>
          <a:bodyPr/>
          <a:lstStyle/>
          <a:p>
            <a:endParaRPr lang="en-US"/>
          </a:p>
        </p:txBody>
      </p:sp>
      <p:sp>
        <p:nvSpPr>
          <p:cNvPr id="30" name="Shape 28"/>
          <p:cNvSpPr/>
          <p:nvPr/>
        </p:nvSpPr>
        <p:spPr>
          <a:xfrm>
            <a:off x="3840480" y="4480560"/>
            <a:ext cx="530352" cy="0"/>
          </a:xfrm>
          <a:prstGeom prst="line">
            <a:avLst/>
          </a:prstGeom>
          <a:noFill/>
          <a:ln w="31750">
            <a:solidFill>
              <a:srgbClr val="087E8B"/>
            </a:solidFill>
            <a:prstDash val="solid"/>
            <a:headEnd type="triangle"/>
          </a:ln>
        </p:spPr>
        <p:txBody>
          <a:bodyPr/>
          <a:lstStyle/>
          <a:p>
            <a:endParaRPr lang="en-US"/>
          </a:p>
        </p:txBody>
      </p:sp>
      <p:sp>
        <p:nvSpPr>
          <p:cNvPr id="31" name="Text 29"/>
          <p:cNvSpPr/>
          <p:nvPr/>
        </p:nvSpPr>
        <p:spPr>
          <a:xfrm>
            <a:off x="731520" y="5641848"/>
            <a:ext cx="10789920" cy="347472"/>
          </a:xfrm>
          <a:prstGeom prst="rect">
            <a:avLst/>
          </a:prstGeom>
          <a:noFill/>
          <a:ln/>
        </p:spPr>
        <p:txBody>
          <a:bodyPr wrap="square" lIns="0" tIns="0" rIns="0" bIns="0" rtlCol="0" anchor="ctr"/>
          <a:lstStyle/>
          <a:p>
            <a:pPr marL="0" indent="0">
              <a:buNone/>
            </a:pPr>
            <a:r>
              <a:rPr lang="en-US" sz="1900" b="1" dirty="0">
                <a:solidFill>
                  <a:srgbClr val="D96C35"/>
                </a:solidFill>
                <a:latin typeface="Aptos" pitchFamily="34" charset="0"/>
                <a:ea typeface="Aptos" pitchFamily="34" charset="-122"/>
                <a:cs typeface="Aptos" pitchFamily="34" charset="-120"/>
              </a:rPr>
              <a:t>Failure is data: change one cause, retrain, and repeat the same evaluation gates.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Build the case step by step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Verify the supplied b11 checkpoint and ONNX hashes before loading the source actor.</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Build the free-ball MuJoCo scene with a colliding sphere and a separate massless, non-colliding visual mesh.</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Reset the robot near the apex and zero recurrent hidden and cell state.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900" dirty="0">
                <a:solidFill>
                  <a:srgbClr val="142D3B"/>
                </a:solidFill>
                <a:latin typeface="Aptos" pitchFamily="34" charset="0"/>
                <a:ea typeface="Aptos" pitchFamily="34" charset="-122"/>
                <a:cs typeface="Aptos" pitchFamily="34" charset="-120"/>
              </a:rPr>
              <a:t>Transfer the mature recurrent actor and freeze its observation normalizer; initialize a fresh 61-input feedforward critic and fresh Adam optimizer.</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Build the case step by step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Collect complete time-by-environment recurrent rollouts, preserving the initial hidden/cell tensors and episode-start masks.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Replay the full ordered recurrent sequence during every PPO epoch; do not shuffle observations as independent rows.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Apply KL early stopping at target 0.02, save intermediate checkpoints, export recurrent ONNX, and test a state reset during parity comparison.</a:t>
            </a:r>
            <a:endParaRPr lang="en-US" sz="20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Evaluate zero-command balance and commanded-forward rolling as separate classifications.</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Build the case step by step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12</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For each trial, carry recurrent state until first fall or exactly 3,000 steps; do not hide failure with automatic resets.</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33162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Check support, tilt, root offset, ball travel, ball rotation, directional progress, velocity tracking, assistance, and contact exploits.</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7487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11</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Inspect both the zero-command balance video and the failed forward-command rolling video before writing the classroom claim.</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PPO: improve the actor without trusting a huge step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13</a:t>
            </a:r>
            <a:endParaRPr lang="en-US" sz="1200" dirty="0"/>
          </a:p>
        </p:txBody>
      </p:sp>
      <p:sp>
        <p:nvSpPr>
          <p:cNvPr id="8" name="Shape 6"/>
          <p:cNvSpPr/>
          <p:nvPr/>
        </p:nvSpPr>
        <p:spPr>
          <a:xfrm>
            <a:off x="594360" y="1810512"/>
            <a:ext cx="10972800" cy="932688"/>
          </a:xfrm>
          <a:prstGeom prst="rect">
            <a:avLst/>
          </a:prstGeom>
          <a:solidFill>
            <a:srgbClr val="142D3B"/>
          </a:solidFill>
          <a:ln w="6350">
            <a:solidFill>
              <a:srgbClr val="142D3B"/>
            </a:solidFill>
            <a:prstDash val="solid"/>
          </a:ln>
        </p:spPr>
        <p:txBody>
          <a:bodyPr/>
          <a:lstStyle/>
          <a:p>
            <a:endParaRPr lang="en-US"/>
          </a:p>
        </p:txBody>
      </p:sp>
      <p:sp>
        <p:nvSpPr>
          <p:cNvPr id="9" name="Text 7"/>
          <p:cNvSpPr/>
          <p:nvPr/>
        </p:nvSpPr>
        <p:spPr>
          <a:xfrm>
            <a:off x="914400" y="1975104"/>
            <a:ext cx="10241280" cy="502920"/>
          </a:xfrm>
          <a:prstGeom prst="rect">
            <a:avLst/>
          </a:prstGeom>
          <a:noFill/>
          <a:ln/>
        </p:spPr>
        <p:txBody>
          <a:bodyPr wrap="square" lIns="0" tIns="0" rIns="0" bIns="0" rtlCol="0" anchor="ctr"/>
          <a:lstStyle/>
          <a:p>
            <a:pPr marL="0" indent="0">
              <a:buNone/>
            </a:pPr>
            <a:r>
              <a:rPr lang="en-US" sz="2900" b="1" dirty="0">
                <a:solidFill>
                  <a:srgbClr val="FFFFFF"/>
                </a:solidFill>
                <a:latin typeface="Aptos" pitchFamily="34" charset="0"/>
                <a:ea typeface="Aptos" pitchFamily="34" charset="-122"/>
                <a:cs typeface="Aptos" pitchFamily="34" charset="-120"/>
              </a:rPr>
              <a:t>ratio = </a:t>
            </a:r>
            <a:r>
              <a:rPr lang="en-US" sz="4800" b="1" dirty="0">
                <a:solidFill>
                  <a:srgbClr val="FFFFFF"/>
                </a:solidFill>
                <a:latin typeface="Aptos" pitchFamily="34" charset="0"/>
                <a:ea typeface="Aptos" pitchFamily="34" charset="-122"/>
                <a:cs typeface="Aptos" pitchFamily="34" charset="-120"/>
              </a:rPr>
              <a:t>π</a:t>
            </a:r>
            <a:r>
              <a:rPr lang="en-US" sz="2900" b="1" dirty="0">
                <a:solidFill>
                  <a:srgbClr val="FFFFFF"/>
                </a:solidFill>
                <a:latin typeface="Aptos" pitchFamily="34" charset="0"/>
                <a:ea typeface="Aptos" pitchFamily="34" charset="-122"/>
                <a:cs typeface="Aptos" pitchFamily="34" charset="-120"/>
              </a:rPr>
              <a:t>new(a | o) / </a:t>
            </a:r>
            <a:r>
              <a:rPr lang="en-US" sz="4800" b="1" dirty="0">
                <a:solidFill>
                  <a:srgbClr val="FFFFFF"/>
                </a:solidFill>
                <a:latin typeface="Aptos" pitchFamily="34" charset="0"/>
                <a:ea typeface="Aptos" pitchFamily="34" charset="-122"/>
                <a:cs typeface="Aptos" pitchFamily="34" charset="-120"/>
              </a:rPr>
              <a:t>π</a:t>
            </a:r>
            <a:r>
              <a:rPr lang="en-US" sz="2900" b="1" dirty="0">
                <a:solidFill>
                  <a:srgbClr val="FFFFFF"/>
                </a:solidFill>
                <a:latin typeface="Aptos" pitchFamily="34" charset="0"/>
                <a:ea typeface="Aptos" pitchFamily="34" charset="-122"/>
                <a:cs typeface="Aptos" pitchFamily="34" charset="-120"/>
              </a:rPr>
              <a:t>old(a | o)</a:t>
            </a:r>
            <a:endParaRPr lang="en-US" sz="2900" dirty="0"/>
          </a:p>
        </p:txBody>
      </p:sp>
      <p:sp>
        <p:nvSpPr>
          <p:cNvPr id="10" name="Text 8"/>
          <p:cNvSpPr/>
          <p:nvPr/>
        </p:nvSpPr>
        <p:spPr>
          <a:xfrm>
            <a:off x="731520" y="2971800"/>
            <a:ext cx="10789920" cy="640080"/>
          </a:xfrm>
          <a:prstGeom prst="rect">
            <a:avLst/>
          </a:prstGeom>
          <a:noFill/>
          <a:ln/>
        </p:spPr>
        <p:txBody>
          <a:bodyPr wrap="square" lIns="0" tIns="0" rIns="0" bIns="0" rtlCol="0" anchor="ctr"/>
          <a:lstStyle/>
          <a:p>
            <a:pPr marL="0" indent="0">
              <a:buNone/>
            </a:pPr>
            <a:r>
              <a:rPr lang="en-US" sz="2500" b="1" dirty="0">
                <a:solidFill>
                  <a:srgbClr val="142D3B"/>
                </a:solidFill>
                <a:latin typeface="Aptos" pitchFamily="34" charset="0"/>
                <a:ea typeface="Aptos" pitchFamily="34" charset="-122"/>
                <a:cs typeface="Aptos" pitchFamily="34" charset="-120"/>
              </a:rPr>
              <a:t>Maximize mean[min(ratio × A, clip(ratio, 1 − ε, 1 + ε) × A)]</a:t>
            </a:r>
            <a:endParaRPr lang="en-US" sz="2500" dirty="0"/>
          </a:p>
        </p:txBody>
      </p:sp>
      <p:sp>
        <p:nvSpPr>
          <p:cNvPr id="11" name="Text 9"/>
          <p:cNvSpPr/>
          <p:nvPr/>
        </p:nvSpPr>
        <p:spPr>
          <a:xfrm>
            <a:off x="731520" y="3904488"/>
            <a:ext cx="10789920" cy="640080"/>
          </a:xfrm>
          <a:prstGeom prst="rect">
            <a:avLst/>
          </a:prstGeom>
          <a:noFill/>
          <a:ln/>
        </p:spPr>
        <p:txBody>
          <a:bodyPr wrap="square" lIns="0" tIns="0" rIns="0" bIns="0" rtlCol="0" anchor="ctr"/>
          <a:lstStyle/>
          <a:p>
            <a:pPr marL="0" indent="0">
              <a:buNone/>
            </a:pPr>
            <a:r>
              <a:rPr lang="en-US" sz="2300" dirty="0">
                <a:solidFill>
                  <a:srgbClr val="142D3B"/>
                </a:solidFill>
                <a:latin typeface="Aptos" pitchFamily="34" charset="0"/>
                <a:ea typeface="Aptos" pitchFamily="34" charset="-122"/>
                <a:cs typeface="Aptos" pitchFamily="34" charset="-120"/>
              </a:rPr>
              <a:t>Actor: chooses joint actions.   Critic: estimates future discounted reward.</a:t>
            </a:r>
            <a:endParaRPr lang="en-US" sz="2300" dirty="0"/>
          </a:p>
        </p:txBody>
      </p:sp>
      <p:sp>
        <p:nvSpPr>
          <p:cNvPr id="12" name="Text 10"/>
          <p:cNvSpPr/>
          <p:nvPr/>
        </p:nvSpPr>
        <p:spPr>
          <a:xfrm>
            <a:off x="731520" y="4809744"/>
            <a:ext cx="10789920" cy="731520"/>
          </a:xfrm>
          <a:prstGeom prst="rect">
            <a:avLst/>
          </a:prstGeom>
          <a:noFill/>
          <a:ln/>
        </p:spPr>
        <p:txBody>
          <a:bodyPr wrap="square" lIns="0" tIns="0" rIns="0" bIns="0" rtlCol="0" anchor="ctr"/>
          <a:lstStyle/>
          <a:p>
            <a:pPr marL="0" indent="0">
              <a:buNone/>
            </a:pPr>
            <a:r>
              <a:rPr lang="en-US" sz="2200" dirty="0">
                <a:solidFill>
                  <a:srgbClr val="566C79"/>
                </a:solidFill>
                <a:latin typeface="Aptos" pitchFamily="34" charset="0"/>
                <a:ea typeface="Aptos" pitchFamily="34" charset="-122"/>
                <a:cs typeface="Aptos" pitchFamily="34" charset="-120"/>
              </a:rPr>
              <a:t>A = advantage.  ε = clipping range.  Old log probabilities stay fixed for each collected batch.</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Follow one rollout through the learner</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Collect observations, sampled actions, old log probabilities, values, rewards and episode-boundary flags using the current stochastic actor.</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750" dirty="0">
                <a:solidFill>
                  <a:srgbClr val="142D3B"/>
                </a:solidFill>
                <a:latin typeface="Aptos" pitchFamily="34" charset="0"/>
                <a:ea typeface="Aptos" pitchFamily="34" charset="-122"/>
                <a:cs typeface="Aptos" pitchFamily="34" charset="-120"/>
              </a:rPr>
              <a:t>Compute TD residuals and generalized advantage estimates (GAE). A true terminal has zero continuation value; a timeout may bootstrap the saved final observation.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Cut advantage traces at reset boundaries. Never bootstrap a timeout from the first observation of the next episode.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800" dirty="0">
                <a:solidFill>
                  <a:srgbClr val="142D3B"/>
                </a:solidFill>
                <a:latin typeface="Aptos" pitchFamily="34" charset="0"/>
                <a:ea typeface="Aptos" pitchFamily="34" charset="-122"/>
                <a:cs typeface="Aptos" pitchFamily="34" charset="-120"/>
              </a:rPr>
              <a:t>Reuse this batch for PPO minibatch updates, then collect fresh on-policy data. Export the deterministic actor and its observation transform for evaluation.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Paper exercise: count samples and clip the objective</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Illustrative arithmetic, NOT this run: 16 environments × 128 steps = 2,048 fresh transitions per rollout. Four epochs reuse those transitions; they do not create 8,192 new samples.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050" dirty="0">
                <a:solidFill>
                  <a:srgbClr val="142D3B"/>
                </a:solidFill>
                <a:latin typeface="Aptos" pitchFamily="34" charset="0"/>
                <a:ea typeface="Aptos" pitchFamily="34" charset="-122"/>
                <a:cs typeface="Aptos" pitchFamily="34" charset="-120"/>
              </a:rPr>
              <a:t>With ε = 0.2, ratio = 1.4 and A = +2: min(2.8, 2.4) = 2.4. The minimized policy term is −2.4 before averaging and additional loss terms.</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With the same ratio and A = −2: min(−2.8, −2.4) = −2.8. Explain why clipping is asymmetric once the sign of the advantage changes.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Run from repo root: python3 docs/microduck-training-student-book/learning_lab.py --gae. This is a deterministic arithmetic lab, not new policy training.</a:t>
            </a:r>
            <a:endParaRPr lang="en-US" sz="1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Reward design: what the agent is paid to do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linear_tracking | weight: 1 | sign: reward | definition: exp(-sum((body_linear_velocity_xy - command_xy) squared) / 0.1)</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yaw_tracking | weight: 0.5 | sign: reward | definition: exp(-(gyro_z - command_yaw) squared / 0.5)</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upright | weight: 1 | sign: reward | definition: exp(-sum(projected_gravity_xy squared) / 0.09)</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centered | weight: 2 | sign: reward | definition: exp(-sum(horizontal trunk-to-ball offset squared) / 0.0016)</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Reward design: what the agent is paid to do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feet_on_ball | weight: 1 | sign: reward | definition: mean(exp(-foot-to-ball surface gap squared / 0.0004))</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height | weight: 1 | sign: reward | definition: exp(-(relative trunk height - ball radius - 0.125) squared / 0.0009)</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ball_speed_penalty | weight: 0.05 | sign: penalty | definition: -min(sum(ball horizontal velocity squared), 100)</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angular_velocity_penalty | weight: 0.05 | sign: penalty | definition: -min(sum(trunk roll/pitch angular velocity squared), 100)</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Reward design: what the agent is paid to do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18</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action_rate_penalty | weight: 0.2 | sign: penalty | definition: -min(sum((last_action - previous_action) squared), 100)</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reward_scale | weight: 0.02 | sign: time scaling | definition: Every weighted term is multiplied by CTRL_DT=0.02 before summation; the same weights are used at every hold/curriculum level.</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Recorded training recipe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config: warm_start | value: b11 iteration 6999 actor, frozen normalizer, fresh local critic and fresh Adam optimizer; not an upstream optimizer resume</a:t>
            </a:r>
            <a:endParaRPr lang="en-US" sz="18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050" dirty="0">
                <a:solidFill>
                  <a:srgbClr val="142D3B"/>
                </a:solidFill>
                <a:latin typeface="Aptos" pitchFamily="34" charset="0"/>
                <a:ea typeface="Aptos" pitchFamily="34" charset="-122"/>
                <a:cs typeface="Aptos" pitchFamily="34" charset="-120"/>
              </a:rPr>
              <a:t>config: fixed_command_run | value: 102,400 local transitions from 100 updates x 8 environments x 128 steps, command [0.15,0,0], seed 42</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config: optimizer | value: learning rate 2e-6, 5 recurrent replay epochs maximum, target KL 0.02, maximum gradient norm 1.0</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config: ppo_objective | value: gamma 0.99, GAE lambda 0.95, clip coefficient 0.2, value coefficient 1.0, entropy coefficient 0.01, normalized advantages</a:t>
            </a:r>
            <a:endParaRPr lang="en-US" sz="1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Recorded training recipe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config: exploration_and_environment | value: initial action standard deviation 0.03, BAM actuator, hold 0, curriculum off, pushes off, observation noise off, domain randomization off</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900" dirty="0">
                <a:solidFill>
                  <a:srgbClr val="142D3B"/>
                </a:solidFill>
                <a:latin typeface="Aptos" pitchFamily="34" charset="0"/>
                <a:ea typeface="Aptos" pitchFamily="34" charset="-122"/>
                <a:cs typeface="Aptos" pitchFamily="34" charset="-120"/>
              </a:rPr>
              <a:t>config: checkpointing | value: intermediate artifacts at updates 25, 50, and 75; final update 100; actor parameter L2 change 0.042958568781614304</a:t>
            </a:r>
            <a:endParaRPr lang="en-US" sz="19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config: telemetry_fields | value: update; loss; policy_loss; value_loss; entropy; gradient_norm; approx_kl; epochs_completed; kl_early_stop; hold_min; hold_max; completed_episodes</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500" dirty="0">
                <a:solidFill>
                  <a:srgbClr val="142D3B"/>
                </a:solidFill>
                <a:latin typeface="Aptos" pitchFamily="34" charset="0"/>
                <a:ea typeface="Aptos" pitchFamily="34" charset="-122"/>
                <a:cs typeface="Aptos" pitchFamily="34" charset="-120"/>
              </a:rPr>
              <a:t>config: evidence_gap | value: The Studio directory has no independent training trace. Charts use the archived source adaptation summary (100 PPO updates), whose checkpoint SHA-256 exactly matches the imported Studio checkpoint. No historical training reward series was retained.</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COPYABLE COMMANDS ALSO IN INSTRUCTOR GUIDE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Hands-on commands: inspect, smoke, train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21</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rlx/.venv-microduck/bin/python -m pytest rlx/tests/test_basketball.py rlx/tests/test_basketball_policy.py rlx/tests/test_basketball_evaluation.py -q</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Run scene, recurrent policy, and evaluation-honesty contract tests.</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bash scripts/train-basketball.sh --output rlx/artifacts/basketball-smoke --num-envs 4 --updates 5 --steps 32 --learning-rate 2e-6</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Run the documented five-update training smoke in a fresh output directory.</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COPYABLE COMMANDS ALSO IN INSTRUCTOR GUIDE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Hands-on commands: inspect, smoke, train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22</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bash scripts/train-basketball.sh --output rlx/artifacts/basketball-training --num-envs 8 --updates 100 --steps 128 --learning-rate 2e-6 --save-interval 25 --command .15 0 0</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Run the documented unassisted fixed-forward local adaptation.</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rlx/.venv-microduck/bin/python rlx/scripts/eval_basketball_local.py --policy rlx/artifacts/basketball-training/policy.onnx --output rlx/artifacts/basketball-evaluation --seconds 60 --seeds 101 202 303 --command 0 0 0 --command .15 0 0 --render</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Evaluate and render stationary balance and commanded rolling separately.</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COPYABLE COMMANDS ALSO IN INSTRUCTOR GUIDE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Hands-on commands: inspect, smoke, train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23</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duck-viewer:</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npm run dev</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Open the Studio and inspect basketball-balance-01 with private recurrent state per duck.</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CHECKPOINT-MATCHED SOURCE METRICS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Reward: does the logged signal match the task?</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24</a:t>
            </a:r>
            <a:endParaRPr lang="en-US" sz="1200" dirty="0"/>
          </a:p>
        </p:txBody>
      </p:sp>
      <p:pic>
        <p:nvPicPr>
          <p:cNvPr id="8" name="Image 0" descr="/Volumes/ExternalSSD/geoagent/microduck-lab/docs/classroom-ppt/assets/basketball/reward.png"/>
          <p:cNvPicPr>
            <a:picLocks noChangeAspect="1"/>
          </p:cNvPicPr>
          <p:nvPr/>
        </p:nvPicPr>
        <p:blipFill>
          <a:blip r:embed="rId3"/>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marL="0" indent="0">
              <a:buNone/>
            </a:pPr>
            <a:r>
              <a:rPr lang="en-US" sz="1200" dirty="0">
                <a:solidFill>
                  <a:srgbClr val="566C79"/>
                </a:solidFill>
                <a:latin typeface="Aptos" pitchFamily="34" charset="0"/>
                <a:ea typeface="Aptos" pitchFamily="34" charset="-122"/>
                <a:cs typeface="Aptos" pitchFamily="34" charset="-120"/>
              </a:rPr>
              <a:t>Archived source adaptation; exact imported checkpoint hash match. No historical reward curve was retained.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CHECKPOINT-MATCHED SOURCE METRICS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Loss: inspect actor, critic and policy drift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25</a:t>
            </a:r>
            <a:endParaRPr lang="en-US" sz="1200" dirty="0"/>
          </a:p>
        </p:txBody>
      </p:sp>
      <p:pic>
        <p:nvPicPr>
          <p:cNvPr id="8" name="Image 0" descr="/Volumes/ExternalSSD/geoagent/microduck-lab/docs/classroom-ppt/assets/basketball/loss.png"/>
          <p:cNvPicPr>
            <a:picLocks noChangeAspect="1"/>
          </p:cNvPicPr>
          <p:nvPr/>
        </p:nvPicPr>
        <p:blipFill>
          <a:blip r:embed="rId3"/>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marL="0" indent="0">
              <a:buNone/>
            </a:pPr>
            <a:r>
              <a:rPr lang="en-US" sz="1200" dirty="0">
                <a:solidFill>
                  <a:srgbClr val="566C79"/>
                </a:solidFill>
                <a:latin typeface="Aptos" pitchFamily="34" charset="0"/>
                <a:ea typeface="Aptos" pitchFamily="34" charset="-122"/>
                <a:cs typeface="Aptos" pitchFamily="34" charset="-120"/>
              </a:rPr>
              <a:t>Archived source adaptation; exact imported checkpoint hash match. No historical reward curve was retained.</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CHECKPOINT-MATCHED SOURCE METRICS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Diagnostics: is the optimizer behaving?</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26</a:t>
            </a:r>
            <a:endParaRPr lang="en-US" sz="1200" dirty="0"/>
          </a:p>
        </p:txBody>
      </p:sp>
      <p:pic>
        <p:nvPicPr>
          <p:cNvPr id="8" name="Image 0" descr="/Volumes/ExternalSSD/geoagent/microduck-lab/docs/classroom-ppt/assets/basketball/diagnostics.png"/>
          <p:cNvPicPr>
            <a:picLocks noChangeAspect="1"/>
          </p:cNvPicPr>
          <p:nvPr/>
        </p:nvPicPr>
        <p:blipFill>
          <a:blip r:embed="rId3"/>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marL="0" indent="0">
              <a:buNone/>
            </a:pPr>
            <a:r>
              <a:rPr lang="en-US" sz="1200" dirty="0">
                <a:solidFill>
                  <a:srgbClr val="566C79"/>
                </a:solidFill>
                <a:latin typeface="Aptos" pitchFamily="34" charset="0"/>
                <a:ea typeface="Aptos" pitchFamily="34" charset="-122"/>
                <a:cs typeface="Aptos" pitchFamily="34" charset="-120"/>
              </a:rPr>
              <a:t>Archived source adaptation; exact imported checkpoint hash match. No historical reward curve was retained.</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Metric matrix: numerical audit of this trace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approx_kl: first 0.08338 → final 0.01402; min 0.003539, max 0.08338; 100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entropy: first -29.23 → final -29.14; min -29.23, max -29.14; 100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kl_early_stop: first 1.000 → final 0.000; min 0.000, max 1.000; 100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loss: first 1.660 → final 1.619; min 1.310, max 1.753; 100 logged samples.</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Metric matrix: numerical audit of this trace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28</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policy_loss: first -7.637e-8 → final -0.01592; min -0.02564, max 0.003599; 100 logged samples.</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value_loss: first 1.368 → final 1.343; min 1.037, max 1.461; 100 logged samples.</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Verification: define success before looking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Verify source checkpoint and ONNX SHA256 before training; refuse arbitrary unverified source files.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Check that observation slots 51:61 remain zero and the actor receives no explicit ball state.</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Confirm recurrent hidden/cell state carries through normal steps and resets exactly at episode boundaries.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Require recurrent PyTorch/ONNX parity over 40 steps with a state reset at step 20.</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Verification: define success before looking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Evaluate every trial for the full 3,000-step first-fall horizon with hold zero and no automatic resets.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Classify sustained_balance separately from controlled_rolling and learned_success.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Require no robot-floor contact, no non-foot ball support, adequate foot-ball contact, bounded tilt and offset, and zero assistance for balance credit.</a:t>
            </a:r>
            <a:endParaRPr lang="en-US" sz="18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For forward rolling, additionally require at least 3.15 m signed command progress, linear tracking MAE at most 0.09 m/s, yaw tracking MAE at most 0.5 rad/s, and sufficient physical ball rotation.</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Verification: define success before looking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31</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Inspect the original MP4 rather than relying only on sparse contact-sheet frames or rotating texture.</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SAVED RESULTS — NOT A NEW TRAINING RUN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Results: what was actually measured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All 6 direct 60-second trials survived: seeds 101, 202, and 303 under zero command and 0.15 m/s forward command. | source: docs/basketball-showcase/evidence/evaluation.json</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All 6 trials met sustained-balance criteria, but 0 of 3 commanded-forward trials met controlled-rolling criteria; the aggregate report passed=false. | source: docs/basketball-showcase/evidence/evaluation.json</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Minimum foot-ball contact fraction was 0.9993333333333333, or 99.93333333333332 percent, and maximum tilt was 4.733669151434107 deg. | source: docs/basketball-showcase/evidence/evaluation.json</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The three forward-command signed progress values were 1.299956021320378 m, 0.3004973917973738 m, and 0.35659880459696325 m, each below the 3.15 m gate. | source: docs/basketball-showcase/evidence/evaluation.json</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SAVED RESULTS — NOT A NEW TRAINING RUN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Results: what was actually measured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Mean forward tracking MAE across the three 0.15 m/s trials was 0.13764476597849953 m/s, above the 0.09 m/s gate. | source: docs/basketball-showcase/evidence/evaluation.json</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The fixed-command run added 102,400 transitions, changed actor parameters by L2 distance 0.042958568781614304, and exported with maximum recurrent parity error 1.430511474609375e-06. | source: rlx/artifacts/basketball-local-20260910/summary.json</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500" dirty="0">
                <a:solidFill>
                  <a:srgbClr val="142D3B"/>
                </a:solidFill>
                <a:latin typeface="Aptos" pitchFamily="34" charset="0"/>
                <a:ea typeface="Aptos" pitchFamily="34" charset="-122"/>
                <a:cs typeface="Aptos" pitchFamily="34" charset="-120"/>
              </a:rPr>
              <a:t>fact: The final update recorded loss 1.6185429096221924, policy_loss -0.015916798263788223, value_loss 1.343021035194397, entropy -29.143863677978516, approximate_kl 0.014023307710886002, and epochs_completed 5. | source: rlx/artifacts/basketball-local-20260910/summary.json</a:t>
            </a:r>
            <a:endParaRPr lang="en-US" sz="15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The retained Studio adapter separately evaluates seeds 101-103 and still reports 6 of 6 sustained balance with 0 of 3 commanded rolling passes. | source: rlx/runs/studio/basketball/basketball-balance-01/evaluation.json</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EMBEDDED OFFLINE VIDEO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Watch the actual saved rollout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34</a:t>
            </a:r>
            <a:endParaRPr lang="en-US" sz="1200" dirty="0"/>
          </a:p>
        </p:txBody>
      </p:sp>
      <p:pic>
        <p:nvPicPr>
          <p:cNvPr id="8"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marL="0" indent="0">
              <a:buNone/>
            </a:pPr>
            <a:r>
              <a:rPr lang="en-US" sz="1300" b="1" dirty="0">
                <a:solidFill>
                  <a:srgbClr val="087E8B"/>
                </a:solidFill>
                <a:latin typeface="Aptos" pitchFamily="34" charset="0"/>
                <a:ea typeface="Aptos" pitchFamily="34" charset="-122"/>
                <a:cs typeface="Aptos" pitchFamily="34" charset="-120"/>
              </a:rPr>
              <a:t>BEFORE PLAY</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marL="0" indent="0">
              <a:buNone/>
            </a:pPr>
            <a:r>
              <a:rPr lang="en-US" sz="2300" b="1" dirty="0">
                <a:solidFill>
                  <a:srgbClr val="142D3B"/>
                </a:solidFill>
                <a:latin typeface="Aptos" pitchFamily="34" charset="0"/>
                <a:ea typeface="Aptos" pitchFamily="34" charset="-122"/>
                <a:cs typeface="Aptos" pitchFamily="34" charset="-120"/>
              </a:rPr>
              <a:t>Predict one success signal and one failure signal.</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marL="0" indent="0">
              <a:buNone/>
            </a:pPr>
            <a:r>
              <a:rPr lang="en-US" sz="1300" b="1" dirty="0">
                <a:solidFill>
                  <a:srgbClr val="D96C35"/>
                </a:solidFill>
                <a:latin typeface="Aptos" pitchFamily="34" charset="0"/>
                <a:ea typeface="Aptos" pitchFamily="34" charset="-122"/>
                <a:cs typeface="Aptos" pitchFamily="34" charset="-120"/>
              </a:rPr>
              <a:t>AFTER PLAY</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Which claims does this clip support? What remains untested?</a:t>
            </a:r>
            <a:endParaRPr lang="en-US" sz="2100" dirty="0"/>
          </a:p>
        </p:txBody>
      </p:sp>
      <p:sp>
        <p:nvSpPr>
          <p:cNvPr id="13" name="Text 10"/>
          <p:cNvSpPr/>
          <p:nvPr/>
        </p:nvSpPr>
        <p:spPr>
          <a:xfrm>
            <a:off x="731520" y="6044184"/>
            <a:ext cx="10789920" cy="201168"/>
          </a:xfrm>
          <a:prstGeom prst="rect">
            <a:avLst/>
          </a:prstGeom>
          <a:noFill/>
          <a:ln/>
        </p:spPr>
        <p:txBody>
          <a:bodyPr wrap="square" lIns="0" tIns="0" rIns="0" bIns="0" rtlCol="0" anchor="ctr"/>
          <a:lstStyle/>
          <a:p>
            <a:pPr marL="0" indent="0">
              <a:buNone/>
            </a:pPr>
            <a:r>
              <a:rPr lang="en-US" sz="1100" dirty="0">
                <a:solidFill>
                  <a:srgbClr val="566C79"/>
                </a:solidFill>
                <a:latin typeface="Aptos" pitchFamily="34" charset="0"/>
                <a:ea typeface="Aptos" pitchFamily="34" charset="-122"/>
                <a:cs typeface="Aptos" pitchFamily="34" charset="-120"/>
              </a:rPr>
              <a:t>60.0 s saved MP4  •  Click in PowerPoint Slide Show  •  Backup: videos/basketball-rollout.mp4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Limits and failure analysis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demonstrated result is balance, not stationary world-position hold, commanded rolling, or steering.</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Lateral and yaw steering are not evaluated by the current Studio adapter, so full-skill success fails closed.</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robot starts on the ball; mounting, recovery from the floor, and transfer between surfaces are outside this task.</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actor is a warm-started mature b11 policy, not a policy trained from scratch by the local 102,400-step run.</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Limits and failure analysis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local critic and optimizer are fresh, so this is not exact continuation of the upstream GPU training state.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Loss charts are archived SOURCE-ADAPTATION diagnostics, not a new Studio training run. The imported checkpoint hash matches; the ONNX file was re-exported. Historical training reward remains unavailable.</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The six nominal local trials omit sensor noise, mass/friction randomization, and pushes; they do not reproduce the upstream stress battery.</a:t>
            </a:r>
            <a:endParaRPr lang="en-US" sz="20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Historical direct evaluation hashes predate the current source snapshot; the report is retained evidence, not a fresh byte-identical rerun.</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Limits and failure analysis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37</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No hardware balance or safety claim is made.</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PROPOSED PRACTICE — NOT MEASURED RESULTS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Student lab: change one variable, keep the gates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Trace h_in/c_in to h_out/c_out for five steps, insert an episode reset, and mark where both recurrent tensors must become zero.</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Calculate the 102,400 transition count from environments, rollout steps, and updates.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Compute each weighted reward contribution for a supplied one-step state, including the final 0.02 control-time scale.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Compare sustained_balance and controlled_rolling criteria and identify the extra measurements needed for steering credit.</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PROPOSED PRACTICE — NOT MEASURED RESULTS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Student lab: change one variable, keep the gates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Plot the three forward progress values against the 3.15 m threshold and explain why visible ball motion is insufficient.</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Inspect the zero-command and forward-command videos and annotate support changes, drift, and camera-relative motion.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Read the final PPO loss record and explain why its finite values do not resolve the missing historical reward curve.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950" dirty="0">
                <a:solidFill>
                  <a:srgbClr val="142D3B"/>
                </a:solidFill>
                <a:latin typeface="Aptos" pitchFamily="34" charset="0"/>
                <a:ea typeface="Aptos" pitchFamily="34" charset="-122"/>
                <a:cs typeface="Aptos" pitchFamily="34" charset="-120"/>
              </a:rPr>
              <a:t>Propose a rolling-state initialization curriculum that changes exploration physics or spawns while leaving evaluation and reward weights fixed.</a:t>
            </a:r>
            <a:endParaRPr lang="en-US" sz="1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PROPOSED PRACTICE — NOT MEASURED RESULTS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Student lab: change one variable, keep the gates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40</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Write separate evidence statements for source b11 performance, local fixed-command adaptation, and Studio playback.</a:t>
            </a:r>
            <a:endParaRPr lang="en-US" sz="2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Submit an experiment, not just a video</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41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Before training: write one hypothesis, the changed parameter, the fixed baseline, seed list, acceptance criteria and time/transition budget.</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750" dirty="0">
                <a:solidFill>
                  <a:srgbClr val="142D3B"/>
                </a:solidFill>
                <a:latin typeface="Aptos" pitchFamily="34" charset="0"/>
                <a:ea typeface="Aptos" pitchFamily="34" charset="-122"/>
                <a:cs typeface="Aptos" pitchFamily="34" charset="-120"/>
              </a:rPr>
              <a:t>During training: save the exact command, environment versions, initialization, checkpoint and raw reward/loss/KL metrics. Never overwrite the saved reference run.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700" dirty="0">
                <a:solidFill>
                  <a:srgbClr val="142D3B"/>
                </a:solidFill>
                <a:latin typeface="Aptos" pitchFamily="34" charset="0"/>
                <a:ea typeface="Aptos" pitchFamily="34" charset="-122"/>
                <a:cs typeface="Aptos" pitchFamily="34" charset="-120"/>
              </a:rPr>
              <a:t>After training: evaluate the frozen exported policy on matched seeds; include all failures, aggregate metrics, the full rollout video and a source-bound result table.</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700" dirty="0">
                <a:solidFill>
                  <a:srgbClr val="142D3B"/>
                </a:solidFill>
                <a:latin typeface="Aptos" pitchFamily="34" charset="0"/>
                <a:ea typeface="Aptos" pitchFamily="34" charset="-122"/>
                <a:cs typeface="Aptos" pitchFamily="34" charset="-120"/>
              </a:rPr>
              <a:t>Rubric / 10: reproducibility 2; environment and reward explanation 2; PPO and metrics interpretation 2; honest verification 2; one evidence-based next experiment 2.</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REPOSITORY-RELATIVE PATHS / FULL SOURCES IN NOTES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Source map and further study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42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microduck_local/AGENTS.md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docs/student-book/microduck-lab-student-book.md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docs/basketball-bridge-book/chapters/en/03-ppo.md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docs/basketball-bridge-book/chapters/en/04-basketball.md</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REPOSITORY-RELATIVE PATHS / FULL SOURCES IN NOTES  /  BASKETBALL: BLIND RECURRENT BALANCE, NOT STEERING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Source map and further study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43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docs/microduck-training-student-book/chapters/02a-ppo-code-lab.md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docs/microduck-training-student-book/chapters/02b-gae-workshop.md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scripts/scenarios/README.md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22910</Words>
  <Application>Microsoft Macintosh PowerPoint</Application>
  <PresentationFormat>Widescreen</PresentationFormat>
  <Paragraphs>535</Paragraphs>
  <Slides>43</Slides>
  <Notes>43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Aptos</vt:lpstr>
      <vt:lpstr>Arial</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Community education — not affiliated with Pollen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Microduck PPO Lab 6: Basketball: Blind Recurrent Balance, Not Steering</dc:title>
  <dc:subject>Source-grounded PPO robot training: setup, environment, rewards, verification and evidence</dc:subject>
  <dc:creator>Microduck Lab classroom materials</dc:creator>
  <cp:lastModifiedBy>George Hu</cp:lastModifiedBy>
  <cp:revision>2</cp:revision>
  <dcterms:created xsi:type="dcterms:W3CDTF">2026-09-11T20:37:21Z</dcterms:created>
  <dcterms:modified xsi:type="dcterms:W3CDTF">2026-09-11T20:39:32Z</dcterms:modified>
</cp:coreProperties>
</file>