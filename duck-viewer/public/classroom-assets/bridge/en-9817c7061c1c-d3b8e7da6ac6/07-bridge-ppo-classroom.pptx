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745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Suspended Bridge: A Failed Crossing Worth Studying
Use case: Teach moving-support simulation, privileged command generation, physics-only curricula, warm-start PPO, strict contact-based evaluation, and scientific reporting of an unsuccessful policy. The environment and pipeline work, but the retained pilot did not complete an accepted crossing.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moving-support simulation, privileged command generation, physics-only curricula, warm-start PPO, strict contact-based evaluation, and scientific reporting of an unsuccessful policy. The environment and pipeline work, but the retained pilot did not complete an accepted crossing.
By the end: describe the scene, map observations to actions, explain the reward, trace one PPO update, run a bounded experiment, and defend an evaluation claim.
The bridge crossing failed. Partial progress and a valid scene do not establish the requested skill.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1/3
Microduck MuJoCo model with XML position servos and the standard alpha_walking.onnx bootstrap
One free plank, 1.10 x 0.13 x 0.03 m, mass 0.45 kg
Two fixed platforms, each 0.60 x 0.48 x 0.24 m
Four spatial tendon cables with stiffness 320, damping 2.0, width 0.0015 m, and fixed anchors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2/3
Visible non-colliding gantry posts and crossbars plus a separate ground plane for failure detection
rlx/rlx/environments/bridge.py for geometry, commander, assistance, contacts, metrics, and curriculum
rlx/rlx/environments/bridge_evaluation.py for the full-horizon contact-validated crossing gate
rlx/rlx/models/bridge_bootstrap.py for exact walking actor and normalizer transfer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3/3
rlx/examples/ppo_microduck_studio.py and scripts/train-bridge.sh for training, evaluation, rendering, and export
rlx/runs/studio/bridge/bridge-studio-02/ for the retained 32,768-transition pilot and failed diagnostic video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1/3
The plank is a MuJoCo free body centered initially at (0,0,0.225) m. Four physical tendons connect plank attachment sites to anchors at x +/-0.45 m, y +/-0.17 m, z 0.77 m.
The nominal plank spans x=-0.55 to 0.55 m. Start and end platforms are centered at x=-0.85 m and x=0.85 m, with all top surfaces at z=0.24 m.
The visible gantry uses contype=0 and conaffinity=0. It cannot support or rescue the robot; only tendons, platforms, plank, and ground participate in contact dynamics.
Physics runs at 0.005 s with four substeps per 14-action command, giving a 0.02 s control interval and 50 Hz.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2/3
Observation/action contract remains float32[61] to 14 joint-target offsets. Observation slices are angular velocity 0:3, projected gravity 3:6, joint offsets 6:20, lagged joint velocity 20:34, previous action 34:48, twist command 48:51, zero head command 51:55, and zero body command 55:61.
The actor receives no plank position, velocity, roll, pitch, cable state, world position, bridge contacts, crossing flag, or assistance level.
The external navigation commander uses world trunk x/y and heading to publish the ordinary body-frame twist command. It commands nominal 0.25 m/s forward, lateral correction clip(-1.2*y, -0.12, 0.12), and yaw correction clip(-1.5*yaw_error, -0.6, 0.6).
At world x at least 0.80 m, the commander sets desired forward velocity to zero while retaining lateral and yaw correction.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3/3
Physics-only assistance levels are 1.0, 0.6, 0.3, 0.1, and 0.0. They scale restoring force, leveling torque, and damping on the plank, never on the robot.
Curriculum rungs also change declared reset spawn distance. Reward weights remain identical. Evaluation and rendering use assistance 0 on the final launch-platform spawn.
An accepted crossing requires at least 1.60 m progress from launch, prior foot contact with the suspended plank, both feet on the end platform, no feet or body on the ground, no non-foot support, no assistance, no fall, and the complete 1,000-step horizon.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MATERIALS: Deck + planks + cables
02 / CURRICULUM: Reset and support stages
03 / OBJECTIVE: Progress + safe contact
04 / TRAIN: Warm-start + bounded PPO
05 / VERIFY: Full crossing + stable exit
06 / EVIDENCE: Retain the failed attempt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1/3
Construct the free plank, platforms, four tendons, anchors, non-colliding gantry, and failure-detection floor from the recorded dimensions.
Verify that moving the plank without moving the robot does not change the 61-value actor observation.
Load alpha_walking.onnx, transfer its actor and normalizer exactly, check action parity, freeze observation normalization, and create a fresh critic and optimizer.
Enable bridge-curriculum only for training so early rollouts can sample stabilized planks and closer spawns.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2/3
Keep the inherited locomotion reward unchanged; do not add world-x progress or bridge-crossed jackpots.
Train 4 environments in complete 128-step batches until 32,768 new transitions are collected.
Export bridge.onnx with the frozen normalizer baked into the standard raw 61-input interface.
Evaluate 3 lanes for 1,000 steps each with seed 101, no assistance, no randomization, no observation noise, no action delay, and no random yaw.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3/3
Track each reset-produced attempt and trailing partial fragment separately; do not reinterpret 3,000 lane transitions as three completed successful episodes.
Apply the contact-validated crossing gate and retain failed episodes, floor contacts, missing plank contacts, progress, and support counts.
Render the complete 20-second diagnostic and mark its two resets so partial attempts are not presented as one continuous crossing.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1/3
name: track_lin_vel | weight: 2 | sign: reward | definition: exp tracking of body-frame linear velocity to twist_cmd, including vertical velocity error
name: track_ang_vel | weight: 2 | sign: reward | definition: exp tracking of commanded yaw rate plus roll/pitch angular velocity cost inside the tracking error
name: upright | weight: 2 | sign: reward | definition: exp(-sum(projected_gravity_xy squared) / 0.05)
name: pose | weight: 1 | sign: reward | definition: exp(-sum(leg joint offsets squared) / 0.5)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2/3
name: head_pose | weight: 2 | sign: reward | definition: mean per-head-joint exp(-(head_error / 0.5) squared)
name: feet_air_time | weight: 3 | sign: reward | definition: dense payout while a moving foot air-time is between 0.125 s and 0.300 s
name: action_rate_penalty | weight: lifetime schedule 0.1 at step 0, 0.2 at 12000, 0.4 at 18000, 0.6 at 24000, 0.8 at 30000, and 1.0 at 36000 | sign: penalty | definition: -weight * sum((last_action - previous_action) squared)
name: ang_vel_xy_penalty | weight: 0.05 | sign: penalty | definition: -0.05 * (gyro_x squared + gyro_y squared)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3/3
name: bridge_specific_reward | weight: 0 | sign: absent | definition: There is no reward for world x, bridge progress, plank angle, cable tension, destination contact, or bridge_crossed. The bridge checkpoint metadata records reward_weights as an empty override object.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config: transition_budget | value: 32,768 new PPO transitions, 4 environments x 128 steps x 64 updates
config: ppo_batch | value: 4 environments, 128 steps, 4 minibatches, 2 update epochs
config: optimizer | value: Adam learning rate 1e-5, maximum gradient norm 0.5, fresh optimizer and fresh seeded critic
config: discount_and_objective | value: gamma 0.99, GAE lambda 0.95, clip coefficient 0.1, clipped value loss enabled, value coefficient 1.0, normalized advantages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config: exploration | value: initial action standard deviation 0.03, entropy coefficient 0
config: normalization_and_transfer | value: exact alpha_walking actor and normalizer transfer; parity maximum absolute action error 1.0728836059570312e-06 over 32 samples; observation normalization frozen; reward normalization off
config: environment | value: XML actuator, dummy backend, bridge curriculum on for training, 20 s maximum episode, seed 7, domain randomization off, observation noise off, action delay off, random yaw off
config: telemetry_fields | value: phase; env_steps; steps; seconds; optimizer_steps; mean_loss; policy_loss; value_loss; entropy; approximate_kl; clip_fraction; explained_variance; mean_reward; mean_raw_return; returns; lengths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./scripts/train-bridge.sh train --bridge-curriculum --total-timesteps 32768 --num-envs 4 --num-steps 128 --num-minibatches 4 --backend dummy --no-domain-rand --no-obs-noise --no-action-delay --no-random-yaw --max-episode-s 20 --seed 7 --output-dir rlx/runs/studio/bridge/my-bridge
Run the documented bounded training pilot in a fresh output directory.
From .:
./scripts/train-bridge.sh eval --backend dummy --num-envs 3 --seed 101 --policy rlx/runs/studio/bridge/my-bridge/bridge.onnx --eval-steps 1000 --max-episode-s 20 --no-domain-rand --no-obs-noise --no-action-delay --no-random-yaw
Run the documented unassisted full-horizon crossing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duck-viewer:
npm run dev
Open the Studio to inspect the saved failed pilot, evaluation details, and diagnostic render.
From .:
bash restart-lab.sh --readiness-only
Check all scenario routes without claiming that Bridge passed its skill gate.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node scripts/verify-seven-cases.mjs
Verify that the custom bridge scene, four tendons, platforms, gantry, and seven-case UI integration are present.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rlx/runs/studio/bridge/bridge-studio-02/training-metrics.jsonl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rlx/runs/studio/bridge/bridge-studio-02/training-metrics.jsonl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rlx/runs/studio/bridge/bridge-studio-02/training-metrics.jsonl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0.5333 → final 0.01181; min 0.007837, max 0.6186; 64 logged samples.
clip_fraction: first 0.7217 → final 0.2979; min 0.2666, max 0.7949; 64 logged samples.
entropy: first -29.23 → final -29.22; min -29.23, max -29.22; 64 logged samples.
explained_variance: first 0.001202 → final 0.05922; min -0.06060, max 0.1143; 64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964.7 → final 992.4; min 840.4, max 1104; 64 logged samples.
mean_raw_return: first 517.6 → final 1676; min 318.2, max 8254; 110 logged samples.
mean_reward: first 7.171 → final 7.420; min 6.653, max 8.069; 64 logged samples.
policy_loss: first 0.05633 → final 0.001741; min -0.008248, max 0.2919; 64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964.7 → final 992.4; min 840.4, max 1104; 64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1/3
Confirm the standard 61-input/14-output actor contract and frozen normalizer parity before training.
Verify the gantry geoms are non-colliding and cannot create hidden support.
Verify the curriculum applies forces to the plank only and never changes reward weights.
Evaluate without --bridge-curriculum and require bridge_assistance=0 for every credited step.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2/3
Require the exact 1,000-step horizon per lane; truncated trailing fragments cannot pass.
Require at least 1.60 m progress and the contact-validated bridge_crossed flag with both feet on the destination.
Reject ground contact, non-foot support, missing suspended-plank contact, fall, or incomplete episodes.
Inspect recipe_metrics fields bridge_crossed, bridge_progress_m, bridge_assistance, bridge_contact_observed, feet_on_bridge, feet_on_end_platform, robot_floor_contact, and nonfoot_support.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3/3
Watch the full MP4 and count resets; do not combine progress across separate attempts.
Separate pipeline_passed=true from skill_status=failed.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fact: bridge-studio-02 trained for exactly 32,768 new PPO transitions. | source: rlx/runs/studio/bridge/bridge-studio-02/result.json
fact: The skill evaluation had pipeline_passed=true but passed=false and skill_status=failed. | source: rlx/runs/studio/bridge/bridge-studio-02/evaluation.json
fact: Across 11 observed attempts and trailing fragments, 0 accepted crossings and 0 completed 1,000-step episodes were recorded. | source: rlx/runs/studio/bridge/bridge-studio-02/evaluation.json
fact: Best bridge progress was 1.1749158752636413 m, below the 1.60 m threshold, and feet_on_end_platform had maximum 0. | source: rlx/runs/studio/bridge/bridge-studio-02/evaluation.json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fact: Evaluation assistance remained exactly zero; bridge_assistance min, mean, and max were all 0. | source: rlx/runs/studio/bridge/bridge-studio-02/evaluation.json
fact: The first PPO update at env_steps 512 recorded mean_loss 964.7162933349609, policy_loss 0.05632817558944225, value_loss 964.6599655151367, approximate_kl 0.5332980752573349, clip_fraction 0.7216796875, and explained_variance 0.0012020504251625264. | source: rlx/runs/studio/bridge/bridge-studio-02/training-metrics.jsonl
fact: The final PPO update at env_steps 32768 recorded mean_loss 992.3935241699219, policy_loss 0.0017409028951078653, value_loss 992.3917770385742, approximate_kl 0.011814007302746177, clip_fraction 0.2978515625, and explained_variance 0.05922189893301022. | source: rlx/runs/studio/bridge/bridge-studio-02/training-metrics.jsonl
fact: The retained 20-second diagnostic video contains two explicit resets and later partial plank progress; it is not one continuous crossing. | source: docs/bridge-showcase/RESULTS.md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fact: The render MP4 is hash-bound as SHA256 7386c84eb8065d2f4ac2b297ba5b082dc658648657e4190a9491872bab6e50a6. | source: rlx/runs/studio/bridge/bridge-studio-02/render/evidence.json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rlx/runs/studio/bridge/bridge-studio-02/render/ep0.mp4
Embedded video bytes are copied unchanged, not regenerated and not sped up. A single video is not a seed sweep. PowerPoint playback requires a user click; use the included MP4 in a local player if a presentation viewer cannot decode embedded media.
The bridge crossing failed. Partial progress and a valid scene do not establish the requested skill.
The navigation commander uses privileged world position and heading, so the complete protocol includes more than the learned actor.
The actor is blind to plank state and must adapt only through IMU, joints, previous action, and generated command slots.
The pilot is an actor warm-start from alpha_walking with a fresh critic and optimizer, not exact continuation of upstream training.
Curriculum completion was not established; 32,768 transitions do not imply graduation to the final unassisted rung.
The retained evaluation disabled randomization, noise, delay, and random yaw and used only three vector lanes.
Plank, friction, tendon, and cable values are plausible simulator parameters, not measurements or a certified construction plan.
No hardware-safe crossing or sim-to-real result is claimed.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The bridge crossing failed. Partial progress and a valid scene do not establish the requested skill.
The navigation commander uses privileged world position and heading, so the complete protocol includes more than the learned actor.
The actor is blind to plank state and must adapt only through IMU, joints, previous action, and generated command slots.
The pilot is an actor warm-start from alpha_walking with a fresh critic and optimizer, not exact continuation of upstream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Curriculum completion was not established; 32,768 transitions do not imply graduation to the final unassisted rung.
The retained evaluation disabled randomization, noise, delay, and random yaw and used only three vector lanes.
Plank, friction, tendon, and cable values are plausible simulator parameters, not measurements or a certified construction plan.
No hardware-safe crossing or sim-to-real result is claimed.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1/3
Draw the bridge side view to scale from the platform, plank, and anchor coordinates.
Compute the nominal cable length from the 0.113 m lateral and 0.545 m vertical offsets.
Mark every privileged commander input and every value actually delivered to the 61-observation actor.
Explain why bridge_progress_m is valid for evaluation but intentionally absent from the reward.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2/3
Calculate batch size, number of updates, and optimizer minibatch size for the 32,768-transition run.
Plot the first and final update loss fields and explain why neither proves a crossing.
Read the 11 evaluation attempts and classify each failure as fall, incomplete horizon, missing plank contact, floor contact, or insufficient progress.
Watch ep0.mp4, timestamp both resets, and identify the farthest continuous attempt.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3/3
Design one physics/spawn curriculum change that preserves the reward and final evaluation gate.
Write a result slide whose headline states failure clearly while preserving the useful environment and exploration evidence.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microduck_local/AGENTS.md
docs/student-book/microduck-lab-student-book.md
docs/basketball-bridge-book/chapters/en/03-ppo.md
docs/basketball-bridge-book/chapters/en/05-bridge.md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microduck_local/AGENTS.md
docs/student-book/microduck-lab-student-book.md
docs/basketball-bridge-book/chapters/en/03-ppo.md
docs/basketball-bridge-book/chapters/en/05-bridge.md
docs/basketball-bridge-book/chapters/en/06-evidence.md
docs/bridge-showcase/README.md
docs/bridge-showcase/RESULTS.md
docs/bridge-showcase/evidence/evaluation.json
rlx/rlx/environments/bridge.py
rlx/rlx/environments/bridge_evaluation.py
rlx/rlx/models/bridge_bootstrap.py
microduck_local/src/microduck_local/walk_env.py
rlx/examples/ppo_microduck_studio.py
rlx/rlx/algorithms/ppo.py
scripts/train-bridge.sh
rlx/runs/studio/bridge/bridge-studio-02/result.json
rlx/runs/studio/bridge/bridge-studio-02/bridge.safetensors.json
rlx/runs/studio/bridge/bridge-studio-02/training-metrics.jsonl
rlx/runs/studio/bridge/bridge-studio-02/evaluation.json
rlx/runs/studio/bridge/bridge-studio-02/render/evidence.json
PPO teaching references:
docs/microduck-training-student-book/chapters/02a-ppo-code-lab.md
docs/microduck-training-student-book/chapters/02b-gae-workshop.md
scripts/scenarios/README.md
README.md
Evidence edition: 2026-09-11. Complete raw recorded metrics are bundled under raw/bridge/. For exact copyable commands and detailed case evidence, use the companion instructor guide and evidence/cases.json.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EIGHT CASES / ONE LEARNING METHOD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LAB 07</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marL="0" indent="0">
              <a:buNone/>
            </a:pPr>
            <a:r>
              <a:rPr lang="en-US" sz="4300" b="1" dirty="0">
                <a:solidFill>
                  <a:srgbClr val="142D3B"/>
                </a:solidFill>
                <a:latin typeface="Aptos" pitchFamily="34" charset="0"/>
                <a:ea typeface="Aptos" pitchFamily="34" charset="-122"/>
                <a:cs typeface="Aptos" pitchFamily="34" charset="-120"/>
              </a:rPr>
              <a:t>Suspended bridge</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marL="0" indent="0">
              <a:buNone/>
            </a:pPr>
            <a:r>
              <a:rPr lang="en-US" sz="2300" dirty="0">
                <a:solidFill>
                  <a:srgbClr val="566C79"/>
                </a:solidFill>
                <a:latin typeface="Aptos" pitchFamily="34" charset="0"/>
                <a:ea typeface="Aptos" pitchFamily="34" charset="-122"/>
                <a:cs typeface="Aptos" pitchFamily="34" charset="-120"/>
              </a:rPr>
              <a:t>Suspended Bridge: A Failed Crossing Worth Studying</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marL="0" indent="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bridge/rollout-poster.png"/>
          <p:cNvPicPr>
            <a:picLocks noChangeAspect="1"/>
          </p:cNvPicPr>
          <p:nvPr/>
        </p:nvPicPr>
        <p:blipFill>
          <a:blip r:embed="rId3"/>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marL="0" indent="0">
              <a:buNone/>
            </a:pPr>
            <a:r>
              <a:rPr lang="en-US" sz="2000" b="1" kern="0" spc="10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Aptos" pitchFamily="34" charset="0"/>
                <a:ea typeface="Aptos" pitchFamily="34" charset="-122"/>
                <a:cs typeface="Aptos" pitchFamily="34" charset="-120"/>
              </a:rPr>
              <a:t>Use case: Teach moving-support simulation, privileged command generation, physics-only curricula, warm-start PPO, strict contact-based evaluation, and scientific reporting of an unsuccessful policy. The environment and pipeline work, but the retained pilot did not complete an accepted crossing.</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bridge crossing failed. Partial progress and a valid scene do not establish the requested skill.</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Microduck MuJoCo model with XML position servos and the standard alpha_walking.onnx bootstrap</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One free plank, 1.10 x 0.13 x 0.03 m, mass 0.45 kg</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Two fixed platforms, each 0.60 x 0.48 x 0.24 m</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Four spatial tendon cables with stiffness 320, damping 2.0, width 0.0015 m, and fixed anchors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Visible non-colliding gantry posts and crossbars plus a separate ground plane for failure detection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rlx/rlx/environments/bridge.py for geometry, commander, assistance, contacts, metrics, and curriculum</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rlx/rlx/environments/bridge_evaluation.py for the full-horizon contact-validated crossing gate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rlx/rlx/models/bridge_bootstrap.py for exact walking actor and normalizer transfer</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Materials and prerequisites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rlx/examples/ppo_microduck_studio.py and scripts/train-bridge.sh for training, evaluation, rendering, and export</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rlx/runs/studio/bridge/bridge-studio-02/ for the retained 32,768-transition pilot and failed diagnostic video</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The plank is a MuJoCo free body centered initially at (0,0,0.225) m. Four physical tendons connect plank attachment sites to anchors at x +/-0.45 m, y +/-0.17 m, z 0.77 m.</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The nominal plank spans x=-0.55 to 0.55 m. Start and end platforms are centered at x=-0.85 m and x=0.85 m, with all top surfaces at z=0.24 m.</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The visible gantry uses contype=0 and conaffinity=0. It cannot support or rescue the robot; only tendons, platforms, plank, and ground participate in contact dynamics.</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Physics runs at 0.005 s with four substeps per 14-action command, giving a 0.02 s control interval and 50 Hz.</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50" dirty="0">
                <a:solidFill>
                  <a:srgbClr val="142D3B"/>
                </a:solidFill>
                <a:latin typeface="Aptos" pitchFamily="34" charset="0"/>
                <a:ea typeface="Aptos" pitchFamily="34" charset="-122"/>
                <a:cs typeface="Aptos" pitchFamily="34" charset="-120"/>
              </a:rPr>
              <a:t>Observation/action contract remains float32[61] to 14 joint-target offsets. Observation slices are angular velocity 0:3, projected gravity 3:6, joint offsets 6:20, lagged joint velocity 20:34, previous action 34:48, twist command 48:51, zero head command 51:55, and zero body command 55:61.</a:t>
            </a:r>
            <a:endParaRPr lang="en-US" sz="14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The actor receives no plank position, velocity, roll, pitch, cable state, world position, bridge contacts, crossing flag, or assistance level.</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The external navigation commander uses world trunk x/y and heading to publish the ordinary body-frame twist command. It commands nominal 0.25 m/s forward, lateral correction clip(-1.2*y, -0.12, 0.12), and yaw correction clip(-1.5*yaw_error, -0.6, 0.6).</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At world x at least 0.80 m, the commander sets desired forward velocity to zero while retaining lateral and yaw correction.</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Environment and policy contract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Physics-only assistance levels are 1.0, 0.6, 0.3, 0.1, and 0.0. They scale restoring force, leveling torque, and damping on the plank, never on the robot.</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33162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Curriculum rungs also change declared reset spawn distance. Reward weights remain identical. Evaluation and rendering use assistance 0 on the final launch-platform spawn.</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7487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11</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marL="0" indent="0">
              <a:buNone/>
            </a:pPr>
            <a:r>
              <a:rPr lang="en-US" sz="1800" dirty="0">
                <a:solidFill>
                  <a:srgbClr val="142D3B"/>
                </a:solidFill>
                <a:latin typeface="Aptos" pitchFamily="34" charset="0"/>
                <a:ea typeface="Aptos" pitchFamily="34" charset="-122"/>
                <a:cs typeface="Aptos" pitchFamily="34" charset="-120"/>
              </a:rPr>
              <a:t>An accepted crossing requires at least 1.60 m progress from launch, prior foot contact with the suspended plank, both feet on the end platform, no feet or body on the ground, no non-foot support, no assistance, no fall, and the complete 1,000-step horizon.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77240"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01 / MATERIALS</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Deck + planks + cables</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4654296"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02 / CURRICULUM</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Reset and support stages</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8531352" y="19659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03 / OBJECTIVE</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Progress + safe contact</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8531352"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04 / TRAIN</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Warm-start + bounded PPO</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21" name="Text 19"/>
          <p:cNvSpPr/>
          <p:nvPr/>
        </p:nvSpPr>
        <p:spPr>
          <a:xfrm>
            <a:off x="4654296"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Full crossing + stable exit</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txBody>
          <a:bodyPr/>
          <a:lstStyle/>
          <a:p>
            <a:endParaRPr lang="en-US"/>
          </a:p>
        </p:txBody>
      </p:sp>
      <p:sp>
        <p:nvSpPr>
          <p:cNvPr id="24" name="Text 22"/>
          <p:cNvSpPr/>
          <p:nvPr/>
        </p:nvSpPr>
        <p:spPr>
          <a:xfrm>
            <a:off x="777240" y="4023360"/>
            <a:ext cx="2834640" cy="228600"/>
          </a:xfrm>
          <a:prstGeom prst="rect">
            <a:avLst/>
          </a:prstGeom>
          <a:noFill/>
          <a:ln/>
        </p:spPr>
        <p:txBody>
          <a:bodyPr wrap="square" lIns="0" tIns="0" rIns="0" bIns="0" rtlCol="0" anchor="ctr"/>
          <a:lstStyle/>
          <a:p>
            <a:pPr marL="0" indent="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marL="0" indent="0">
              <a:buNone/>
            </a:pPr>
            <a:r>
              <a:rPr lang="en-US" sz="2100" b="1" dirty="0">
                <a:solidFill>
                  <a:srgbClr val="142D3B"/>
                </a:solidFill>
                <a:latin typeface="Aptos" pitchFamily="34" charset="0"/>
                <a:ea typeface="Aptos" pitchFamily="34" charset="-122"/>
                <a:cs typeface="Aptos" pitchFamily="34" charset="-120"/>
              </a:rPr>
              <a:t>Retain the failed attempt</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txBody>
          <a:bodyPr/>
          <a:lstStyle/>
          <a:p>
            <a:endParaRPr lang="en-US"/>
          </a:p>
        </p:txBody>
      </p:sp>
      <p:sp>
        <p:nvSpPr>
          <p:cNvPr id="27" name="Shape 25"/>
          <p:cNvSpPr/>
          <p:nvPr/>
        </p:nvSpPr>
        <p:spPr>
          <a:xfrm>
            <a:off x="7708392" y="2441448"/>
            <a:ext cx="576072" cy="0"/>
          </a:xfrm>
          <a:prstGeom prst="line">
            <a:avLst/>
          </a:prstGeom>
          <a:noFill/>
          <a:ln w="31750">
            <a:solidFill>
              <a:srgbClr val="087E8B"/>
            </a:solidFill>
            <a:prstDash val="solid"/>
            <a:tailEnd type="triangle"/>
          </a:ln>
        </p:spPr>
        <p:txBody>
          <a:bodyPr/>
          <a:lstStyle/>
          <a:p>
            <a:endParaRPr lang="en-US"/>
          </a:p>
        </p:txBody>
      </p:sp>
      <p:sp>
        <p:nvSpPr>
          <p:cNvPr id="28" name="Shape 26"/>
          <p:cNvSpPr/>
          <p:nvPr/>
        </p:nvSpPr>
        <p:spPr>
          <a:xfrm>
            <a:off x="9939528" y="3145536"/>
            <a:ext cx="0" cy="621792"/>
          </a:xfrm>
          <a:prstGeom prst="line">
            <a:avLst/>
          </a:prstGeom>
          <a:noFill/>
          <a:ln w="31750">
            <a:solidFill>
              <a:srgbClr val="087E8B"/>
            </a:solidFill>
            <a:prstDash val="solid"/>
            <a:tailEnd type="triangle"/>
          </a:ln>
        </p:spPr>
        <p:txBody>
          <a:bodyPr/>
          <a:lstStyle/>
          <a:p>
            <a:endParaRPr lang="en-US"/>
          </a:p>
        </p:txBody>
      </p:sp>
      <p:sp>
        <p:nvSpPr>
          <p:cNvPr id="29" name="Shape 27"/>
          <p:cNvSpPr/>
          <p:nvPr/>
        </p:nvSpPr>
        <p:spPr>
          <a:xfrm>
            <a:off x="7717536" y="4480560"/>
            <a:ext cx="530352" cy="0"/>
          </a:xfrm>
          <a:prstGeom prst="line">
            <a:avLst/>
          </a:prstGeom>
          <a:noFill/>
          <a:ln w="31750">
            <a:solidFill>
              <a:srgbClr val="087E8B"/>
            </a:solidFill>
            <a:prstDash val="solid"/>
            <a:headEnd type="triangle"/>
          </a:ln>
        </p:spPr>
        <p:txBody>
          <a:bodyPr/>
          <a:lstStyle/>
          <a:p>
            <a:endParaRPr lang="en-US"/>
          </a:p>
        </p:txBody>
      </p:sp>
      <p:sp>
        <p:nvSpPr>
          <p:cNvPr id="30" name="Shape 28"/>
          <p:cNvSpPr/>
          <p:nvPr/>
        </p:nvSpPr>
        <p:spPr>
          <a:xfrm>
            <a:off x="3840480" y="4480560"/>
            <a:ext cx="530352" cy="0"/>
          </a:xfrm>
          <a:prstGeom prst="line">
            <a:avLst/>
          </a:prstGeom>
          <a:noFill/>
          <a:ln w="31750">
            <a:solidFill>
              <a:srgbClr val="087E8B"/>
            </a:solidFill>
            <a:prstDash val="solid"/>
            <a:headEnd type="triangle"/>
          </a:ln>
        </p:spPr>
        <p:txBody>
          <a:bodyPr/>
          <a:lstStyle/>
          <a:p>
            <a:endParaRPr lang="en-US"/>
          </a:p>
        </p:txBody>
      </p:sp>
      <p:sp>
        <p:nvSpPr>
          <p:cNvPr id="31" name="Text 29"/>
          <p:cNvSpPr/>
          <p:nvPr/>
        </p:nvSpPr>
        <p:spPr>
          <a:xfrm>
            <a:off x="731520" y="5641848"/>
            <a:ext cx="10789920" cy="347472"/>
          </a:xfrm>
          <a:prstGeom prst="rect">
            <a:avLst/>
          </a:prstGeom>
          <a:noFill/>
          <a:ln/>
        </p:spPr>
        <p:txBody>
          <a:bodyPr wrap="square" lIns="0" tIns="0" rIns="0" bIns="0" rtlCol="0" anchor="ctr"/>
          <a:lstStyle/>
          <a:p>
            <a:pPr marL="0" indent="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Construct the free plank, platforms, four tendons, anchors, non-colliding gantry, and failure-detection floor from the recorded dimensions.</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Verify that moving the plank without moving the robot does not change the 61-value actor observation.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Load alpha_walking.onnx, transfer its actor and normalizer exactly, check action parity, freeze observation normalization, and create a fresh critic and optimizer.</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Enable bridge-curriculum only for training so early rollouts can sample stabilized planks and closer spawns.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Keep the inherited locomotion reward unchanged; do not add world-x progress or bridge-crossed jackpots.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Train 4 environments in complete 128-step batches until 32,768 new transitions are collected.</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Export bridge.onnx with the frozen normalizer baked into the standard raw 61-input interface.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950" dirty="0">
                <a:solidFill>
                  <a:srgbClr val="142D3B"/>
                </a:solidFill>
                <a:latin typeface="Aptos" pitchFamily="34" charset="0"/>
                <a:ea typeface="Aptos" pitchFamily="34" charset="-122"/>
                <a:cs typeface="Aptos" pitchFamily="34" charset="-120"/>
              </a:rPr>
              <a:t>Evaluate 3 lanes for 1,000 steps each with seed 101, no assistance, no randomization, no observation noise, no action delay, and no random yaw.</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Build the case step by step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Track each reset-produced attempt and trailing partial fragment separately; do not reinterpret 3,000 lane transitions as three completed successful episodes.</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33162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Apply the contact-validated crossing gate and retain failed episodes, floor contacts, missing plank contacts, progress, and support counts.</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7487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11</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Render the complete 20-second diagnostic and mark its two resets so partial attempts are not presented as one continuous crossing.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txBody>
          <a:bodyPr/>
          <a:lstStyle/>
          <a:p>
            <a:endParaRPr lang="en-US"/>
          </a:p>
        </p:txBody>
      </p:sp>
      <p:sp>
        <p:nvSpPr>
          <p:cNvPr id="9" name="Text 7"/>
          <p:cNvSpPr/>
          <p:nvPr/>
        </p:nvSpPr>
        <p:spPr>
          <a:xfrm>
            <a:off x="914400" y="1975104"/>
            <a:ext cx="10241280" cy="502920"/>
          </a:xfrm>
          <a:prstGeom prst="rect">
            <a:avLst/>
          </a:prstGeom>
          <a:noFill/>
          <a:ln/>
        </p:spPr>
        <p:txBody>
          <a:bodyPr wrap="square" lIns="0" tIns="0" rIns="0" bIns="0" rtlCol="0" anchor="ctr"/>
          <a:lstStyle/>
          <a:p>
            <a:pPr marL="0" indent="0">
              <a:buNone/>
            </a:pPr>
            <a:r>
              <a:rPr lang="en-US" sz="2900" b="1" dirty="0">
                <a:solidFill>
                  <a:srgbClr val="FFFFFF"/>
                </a:solidFill>
                <a:latin typeface="Aptos" pitchFamily="34" charset="0"/>
                <a:ea typeface="Aptos" pitchFamily="34" charset="-122"/>
                <a:cs typeface="Aptos" pitchFamily="34" charset="-120"/>
              </a:rPr>
              <a:t>ratio = </a:t>
            </a:r>
            <a:r>
              <a:rPr lang="en-US" sz="4000" b="1" dirty="0">
                <a:solidFill>
                  <a:srgbClr val="FFFFFF"/>
                </a:solidFill>
                <a:latin typeface="Aptos" pitchFamily="34" charset="0"/>
                <a:ea typeface="Aptos" pitchFamily="34" charset="-122"/>
                <a:cs typeface="Aptos" pitchFamily="34" charset="-120"/>
              </a:rPr>
              <a:t>π</a:t>
            </a:r>
            <a:r>
              <a:rPr lang="en-US" sz="2900" b="1" dirty="0">
                <a:solidFill>
                  <a:srgbClr val="FFFFFF"/>
                </a:solidFill>
                <a:latin typeface="Aptos" pitchFamily="34" charset="0"/>
                <a:ea typeface="Aptos" pitchFamily="34" charset="-122"/>
                <a:cs typeface="Aptos" pitchFamily="34" charset="-120"/>
              </a:rPr>
              <a:t>new(a | o) / </a:t>
            </a:r>
            <a:r>
              <a:rPr lang="en-US" sz="4000" b="1" dirty="0">
                <a:solidFill>
                  <a:srgbClr val="FFFFFF"/>
                </a:solidFill>
                <a:latin typeface="Aptos" pitchFamily="34" charset="0"/>
                <a:ea typeface="Aptos" pitchFamily="34" charset="-122"/>
                <a:cs typeface="Aptos" pitchFamily="34" charset="-120"/>
              </a:rPr>
              <a:t>π</a:t>
            </a:r>
            <a:r>
              <a:rPr lang="en-US" sz="2900" b="1" dirty="0">
                <a:solidFill>
                  <a:srgbClr val="FFFFFF"/>
                </a:solidFill>
                <a:latin typeface="Aptos" pitchFamily="34" charset="0"/>
                <a:ea typeface="Aptos" pitchFamily="34" charset="-122"/>
                <a:cs typeface="Aptos" pitchFamily="34" charset="-120"/>
              </a:rPr>
              <a:t>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marL="0" indent="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marL="0" indent="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marL="0" indent="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name: track_lin_vel | weight: 2 | sign: reward | definition: exp tracking of body-frame linear velocity to twist_cmd, including vertical velocity error</a:t>
            </a:r>
            <a:endParaRPr lang="en-US" sz="18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name: track_ang_vel | weight: 2 | sign: reward | definition: exp tracking of commanded yaw rate plus roll/pitch angular velocity cost inside the tracking error</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upright | weight: 2 | sign: reward | definition: exp(-sum(projected_gravity_xy squared) / 0.05)</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pose | weight: 1 | sign: reward | definition: exp(-sum(leg joint offsets squared) / 0.5)</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head_pose | weight: 2 | sign: reward | definition: mean per-head-joint exp(-(head_error / 0.5) squared)</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feet_air_time | weight: 3 | sign: reward | definition: dense payout while a moving foot air-time is between 0.125 s and 0.300 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name: action_rate_penalty | weight: lifetime schedule 0.1 at step 0, 0.2 at 12000, 0.4 at 18000, 0.6 at 24000, 0.8 at 30000, and 1.0 at 36000 | sign: penalty | definition: -weight * sum((last_action - previous_action) squared)</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ang_vel_xy_penalty | weight: 0.05 | sign: penalty | definition: -0.05 * (gyro_x squared + gyro_y squared)</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design: what the agent is paid to do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name: bridge_specific_reward | weight: 0 | sign: absent | definition: There is no reward for world x, bridge progress, plank angle, cable tension, destination contact, or bridge_crossed. The bridge checkpoint metadata records reward_weights as an empty override object.</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config: transition_budget | value: 32,768 new PPO transitions, 4 environments x 128 steps x 64 updates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config: ppo_batch | value: 4 environments, 128 steps, 4 minibatches, 2 update epochs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config: optimizer | value: Adam learning rate 1e-5, maximum gradient norm 0.5, fresh optimizer and fresh seeded critic</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config: discount_and_objective | value: gamma 0.99, GAE lambda 0.95, clip coefficient 0.1, clipped value loss enabled, value coefficient 1.0, normalized advantages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config: exploration | value: initial action standard deviation 0.03, entropy coefficient 0</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config: normalization_and_transfer | value: exact alpha_walking actor and normalizer transfer; parity maximum absolute action error 1.0728836059570312e-06 over 32 samples; observation normalization frozen; reward normalization off</a:t>
            </a:r>
            <a:endParaRPr lang="en-US" sz="16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config: environment | value: XML actuator, dummy backend, bridge curriculum on for training, 20 s maximum episode, seed 7, domain randomization off, observation noise off, action delay off, random yaw off</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config: telemetry_fields | value: phase; env_steps; steps; seconds; optimizer_steps; mean_loss; policy_loss; value_loss; entropy; approximate_kl; clip_fraction; explained_variance; mean_reward; mean_raw_return; returns; lengths</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./scripts/train-bridge.sh train --bridge-curriculum --total-timesteps 32768 --num-envs 4 --num-steps 128 --num-minibatches 4 --backend dummy --no-domain-rand --no-obs-noise --no-action-delay --no-random-yaw --max-episode-s 20 --seed 7 --output-dir rlx/runs/studio/bridge/my-bridge</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Run the documented bounded training pilot in a fresh output directory.</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./scripts/train-bridge.sh eval --backend dummy --num-envs 3 --seed 101 --policy rlx/runs/studio/bridge/my-bridge/bridge.onnx --eval-steps 1000 --max-episode-s 20 --no-domain-rand --no-obs-noise --no-action-delay --no-random-yaw</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Run the documented unassisted full-horizon crossing evaluation.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duck-viewer:</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npm run dev</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Open the Studio to inspect the saved failed pilot, evaluation details, and diagnostic render.</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bash restart-lab.sh --readiness-only</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Check all scenario routes without claiming that Bridge passed its skill gate.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COPYABLE COMMANDS ALSO IN INSTRUCTOR GUIDE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node scripts/verify-seven-cases.mjs</a:t>
            </a:r>
            <a:endParaRPr lang="en-US" sz="1400" dirty="0"/>
          </a:p>
          <a:p>
            <a:pPr marL="0" indent="0">
              <a:buNone/>
            </a:pPr>
            <a:r>
              <a:rPr lang="en-US" sz="1400" dirty="0">
                <a:solidFill>
                  <a:srgbClr val="142D3B"/>
                </a:solidFill>
                <a:latin typeface="Menlo" pitchFamily="34" charset="0"/>
                <a:ea typeface="Menlo" pitchFamily="34" charset="-122"/>
                <a:cs typeface="Menlo" pitchFamily="34" charset="-120"/>
              </a:rPr>
              <a:t>Verify that the custom bridge scene, four tendons, platforms, gantry, and seven-case UI integration are present.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MEASURED TRAINING LOGS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pic>
        <p:nvPicPr>
          <p:cNvPr id="8" name="Image 0" descr="/Volumes/ExternalSSD/geoagent/microduck-lab/docs/classroom-ppt/assets/bridge/reward.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MEASURED TRAINING LOGS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pic>
        <p:nvPicPr>
          <p:cNvPr id="8" name="Image 0" descr="/Volumes/ExternalSSD/geoagent/microduck-lab/docs/classroom-ppt/assets/bridge/loss.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MEASURED TRAINING LOGS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pic>
        <p:nvPicPr>
          <p:cNvPr id="8" name="Image 0" descr="/Volumes/ExternalSSD/geoagent/microduck-lab/docs/classroom-ppt/assets/bridge/diagnostics.png"/>
          <p:cNvPicPr>
            <a:picLocks noChangeAspect="1"/>
          </p:cNvPicPr>
          <p:nvPr/>
        </p:nvPicPr>
        <p:blipFill>
          <a:blip r:embed="rId3"/>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marL="0" indent="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approximate_kl: first 0.5333 → final 0.01181; min 0.007837, max 0.6186; 64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clip_fraction: first 0.7217 → final 0.2979; min 0.2666, max 0.7949; 64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entropy: first -29.23 → final -29.22; min -29.23, max -29.22; 64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explained_variance: first 0.001202 → final 0.05922; min -0.06060, max 0.1143; 64 logged samples.</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mean_loss: first 964.7 → final 992.4; min 840.4, max 1104; 64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mean_raw_return: first 517.6 → final 1676; min 318.2, max 8254; 110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mean_reward: first 7.171 → final 7.420; min 6.653, max 8.069; 64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policy_loss: first 0.05633 → final 0.001741; min -0.008248, max 0.2919; 64 logged samples.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value_loss: first 964.7 → final 992.4; min 840.4, max 1104; 64 logged samples.</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Confirm the standard 61-input/14-output actor contract and frozen normalizer parity before training.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Verify the gantry geoms are non-colliding and cannot create hidden support.</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Verify the curriculum applies forces to the plank only and never changes reward weights.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Evaluate without --bridge-curriculum and require bridge_assistance=0 for every credited step.</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Require the exact 1,000-step horizon per lane; truncated trailing fragments cannot pass.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Require at least 1.60 m progress and the contact-validated bridge_crossed flag with both feet on the destination.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Reject ground contact, non-foot support, missing suspended-plank contact, fall, or incomplete episodes.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Inspect recipe_metrics fields bridge_crossed, bridge_progress_m, bridge_assistance, bridge_contact_observed, feet_on_bridge, feet_on_end_platform, robot_floor_contact, and nonfoot_support.</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Verification: define success before looking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Watch the full MP4 and count resets; do not combine progress across separate attempts.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Separate pipeline_passed=true from skill_status=failed.</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SAVED RESULTS — NOT A NEW TRAINING RUN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fact: bridge-studio-02 trained for exactly 32,768 new PPO transitions. | source: rlx/runs/studio/bridge/bridge-studio-02/result.json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fact: The skill evaluation had pipeline_passed=true but passed=false and skill_status=failed. | source: rlx/runs/studio/bridge/bridge-studio-02/evaluation.json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Across 11 observed attempts and trailing fragments, 0 accepted crossings and 0 completed 1,000-step episodes were recorded. | source: rlx/runs/studio/bridge/bridge-studio-02/evaluation.json</a:t>
            </a:r>
            <a:endParaRPr lang="en-US" sz="16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Best bridge progress was 1.1749158752636413 m, below the 1.60 m threshold, and feet_on_end_platform had maximum 0. | source: rlx/runs/studio/bridge/bridge-studio-02/evaluation.json</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SAVED RESULTS — NOT A NEW TRAINING RUN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fact: Evaluation assistance remained exactly zero; bridge_assistance min, mean, and max were all 0. | source: rlx/runs/studio/bridge/bridge-studio-02/evaluation.json</a:t>
            </a:r>
            <a:endParaRPr lang="en-US" sz="17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300" dirty="0">
                <a:solidFill>
                  <a:srgbClr val="142D3B"/>
                </a:solidFill>
                <a:latin typeface="Aptos" pitchFamily="34" charset="0"/>
                <a:ea typeface="Aptos" pitchFamily="34" charset="-122"/>
                <a:cs typeface="Aptos" pitchFamily="34" charset="-120"/>
              </a:rPr>
              <a:t>fact: The first PPO update at env_steps 512 recorded mean_loss 964.7162933349609, policy_loss 0.05632817558944225, value_loss 964.6599655151367, approximate_kl 0.5332980752573349, clip_fraction 0.7216796875, and explained_variance 0.0012020504251625264. | source: rlx/runs/studio/bridge/bridge-studio-02/training-metrics.jsonl</a:t>
            </a:r>
            <a:endParaRPr lang="en-US" sz="13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250" dirty="0">
                <a:solidFill>
                  <a:srgbClr val="142D3B"/>
                </a:solidFill>
                <a:latin typeface="Aptos" pitchFamily="34" charset="0"/>
                <a:ea typeface="Aptos" pitchFamily="34" charset="-122"/>
                <a:cs typeface="Aptos" pitchFamily="34" charset="-120"/>
              </a:rPr>
              <a:t>fact: The final PPO update at env_steps 32768 recorded mean_loss 992.3935241699219, policy_loss 0.0017409028951078653, value_loss 992.3917770385742, approximate_kl 0.011814007302746177, clip_fraction 0.2978515625, and explained_variance 0.05922189893301022. | source: rlx/runs/studio/bridge/bridge-studio-02/training-metrics.jsonl</a:t>
            </a:r>
            <a:endParaRPr lang="en-US" sz="12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650" dirty="0">
                <a:solidFill>
                  <a:srgbClr val="142D3B"/>
                </a:solidFill>
                <a:latin typeface="Aptos" pitchFamily="34" charset="0"/>
                <a:ea typeface="Aptos" pitchFamily="34" charset="-122"/>
                <a:cs typeface="Aptos" pitchFamily="34" charset="-120"/>
              </a:rPr>
              <a:t>fact: The retained 20-second diagnostic video contains two explicit resets and later partial plank progress; it is not one continuous crossing. | source: docs/bridge-showcase/RESULTS.md</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SAVED RESULTS — NOT A NEW TRAINING RUN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fact: The render MP4 is hash-bound as SHA256 7386c84eb8065d2f4ac2b297ba5b082dc658648657e4190a9491872bab6e50a6. | source: rlx/runs/studio/bridge/bridge-studio-02/render/evidence.json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EMBEDDED OFFLINE VIDEO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pic>
        <p:nvPicPr>
          <p:cNvPr id="8"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marL="0" indent="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marL="0" indent="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marL="0" indent="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marL="0" indent="0">
              <a:buNone/>
            </a:pPr>
            <a:r>
              <a:rPr lang="en-US" sz="1100" dirty="0">
                <a:solidFill>
                  <a:srgbClr val="566C79"/>
                </a:solidFill>
                <a:latin typeface="Aptos" pitchFamily="34" charset="0"/>
                <a:ea typeface="Aptos" pitchFamily="34" charset="-122"/>
                <a:cs typeface="Aptos" pitchFamily="34" charset="-120"/>
              </a:rPr>
              <a:t>20.0 s saved MP4  •  Click in PowerPoint Slide Show  •  Backup: videos/bridge-rollout.mp4</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bridge crossing failed. Partial progress and a valid scene do not establish the requested skill.</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navigation commander uses privileged world position and heading, so the complete protocol includes more than the learned actor.</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actor is blind to plank state and must adapt only through IMU, joints, previous action, and generated command slots.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pilot is an actor warm-start from alpha_walking with a fresh critic and optimizer, not exact continuation of upstream training.</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Curriculum completion was not established; 32,768 transitions do not imply graduation to the final unassisted rung.</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The retained evaluation disabled randomization, noise, delay, and random yaw and used only three vector lanes.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Plank, friction, tendon, and cable values are plausible simulator parameters, not measurements or a certified construction plan.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No hardware-safe crossing or sim-to-real result is claimed.</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39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Draw the bridge side view to scale from the platform, plank, and anchor coordinates.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Compute the nominal cable length from the 0.113 m lateral and 0.545 m vertical offsets.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Mark every privileged commander input and every value actually delivered to the 61-observation actor.</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Explain why bridge_progress_m is valid for evaluation but intentionally absent from the reward.</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40</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Calculate batch size, number of updates, and optimizer minibatch size for the 32,768-transition run.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Plot the first and final update loss fields and explain why neither proves a crossing.</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850" dirty="0">
                <a:solidFill>
                  <a:srgbClr val="142D3B"/>
                </a:solidFill>
                <a:latin typeface="Aptos" pitchFamily="34" charset="0"/>
                <a:ea typeface="Aptos" pitchFamily="34" charset="-122"/>
                <a:cs typeface="Aptos" pitchFamily="34" charset="-120"/>
              </a:rPr>
              <a:t>Read the 11 evaluation attempts and classify each failure as fall, incomplete horizon, missing plank contact, floor contact, or insufficient progress.</a:t>
            </a:r>
            <a:endParaRPr lang="en-US" sz="185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Watch ep0.mp4, timestamp both resets, and identify the farthest continuous attempt.</a:t>
            </a:r>
            <a:endParaRPr lang="en-US" sz="2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PROPOSED PRACTICE — NOT MEASURED RESULTS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Student lab: change one variable, keep the gates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41</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Design one physics/spawn curriculum change that preserves the reward and final evaluation gate.</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marL="0" indent="0">
              <a:buNone/>
            </a:pPr>
            <a:r>
              <a:rPr lang="en-US" sz="2100" dirty="0">
                <a:solidFill>
                  <a:srgbClr val="142D3B"/>
                </a:solidFill>
                <a:latin typeface="Aptos" pitchFamily="34" charset="0"/>
                <a:ea typeface="Aptos" pitchFamily="34" charset="-122"/>
                <a:cs typeface="Aptos" pitchFamily="34" charset="-120"/>
              </a:rPr>
              <a:t>Write a result slide whose headline states failure clearly while preserving the useful environment and exploration evidence.</a:t>
            </a:r>
            <a:endParaRPr lang="en-US"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PPO ROBOTICS LAB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REPOSITORY-RELATIVE PATHS / FULL SOURCES IN NOTES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docs/student-book/microduck-lab-student-book.md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docs/basketball-bridge-book/chapters/en/03-ppo.md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docs/basketball-bridge-book/chapters/en/05-bridge.md</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txBody>
          <a:bodyPr/>
          <a:lstStyle/>
          <a:p>
            <a:endParaRPr lang="en-US"/>
          </a:p>
        </p:txBody>
      </p:sp>
      <p:sp>
        <p:nvSpPr>
          <p:cNvPr id="3" name="Text 1"/>
          <p:cNvSpPr/>
          <p:nvPr/>
        </p:nvSpPr>
        <p:spPr>
          <a:xfrm>
            <a:off x="502920" y="274320"/>
            <a:ext cx="10972800" cy="274320"/>
          </a:xfrm>
          <a:prstGeom prst="rect">
            <a:avLst/>
          </a:prstGeom>
          <a:noFill/>
          <a:ln/>
        </p:spPr>
        <p:txBody>
          <a:bodyPr wrap="square" lIns="0" tIns="0" rIns="0" bIns="0" rtlCol="0" anchor="ctr"/>
          <a:lstStyle/>
          <a:p>
            <a:pPr marL="0" indent="0">
              <a:buNone/>
            </a:pPr>
            <a:r>
              <a:rPr lang="en-US" sz="1000" b="1" kern="0" spc="160" dirty="0">
                <a:solidFill>
                  <a:srgbClr val="087E8B"/>
                </a:solidFill>
                <a:latin typeface="Aptos" pitchFamily="34" charset="0"/>
                <a:ea typeface="Aptos" pitchFamily="34" charset="-122"/>
                <a:cs typeface="Aptos" pitchFamily="34" charset="-120"/>
              </a:rPr>
              <a:t>REPOSITORY-RELATIVE PATHS / FULL SOURCES IN NOTES  /  SUSPENDED BRIDGE: A FAILED CROSSING WORTH STUDYING</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marL="0" indent="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txBody>
          <a:bodyPr/>
          <a:lstStyle/>
          <a:p>
            <a:endParaRPr lang="en-US"/>
          </a:p>
        </p:txBody>
      </p:sp>
      <p:sp>
        <p:nvSpPr>
          <p:cNvPr id="6" name="Text 4"/>
          <p:cNvSpPr/>
          <p:nvPr/>
        </p:nvSpPr>
        <p:spPr>
          <a:xfrm>
            <a:off x="502920" y="6519672"/>
            <a:ext cx="9784080" cy="155448"/>
          </a:xfrm>
          <a:prstGeom prst="rect">
            <a:avLst/>
          </a:prstGeom>
          <a:noFill/>
          <a:ln/>
        </p:spPr>
        <p:txBody>
          <a:bodyPr wrap="square" lIns="0" tIns="0" rIns="0" bIns="0" rtlCol="0" anchor="ctr"/>
          <a:lstStyle/>
          <a:p>
            <a:pPr marL="0" indent="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marL="0" indent="0" algn="r">
              <a:buNone/>
            </a:pPr>
            <a:r>
              <a:rPr lang="en-US" sz="1200" b="1" dirty="0">
                <a:solidFill>
                  <a:srgbClr val="142D3B"/>
                </a:solidFill>
                <a:latin typeface="Aptos" pitchFamily="34" charset="0"/>
                <a:ea typeface="Aptos" pitchFamily="34" charset="-122"/>
                <a:cs typeface="Aptos" pitchFamily="34" charset="-120"/>
              </a:rPr>
              <a:t>44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txBody>
          <a:bodyPr/>
          <a:lstStyle/>
          <a:p>
            <a:endParaRPr lang="en-US"/>
          </a:p>
        </p:txBody>
      </p:sp>
      <p:sp>
        <p:nvSpPr>
          <p:cNvPr id="9" name="Text 7"/>
          <p:cNvSpPr/>
          <p:nvPr/>
        </p:nvSpPr>
        <p:spPr>
          <a:xfrm>
            <a:off x="731520" y="188366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txBody>
          <a:bodyPr/>
          <a:lstStyle/>
          <a:p>
            <a:endParaRPr lang="en-US"/>
          </a:p>
        </p:txBody>
      </p:sp>
      <p:sp>
        <p:nvSpPr>
          <p:cNvPr id="12" name="Text 10"/>
          <p:cNvSpPr/>
          <p:nvPr/>
        </p:nvSpPr>
        <p:spPr>
          <a:xfrm>
            <a:off x="731520" y="295808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txBody>
          <a:bodyPr/>
          <a:lstStyle/>
          <a:p>
            <a:endParaRPr lang="en-US"/>
          </a:p>
        </p:txBody>
      </p:sp>
      <p:sp>
        <p:nvSpPr>
          <p:cNvPr id="15" name="Text 13"/>
          <p:cNvSpPr/>
          <p:nvPr/>
        </p:nvSpPr>
        <p:spPr>
          <a:xfrm>
            <a:off x="731520" y="403250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txBody>
          <a:bodyPr/>
          <a:lstStyle/>
          <a:p>
            <a:endParaRPr lang="en-US"/>
          </a:p>
        </p:txBody>
      </p:sp>
      <p:sp>
        <p:nvSpPr>
          <p:cNvPr id="18" name="Text 16"/>
          <p:cNvSpPr/>
          <p:nvPr/>
        </p:nvSpPr>
        <p:spPr>
          <a:xfrm>
            <a:off x="731520" y="5106924"/>
            <a:ext cx="502920" cy="310896"/>
          </a:xfrm>
          <a:prstGeom prst="rect">
            <a:avLst/>
          </a:prstGeom>
          <a:noFill/>
          <a:ln/>
        </p:spPr>
        <p:txBody>
          <a:bodyPr wrap="square" lIns="0" tIns="0" rIns="0" bIns="0" rtlCol="0" anchor="ctr"/>
          <a:lstStyle/>
          <a:p>
            <a:pPr marL="0" indent="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marL="0" indent="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25072</Words>
  <Application>Microsoft Macintosh PowerPoint</Application>
  <PresentationFormat>Widescreen</PresentationFormat>
  <Paragraphs>551</Paragraphs>
  <Slides>44</Slides>
  <Notes>44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Aptos</vt:lpstr>
      <vt:lpstr>Arial</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7: Suspended Bridge: A Failed Crossing Worth Studying</dc:title>
  <dc:subject>Source-grounded PPO robot training: setup, environment, rewards, verification and evidence</dc:subject>
  <dc:creator>Microduck Lab classroom materials</dc:creator>
  <cp:lastModifiedBy>George Hu</cp:lastModifiedBy>
  <cp:revision>2</cp:revision>
  <dcterms:created xsi:type="dcterms:W3CDTF">2026-09-11T20:37:21Z</dcterms:created>
  <dcterms:modified xsi:type="dcterms:W3CDTF">2026-09-11T20:46:00Z</dcterms:modified>
</cp:coreProperties>
</file>