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Dance Imitation: Timed Choreography as Feedback Control
Use case: Teach how PPO turns a time-indexed joint clip into a balanced 50 Hz feedback controller, then prove motion with deterministic ONNX tracking and null controls.
Start by explaining the difference between a simulation training pipeline and skill mastery. The cover image is a frame decoded from this case's actual rollout, not generated artwork.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microduck_local/src/microduck_local/walk_env.py
README.md
scripts/train-dance.sh
scripts/scenarios/README.md
docs/microduck-training-student-book/chapters/04-dance.md
docs/dance-imitation-e2e/REPORT.md
rlx/scripts/dance_e2e.py
rlx/scripts/audit_dance.py
rlx/runs/studio/dance/dance-e2e-20260907-low-noise/dance.safetensors.json
rlx/runs/studio/dance/dance-e2e-20260907-low-noise/evaluation.json
rlx/runs/studio/dance/dance-e2e-20260907-low-noise/render/evidence.json
rlx/artifacts/dance-e2e-20260907/final-audit/audit.json
PPO teaching references:
docs/microduck-training-student-book/chapters/02a-ppo-code-lab.md
docs/microduck-training-student-book/chapters/02b-gae-workshop.md
scripts/scenarios/README.md
README.md
Evidence edition: 2026-09-11. Complete raw recorded metrics are bundled under raw/dance/.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will build — and what the evidence says
Use case: Teach how PPO turns a time-indexed joint clip into a balanced 50 Hz feedback controller, then prove motion with deterministic ONNX tracking and null controls.
By the end: describe the scene, map observations to actions, explain the reward, trace one PPO update, run a bounded experiment, and defend an evaluation claim.
The claim covers one eight-second excerpt, not the complete 60.923-second source clip or arbitrary choreography.
Scope: local MuJoCo simulation. Do not deploy these classroom artifacts to a physical robot; hardware transfer requires a separate validated process.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microduck_local/src/microduck_local/walk_env.py
README.md
scripts/train-dance.sh
scripts/scenarios/README.md
docs/microduck-training-student-book/chapters/04-dance.md
docs/dance-imitation-e2e/REPORT.md
rlx/scripts/dance_e2e.py
rlx/scripts/audit_dance.py
rlx/runs/studio/dance/dance-e2e-20260907-low-noise/dance.safetensors.json
rlx/runs/studio/dance/dance-e2e-20260907-low-noise/evaluation.json
rlx/runs/studio/dance/dance-e2e-20260907-low-noise/render/evidence.json
rlx/artifacts/dance-e2e-20260907/final-audit/audit.json
PPO teaching references:
docs/microduck-training-student-book/chapters/02a-ppo-code-lab.md
docs/microduck-training-student-book/chapters/02b-gae-workshop.md
scripts/scenarios/README.md
README.md
Evidence edition: 2026-09-11. Complete raw recorded metrics are bundled under raw/dance/.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Materials and prerequisites  ·  1/2
Apple Silicon Mac with the installed RLX environment, MLX, MuJoCo, ONNX, ONNX Runtime, Pillow, ImageIO, and FFmpeg.
Source choreography: dance-clip/bachata_microduck_v2.clip.json; the selected evidence uses its first unscaled eight seconds.
Prepared 400-pose reference: rlx/artifacts/dance-e2e-20260907/reference.clip.json.
Training and audit tools: ppo_microduck_studio.py, dance_e2e.py, audit_dance.py, and the Studio HTTP driver.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microduck_local/src/microduck_local/walk_env.py
README.md
scripts/train-dance.sh
scripts/scenarios/README.md
docs/microduck-training-student-book/chapters/04-dance.md
docs/dance-imitation-e2e/REPORT.md
rlx/scripts/dance_e2e.py
rlx/scripts/audit_dance.py
rlx/runs/studio/dance/dance-e2e-20260907-low-noise/dance.safetensors.json
rlx/runs/studio/dance/dance-e2e-20260907-low-noise/evaluation.json
rlx/runs/studio/dance/dance-e2e-20260907-low-noise/render/evidence.json
rlx/artifacts/dance-e2e-20260907/final-audit/audit.json
PPO teaching references:
docs/microduck-training-student-book/chapters/02a-ppo-code-lab.md
docs/microduck-training-student-book/chapters/02b-gae-workshop.md
scripts/scenarios/README.md
README.md
Evidence edition: 2026-09-11. Complete raw recorded metrics are bundled under raw/dance/.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Materials and prerequisites  ·  2/2
Saved checkpoint, normalization sidecar, deterministic ONNX actor, evaluation JSON, MP4, contact sheet, and JSONL telemetry.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microduck_local/src/microduck_local/walk_env.py
README.md
scripts/train-dance.sh
scripts/scenarios/README.md
docs/microduck-training-student-book/chapters/04-dance.md
docs/dance-imitation-e2e/REPORT.md
rlx/scripts/dance_e2e.py
rlx/scripts/audit_dance.py
rlx/runs/studio/dance/dance-e2e-20260907-low-noise/dance.safetensors.json
rlx/runs/studio/dance/dance-e2e-20260907-low-noise/evaluation.json
rlx/runs/studio/dance/dance-e2e-20260907-low-noise/render/evidence.json
rlx/artifacts/dance-e2e-20260907/final-audit/audit.json
PPO teaching references:
docs/microduck-training-student-book/chapters/02a-ppo-code-lab.md
docs/microduck-training-student-book/chapters/02b-gae-workshop.md
scripts/scenarios/README.md
README.md
Evidence edition: 2026-09-11. Complete raw recorded metrics are bundled under raw/dance/.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Environment and policy contract  ·  1/2
Nominal local MuJoCo with XML position actuators; physics dt 0.005 s, decimation 4, and control dt 0.02 s or 50 Hz.
Observation contract is float32 batch x 61: gyro 0:3, gravity 3:6, joint position 6:20, lagged velocity 20:34, last action 34:48, commands 48:61.
Dance keeps the shared contract by replacing body-command indices 59 and 60 with sin(phase) and cos(phase); twist commands are zero.
Action contract is float32 batch x 14 in deployment joint order; raw actor means are stored, applied offsets clip to [-4,4] rad, then add DEFAULT_POSE.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microduck_local/src/microduck_local/walk_env.py
README.md
scripts/train-dance.sh
scripts/scenarios/README.md
docs/microduck-training-student-book/chapters/04-dance.md
docs/dance-imitation-e2e/REPORT.md
rlx/scripts/dance_e2e.py
rlx/scripts/audit_dance.py
rlx/runs/studio/dance/dance-e2e-20260907-low-noise/dance.safetensors.json
rlx/runs/studio/dance/dance-e2e-20260907-low-noise/evaluation.json
rlx/runs/studio/dance/dance-e2e-20260907-low-noise/render/evidence.json
rlx/artifacts/dance-e2e-20260907/final-audit/audit.json
PPO teaching references:
docs/microduck-training-student-book/chapters/02a-ppo-code-lab.md
docs/microduck-training-student-book/chapters/02b-gae-workshop.md
scripts/scenarios/README.md
README.md
Evidence edition: 2026-09-11. Complete raw recorded metrics are bundled under raw/dance/.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Environment and policy contract  ·  2/2
The selected run disables domain randomization, observation noise, action delay, and random yaw; normal reset perturbations still remain.
The clip loader uses 14 joint targets and rootPitch; authored root yaw, roll, position, and contact annotations are not imitation targets.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microduck_local/src/microduck_local/walk_env.py
README.md
scripts/train-dance.sh
scripts/scenarios/README.md
docs/microduck-training-student-book/chapters/04-dance.md
docs/dance-imitation-e2e/REPORT.md
rlx/scripts/dance_e2e.py
rlx/scripts/audit_dance.py
rlx/runs/studio/dance/dance-e2e-20260907-low-noise/dance.safetensors.json
rlx/runs/studio/dance/dance-e2e-20260907-low-noise/evaluation.json
rlx/runs/studio/dance/dance-e2e-20260907-low-noise/render/evidence.json
rlx/artifacts/dance-e2e-20260907/final-audit/audit.json
PPO teaching references:
docs/microduck-training-student-book/chapters/02a-ppo-code-lab.md
docs/microduck-training-student-book/chapters/02b-gae-workshop.md
scripts/scenarios/README.md
README.md
Evidence edition: 2026-09-11. Complete raw recorded metrics are bundled under raw/dance/.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Case-specific build flow
01 / REFERENCE: Prepare an 8-second clip
02 / TARGETS: 400 poses at 50 Hz
03 / OBJECTIVE: Pose tracking + balance
04 / TRAIN: Fresh PPO + actor/critic
05 / VERIFY: Tracking + null controls
06 / EVIDENCE: Full-horizon dance video
This is an explanatory workflow diagram, not a measured learning curve.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microduck_local/src/microduck_local/walk_env.py
README.md
scripts/train-dance.sh
scripts/scenarios/README.md
docs/microduck-training-student-book/chapters/04-dance.md
docs/dance-imitation-e2e/REPORT.md
rlx/scripts/dance_e2e.py
rlx/scripts/audit_dance.py
rlx/runs/studio/dance/dance-e2e-20260907-low-noise/dance.safetensors.json
rlx/runs/studio/dance/dance-e2e-20260907-low-noise/evaluation.json
rlx/runs/studio/dance/dance-e2e-20260907-low-noise/render/evidence.json
rlx/artifacts/dance-e2e-20260907/final-audit/audit.json
PPO teaching references:
docs/microduck-training-student-book/chapters/02a-ppo-code-lab.md
docs/microduck-training-student-book/chapters/02b-gae-workshop.md
scripts/scenarios/README.md
README.md
Evidence edition: 2026-09-11. Complete raw recorded metrics are bundled under raw/dance/.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the case step by step  ·  1/2
Hash the 60.923 s source clip and prepare a looping, unscaled eight-second excerpt sampled into 400 control-rate poses.
Create the Dance recipe with per-joint Gaussian pose precision sigma 0.2, 16 environments, 128-step rollouts, and fresh actor-critic weights.
Train stochastic PPO while logging normalized collection reward, raw completed-episode return, and actual minibatch optimizer metrics separately.
Save checkpoints at rollout boundaries, including observation and reward normalization statistics and exact recipe metadata.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microduck_local/src/microduck_local/walk_env.py
README.md
scripts/train-dance.sh
scripts/scenarios/README.md
docs/microduck-training-student-book/chapters/04-dance.md
docs/dance-imitation-e2e/REPORT.md
rlx/scripts/dance_e2e.py
rlx/scripts/audit_dance.py
rlx/runs/studio/dance/dance-e2e-20260907-low-noise/dance.safetensors.json
rlx/runs/studio/dance/dance-e2e-20260907-low-noise/evaluation.json
rlx/runs/studio/dance/dance-e2e-20260907-low-noise/render/evidence.json
rlx/artifacts/dance-e2e-20260907/final-audit/audit.json
PPO teaching references:
docs/microduck-training-student-book/chapters/02a-ppo-code-lab.md
docs/microduck-training-student-book/chapters/02b-gae-workshop.md
scripts/scenarios/README.md
README.md
Evidence edition: 2026-09-11. Complete raw recorded metrics are bundled under raw/dance/.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the case step by step  ·  2/2
Export the deterministic actor mean to ONNX with observation normalization embedded; the critic and action sampling are not exported.
Run strict complete-episode evaluation, then render the exported policy and independently compare trained, zero, untrained, and frozen-phase controls.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microduck_local/src/microduck_local/walk_env.py
README.md
scripts/train-dance.sh
scripts/scenarios/README.md
docs/microduck-training-student-book/chapters/04-dance.md
docs/dance-imitation-e2e/REPORT.md
rlx/scripts/dance_e2e.py
rlx/scripts/audit_dance.py
rlx/runs/studio/dance/dance-e2e-20260907-low-noise/dance.safetensors.json
rlx/runs/studio/dance/dance-e2e-20260907-low-noise/evaluation.json
rlx/runs/studio/dance/dance-e2e-20260907-low-noise/render/evidence.json
rlx/artifacts/dance-e2e-20260907/final-audit/audit.json
PPO teaching references:
docs/microduck-training-student-book/chapters/02a-ppo-code-lab.md
docs/microduck-training-student-book/chapters/02b-gae-workshop.md
scripts/scenarios/README.md
README.md
Evidence edition: 2026-09-11. Complete raw recorded metrics are bundled under raw/dance/.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PPO clipped surrogate
This is a teaching formula, not a saved experiment value. The optimizer minimizes the negative policy surrogate plus the implementation-specific value and entropy terms. PPO clipping is not a hard KL bound; monitor KL and clip fraction. A negative policy loss or Gaussian entropy is not automatically an error. Each scenario has its own reward units and optimizer conventions.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microduck_local/src/microduck_local/walk_env.py
README.md
scripts/train-dance.sh
scripts/scenarios/README.md
docs/microduck-training-student-book/chapters/04-dance.md
docs/dance-imitation-e2e/REPORT.md
rlx/scripts/dance_e2e.py
rlx/scripts/audit_dance.py
rlx/runs/studio/dance/dance-e2e-20260907-low-noise/dance.safetensors.json
rlx/runs/studio/dance/dance-e2e-20260907-low-noise/evaluation.json
rlx/runs/studio/dance/dance-e2e-20260907-low-noise/render/evidence.json
rlx/artifacts/dance-e2e-20260907/final-audit/audit.json
PPO teaching references:
docs/microduck-training-student-book/chapters/02a-ppo-code-lab.md
docs/microduck-training-student-book/chapters/02b-gae-workshop.md
scripts/scenarios/README.md
README.md
Evidence edition: 2026-09-11. Complete raw recorded metrics are bundled under raw/dance/.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one rollout through the learner
Collect observations, sampled actions, old log probabilities, values, rewards and episode-boundary flags using the current stochastic actor.
Compute TD residuals and generalized advantage estimates (GAE). A true terminal has zero continuation value; a timeout may bootstrap the saved final observation.
Cut advantage traces at reset boundaries. Never bootstrap a timeout from the first observation of the next episode.
Reuse this batch for PPO minibatch updates, then collect fresh on-policy data. Export the deterministic actor and its observation transform for evaluation.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microduck_local/src/microduck_local/walk_env.py
README.md
scripts/train-dance.sh
scripts/scenarios/README.md
docs/microduck-training-student-book/chapters/04-dance.md
docs/dance-imitation-e2e/REPORT.md
rlx/scripts/dance_e2e.py
rlx/scripts/audit_dance.py
rlx/runs/studio/dance/dance-e2e-20260907-low-noise/dance.safetensors.json
rlx/runs/studio/dance/dance-e2e-20260907-low-noise/evaluation.json
rlx/runs/studio/dance/dance-e2e-20260907-low-noise/render/evidence.json
rlx/artifacts/dance-e2e-20260907/final-audit/audit.json
PPO teaching references:
docs/microduck-training-student-book/chapters/02a-ppo-code-lab.md
docs/microduck-training-student-book/chapters/02b-gae-workshop.md
scripts/scenarios/README.md
README.md
Evidence edition: 2026-09-11. Complete raw recorded metrics are bundled under raw/dance/.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exercise: count samples and clip the objective
Illustrative arithmetic, NOT this run: 16 environments × 128 steps = 2,048 fresh transitions per rollout. Four epochs reuse those transitions; they do not create 8,192 new samples.
With ε = 0.2, ratio = 1.4 and A = +2: min(2.8, 2.4) = 2.4. The minimized policy term is −2.4 before averaging and additional loss terms.
With the same ratio and A = −2: min(−2.8, −2.4) = −2.8. Explain why clipping is asymmetric once the sign of the advantage changes.
Run from repo root: python3 docs/microduck-training-student-book/learning_lab.py --gae. This is a deterministic arithmetic lab, not new policy training.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microduck_local/src/microduck_local/walk_env.py
README.md
scripts/train-dance.sh
scripts/scenarios/README.md
docs/microduck-training-student-book/chapters/04-dance.md
docs/dance-imitation-e2e/REPORT.md
rlx/scripts/dance_e2e.py
rlx/scripts/audit_dance.py
rlx/runs/studio/dance/dance-e2e-20260907-low-noise/dance.safetensors.json
rlx/runs/studio/dance/dance-e2e-20260907-low-noise/evaluation.json
rlx/runs/studio/dance/dance-e2e-20260907-low-noise/render/evidence.json
rlx/artifacts/dance-e2e-20260907/final-audit/audit.json
PPO teaching references:
docs/microduck-training-student-book/chapters/02a-ppo-code-lab.md
docs/microduck-training-student-book/chapters/02b-gae-workshop.md
scripts/scenarios/README.md
README.md
Evidence edition: 2026-09-11. Complete raw recorded metrics are bundled under raw/dance/.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Reward design: what the agent is paid to do  ·  1/2
pose_match 40: mean over joints of exp(-((q - q_ref)/0.2)^2), replacing the broader inherited pose kernel.
rotation_match 4: rewards agreement with the clip's reference root pitch.
on_feet 5: rewards supported, upright physical execution while following the choreography.
no_slip 0.5 and no_spin 0.3: non-positive penalties for foot slip and excessive spin.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microduck_local/src/microduck_local/walk_env.py
README.md
scripts/train-dance.sh
scripts/scenarios/README.md
docs/microduck-training-student-book/chapters/04-dance.md
docs/dance-imitation-e2e/REPORT.md
rlx/scripts/dance_e2e.py
rlx/scripts/audit_dance.py
rlx/runs/studio/dance/dance-e2e-20260907-low-noise/dance.safetensors.json
rlx/runs/studio/dance/dance-e2e-20260907-low-noise/evaluation.json
rlx/runs/studio/dance/dance-e2e-20260907-low-noise/render/evidence.json
rlx/artifacts/dance-e2e-20260907/final-audit/audit.json
PPO teaching references:
docs/microduck-training-student-book/chapters/02a-ppo-code-lab.md
docs/microduck-training-student-book/chapters/02b-gae-workshop.md
scripts/scenarios/README.md
README.md
Evidence edition: 2026-09-11. Complete raw recorded metrics are bundled under raw/dance/.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Reward design: what the agent is paid to do  ·  2/2
gentle_head 1, soft_landings 0.75, no_limit_parking 1, and save_energy 0.0005 are active penalty terms.
travel 0 disables forward-travel reward; stick_it 5 is present but inactive because the selected reference loops.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microduck_local/src/microduck_local/walk_env.py
README.md
scripts/train-dance.sh
scripts/scenarios/README.md
docs/microduck-training-student-book/chapters/04-dance.md
docs/dance-imitation-e2e/REPORT.md
rlx/scripts/dance_e2e.py
rlx/scripts/audit_dance.py
rlx/runs/studio/dance/dance-e2e-20260907-low-noise/dance.safetensors.json
rlx/runs/studio/dance/dance-e2e-20260907-low-noise/evaluation.json
rlx/runs/studio/dance/dance-e2e-20260907-low-noise/render/evidence.json
rlx/artifacts/dance-e2e-20260907/final-audit/audit.json
PPO teaching references:
docs/microduck-training-student-book/chapters/02a-ppo-code-lab.md
docs/microduck-training-student-book/chapters/02b-gae-workshop.md
scripts/scenarios/README.md
README.md
Evidence edition: 2026-09-11. Complete raw recorded metrics are bundled under raw/dance/.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Recorded training recipe  ·  1/2
Actual selected run: seed 7, fresh PPO, 4,001,792 transitions, 16 fork environments, 128 steps per environment, and 2,048 transitions per rollout.
PPO uses 4 minibatches x 4 epochs: 512 rows per minibatch, 16 optimizer steps per rollout, 1,954 rollouts, and 31,264 optimizer steps.
Learning rate 0.0001; gamma 0.99; GAE lambda 0.95; clip 0.2; value coefficient 1; entropy coefficient 0; max gradient norm 0.5.
Initial action standard deviation is 0.1; actor and critic are separate 61-512-256-128 networks with ELU activations.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microduck_local/src/microduck_local/walk_env.py
README.md
scripts/train-dance.sh
scripts/scenarios/README.md
docs/microduck-training-student-book/chapters/04-dance.md
docs/dance-imitation-e2e/REPORT.md
rlx/scripts/dance_e2e.py
rlx/scripts/audit_dance.py
rlx/runs/studio/dance/dance-e2e-20260907-low-noise/dance.safetensors.json
rlx/runs/studio/dance/dance-e2e-20260907-low-noise/evaluation.json
rlx/runs/studio/dance/dance-e2e-20260907-low-noise/render/evidence.json
rlx/artifacts/dance-e2e-20260907/final-audit/audit.json
PPO teaching references:
docs/microduck-training-student-book/chapters/02a-ppo-code-lab.md
docs/microduck-training-student-book/chapters/02b-gae-workshop.md
scripts/scenarios/README.md
README.md
Evidence edition: 2026-09-11. Complete raw recorded metrics are bundled under raw/dance/.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Recorded training recipe  ·  2/2
Observation and discounted-return reward normalization are enabled; observation statistics are frozen into the exported ONNX graph.
Update log fields are phase, steps, seconds, optimizer_steps, mean_loss, policy_loss, value_loss, entropy, approximate_kl, clip_fraction, explained_variance, env_steps.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microduck_local/src/microduck_local/walk_env.py
README.md
scripts/train-dance.sh
scripts/scenarios/README.md
docs/microduck-training-student-book/chapters/04-dance.md
docs/dance-imitation-e2e/REPORT.md
rlx/scripts/dance_e2e.py
rlx/scripts/audit_dance.py
rlx/runs/studio/dance/dance-e2e-20260907-low-noise/dance.safetensors.json
rlx/runs/studio/dance/dance-e2e-20260907-low-noise/evaluation.json
rlx/runs/studio/dance/dance-e2e-20260907-low-noise/render/evidence.json
rlx/artifacts/dance-e2e-20260907/final-audit/audit.json
PPO teaching references:
docs/microduck-training-student-book/chapters/02a-ppo-code-lab.md
docs/microduck-training-student-book/chapters/02b-gae-workshop.md
scripts/scenarios/README.md
README.md
Evidence edition: 2026-09-11. Complete raw recorded metrics are bundled under raw/dance/.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Hands-on commands: inspect, smoke, train  ·  1/3
From .:
./scripts/train-dance.sh --dry-run
Inspect the current bundled Dance pipeline without training.
From .:
./scripts/train-dance.sh
Run the current independent Full Dance pipeline with a fresh timestamped output.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microduck_local/src/microduck_local/walk_env.py
README.md
scripts/train-dance.sh
scripts/scenarios/README.md
docs/microduck-training-student-book/chapters/04-dance.md
docs/dance-imitation-e2e/REPORT.md
rlx/scripts/dance_e2e.py
rlx/scripts/audit_dance.py
rlx/runs/studio/dance/dance-e2e-20260907-low-noise/dance.safetensors.json
rlx/runs/studio/dance/dance-e2e-20260907-low-noise/evaluation.json
rlx/runs/studio/dance/dance-e2e-20260907-low-noise/render/evidence.json
rlx/artifacts/dance-e2e-20260907/final-audit/audit.json
PPO teaching references:
docs/microduck-training-student-book/chapters/02a-ppo-code-lab.md
docs/microduck-training-student-book/chapters/02b-gae-workshop.md
scripts/scenarios/README.md
README.md
Evidence edition: 2026-09-11. Complete raw recorded metrics are bundled under raw/dance/.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Hands-on commands: inspect, smoke, train  ·  2/3
From .:
rlx/.venv-microduck/bin/python rlx/scripts/dance_e2e.py --source dance-clip/bachata_microduck_v2.clip.json --output rlx/artifacts/dance-reproduction-YYYYMMDD-HHMMSS --seconds 8 --train-steps 4001792 --run-name dance-e2e-reproduction-YYYYMMDD-HHMMSS
Prepare the exact historical eight-second Bachata reference and recipe; replace the timestamp token consistently.
From .:
rlx/.venv-microduck/bin/python rlx/scripts/audit_dance.py --run rlx/runs/studio/dance/dance-e2e-reproduction-YYYYMMDD-HHMMSS --recipe rlx/artifacts/dance-reproduction-YYYYMMDD-HHMMSS/recipe.json --output rlx/artifacts/dance-reproduction-YYYYMMDD-HHMMSS/audit --seeds 101 102 103 104 105 --history-stride 2 --render
Audit a completed exact-recipe reproduction over held-out seeds without further PPO training.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microduck_local/src/microduck_local/walk_env.py
README.md
scripts/train-dance.sh
scripts/scenarios/README.md
docs/microduck-training-student-book/chapters/04-dance.md
docs/dance-imitation-e2e/REPORT.md
rlx/scripts/dance_e2e.py
rlx/scripts/audit_dance.py
rlx/runs/studio/dance/dance-e2e-20260907-low-noise/dance.safetensors.json
rlx/runs/studio/dance/dance-e2e-20260907-low-noise/evaluation.json
rlx/runs/studio/dance/dance-e2e-20260907-low-noise/render/evidence.json
rlx/artifacts/dance-e2e-20260907/final-audit/audit.json
PPO teaching references:
docs/microduck-training-student-book/chapters/02a-ppo-code-lab.md
docs/microduck-training-student-book/chapters/02b-gae-workshop.md
scripts/scenarios/README.md
README.md
Evidence edition: 2026-09-11. Complete raw recorded metrics are bundled under raw/dance/.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Hands-on commands: inspect, smoke, train  ·  3/3
From .:
rlx/.venv-microduck/bin/python -m pytest rlx/tests/test_dance_evaluation.py rlx/tests/test_dance_pipeline.py rlx/tests/test_microduck_dance.py
Run focused Dance contract and evaluation tests.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microduck_local/src/microduck_local/walk_env.py
README.md
scripts/train-dance.sh
scripts/scenarios/README.md
docs/microduck-training-student-book/chapters/04-dance.md
docs/dance-imitation-e2e/REPORT.md
rlx/scripts/dance_e2e.py
rlx/scripts/audit_dance.py
rlx/runs/studio/dance/dance-e2e-20260907-low-noise/dance.safetensors.json
rlx/runs/studio/dance/dance-e2e-20260907-low-noise/evaluation.json
rlx/runs/studio/dance/dance-e2e-20260907-low-noise/render/evidence.json
rlx/artifacts/dance-e2e-20260907/final-audit/audit.json
PPO teaching references:
docs/microduck-training-student-book/chapters/02a-ppo-code-lab.md
docs/microduck-training-student-book/chapters/02b-gae-workshop.md
scripts/scenarios/README.md
README.md
Evidence edition: 2026-09-11. Complete raw recorded metrics are bundled under raw/dance/.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Reward: does the logged signal match the task?
Chart source: rlx/runs/studio/dance/dance-e2e-20260907-low-noise/training-metrics.jsonl
Training reward is an optimization signal, not the acceptance test. See raw/&lt;case&gt;/ for complete recorded fields.
Series are unsmoothed recorded values. Gaps mean the logger did not provide the requested field. Reward definitions differ: mean_raw_return is episodic, mean_reward is a collection-step mean, and drawing mean_rollout_reward is a rollout-step mean. Do not compare numerical scales across scenarios. No interpolation of missing metrics and no claim of a new experiment.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microduck_local/src/microduck_local/walk_env.py
README.md
scripts/train-dance.sh
scripts/scenarios/README.md
docs/microduck-training-student-book/chapters/04-dance.md
docs/dance-imitation-e2e/REPORT.md
rlx/scripts/dance_e2e.py
rlx/scripts/audit_dance.py
rlx/runs/studio/dance/dance-e2e-20260907-low-noise/dance.safetensors.json
rlx/runs/studio/dance/dance-e2e-20260907-low-noise/evaluation.json
rlx/runs/studio/dance/dance-e2e-20260907-low-noise/render/evidence.json
rlx/artifacts/dance-e2e-20260907/final-audit/audit.json
PPO teaching references:
docs/microduck-training-student-book/chapters/02a-ppo-code-lab.md
docs/microduck-training-student-book/chapters/02b-gae-workshop.md
scripts/scenarios/README.md
README.md
Evidence edition: 2026-09-11. Complete raw recorded metrics are bundled under raw/dance/.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Loss: inspect actor, critic and policy drift
Chart source: rlx/runs/studio/dance/dance-e2e-20260907-low-noise/training-metrics.jsonl
A lower loss does not prove a better robot skill. Loss sign and scale depend on the implementation.
Series are unsmoothed recorded values. Gaps mean the logger did not provide the requested field. Reward definitions differ: mean_raw_return is episodic, mean_reward is a collection-step mean, and drawing mean_rollout_reward is a rollout-step mean. Do not compare numerical scales across scenarios. No interpolation of missing metrics and no claim of a new experiment.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microduck_local/src/microduck_local/walk_env.py
README.md
scripts/train-dance.sh
scripts/scenarios/README.md
docs/microduck-training-student-book/chapters/04-dance.md
docs/dance-imitation-e2e/REPORT.md
rlx/scripts/dance_e2e.py
rlx/scripts/audit_dance.py
rlx/runs/studio/dance/dance-e2e-20260907-low-noise/dance.safetensors.json
rlx/runs/studio/dance/dance-e2e-20260907-low-noise/evaluation.json
rlx/runs/studio/dance/dance-e2e-20260907-low-noise/render/evidence.json
rlx/artifacts/dance-e2e-20260907/final-audit/audit.json
PPO teaching references:
docs/microduck-training-student-book/chapters/02a-ppo-code-lab.md
docs/microduck-training-student-book/chapters/02b-gae-workshop.md
scripts/scenarios/README.md
README.md
Evidence edition: 2026-09-11. Complete raw recorded metrics are bundled under raw/dance/.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Diagnostics: is the optimizer behaving?
Chart source: rlx/runs/studio/dance/dance-e2e-20260907-low-noise/training-metrics.jsonl
Entropy, clipping, explained variance and timing are diagnostics — not a standalone pass/fail certificate.
Series are unsmoothed recorded values. Gaps mean the logger did not provide the requested field. Reward definitions differ: mean_raw_return is episodic, mean_reward is a collection-step mean, and drawing mean_rollout_reward is a rollout-step mean. Do not compare numerical scales across scenarios. No interpolation of missing metrics and no claim of a new experiment.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microduck_local/src/microduck_local/walk_env.py
README.md
scripts/train-dance.sh
scripts/scenarios/README.md
docs/microduck-training-student-book/chapters/04-dance.md
docs/dance-imitation-e2e/REPORT.md
rlx/scripts/dance_e2e.py
rlx/scripts/audit_dance.py
rlx/runs/studio/dance/dance-e2e-20260907-low-noise/dance.safetensors.json
rlx/runs/studio/dance/dance-e2e-20260907-low-noise/evaluation.json
rlx/runs/studio/dance/dance-e2e-20260907-low-noise/render/evidence.json
rlx/artifacts/dance-e2e-20260907/final-audit/audit.json
PPO teaching references:
docs/microduck-training-student-book/chapters/02a-ppo-code-lab.md
docs/microduck-training-student-book/chapters/02b-gae-workshop.md
scripts/scenarios/README.md
README.md
Evidence edition: 2026-09-11. Complete raw recorded metrics are bundled under raw/dance/.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 matrix: numerical audit of this trace  ·  1/3
approximate_kl: first 7.759 → final 0.08225; min 0.03034, max 7.759; 1954 logged samples.
clip_fraction: first 0.9050 → final 0.4437; min 0.3440, max 0.9050; 1954 logged samples.
entropy: first -12.38 → final -14.10; min -14.10, max -12.27; 1954 logged samples.
explained_variance: first -0.006817 → final 0.9283; min -0.1084, max 0.9960; 1954 logged samples.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microduck_local/src/microduck_local/walk_env.py
README.md
scripts/train-dance.sh
scripts/scenarios/README.md
docs/microduck-training-student-book/chapters/04-dance.md
docs/dance-imitation-e2e/REPORT.md
rlx/scripts/dance_e2e.py
rlx/scripts/audit_dance.py
rlx/runs/studio/dance/dance-e2e-20260907-low-noise/dance.safetensors.json
rlx/runs/studio/dance/dance-e2e-20260907-low-noise/evaluation.json
rlx/runs/studio/dance/dance-e2e-20260907-low-noise/render/evidence.json
rlx/artifacts/dance-e2e-20260907/final-audit/audit.json
PPO teaching references:
docs/microduck-training-student-book/chapters/02a-ppo-code-lab.md
docs/microduck-training-student-book/chapters/02b-gae-workshop.md
scripts/scenarios/README.md
README.md
Evidence edition: 2026-09-11. Complete raw recorded metrics are bundled under raw/dance/.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 matrix: numerical audit of this trace  ·  2/3
mean_loss: first 2.261 → final 0.01790; min -0.03312, max 2.261; 1954 logged samples.
mean_raw_return: first 1234 → final 5343; min 940.8, max 1.788e+4; 11820 logged samples.
mean_reward: first 0.2507 → final 0.04188; min 0.03332, max 0.2507; 1954 logged samples.
policy_loss: first 0.08514 → final -0.01620; min -0.03472, max 0.1133; 1954 logged samples.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microduck_local/src/microduck_local/walk_env.py
README.md
scripts/train-dance.sh
scripts/scenarios/README.md
docs/microduck-training-student-book/chapters/04-dance.md
docs/dance-imitation-e2e/REPORT.md
rlx/scripts/dance_e2e.py
rlx/scripts/audit_dance.py
rlx/runs/studio/dance/dance-e2e-20260907-low-noise/dance.safetensors.json
rlx/runs/studio/dance/dance-e2e-20260907-low-noise/evaluation.json
rlx/runs/studio/dance/dance-e2e-20260907-low-noise/render/evidence.json
rlx/artifacts/dance-e2e-20260907/final-audit/audit.json
PPO teaching references:
docs/microduck-training-student-book/chapters/02a-ppo-code-lab.md
docs/microduck-training-student-book/chapters/02b-gae-workshop.md
scripts/scenarios/README.md
README.md
Evidence edition: 2026-09-11. Complete raw recorded metrics are bundled under raw/dance/.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 matrix: numerical audit of this trace  ·  3/3
value_loss: first 2.176 → final 0.03411; min 0.00004939, max 2.176; 1954 logged samples.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microduck_local/src/microduck_local/walk_env.py
README.md
scripts/train-dance.sh
scripts/scenarios/README.md
docs/microduck-training-student-book/chapters/04-dance.md
docs/dance-imitation-e2e/REPORT.md
rlx/scripts/dance_e2e.py
rlx/scripts/audit_dance.py
rlx/runs/studio/dance/dance-e2e-20260907-low-noise/dance.safetensors.json
rlx/runs/studio/dance/dance-e2e-20260907-low-noise/evaluation.json
rlx/runs/studio/dance/dance-e2e-20260907-low-noise/render/evidence.json
rlx/artifacts/dance-e2e-20260907/final-audit/audit.json
PPO teaching references:
docs/microduck-training-student-book/chapters/02a-ppo-code-lab.md
docs/microduck-training-student-book/chapters/02b-gae-workshop.md
scripts/scenarios/README.md
README.md
Evidence edition: 2026-09-11. Complete raw recorded metrics are bundled under raw/dance/.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Verification: define success before looking  ·  1/2
Require every episode to complete 400 measured steps with no termination, contiguous phase coverage, finite traces, and at least 95% upright samples.
Require all-joint pose RMSE &lt;= 0.15 rad, dynamic gain &gt;= 0.20 over a constant-reference-mean baseline, and positive leg dynamic gain.
Require at least two moving leg joints; the selected reference has 12 moving joints and 8 moving leg joints at the 0.03 rad threshold.
Compare deterministic trained ONNX against zero action, an untrained network, and the trained network with phase inputs frozen.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microduck_local/src/microduck_local/walk_env.py
README.md
scripts/train-dance.sh
scripts/scenarios/README.md
docs/microduck-training-student-book/chapters/04-dance.md
docs/dance-imitation-e2e/REPORT.md
rlx/scripts/dance_e2e.py
rlx/scripts/audit_dance.py
rlx/runs/studio/dance/dance-e2e-20260907-low-noise/dance.safetensors.json
rlx/runs/studio/dance/dance-e2e-20260907-low-noise/evaluation.json
rlx/runs/studio/dance/dance-e2e-20260907-low-noise/render/evidence.json
rlx/artifacts/dance-e2e-20260907/final-audit/audit.json
PPO teaching references:
docs/microduck-training-student-book/chapters/02a-ppo-code-lab.md
docs/microduck-training-student-book/chapters/02b-gae-workshop.md
scripts/scenarios/README.md
README.md
Evidence edition: 2026-09-11. Complete raw recorded metrics are bundled under raw/dance/.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Verification: define success before looking  ·  2/2
Validate dynamic batch x 61 input and dynamic batch x 14 output, ONNX checker success, source hashes, and native/ONNX action parity &lt;= 1e-4.
Inspect the complete MP4 and captioned contact sheet; reward or finite execution alone cannot establish choreography.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microduck_local/src/microduck_local/walk_env.py
README.md
scripts/train-dance.sh
scripts/scenarios/README.md
docs/microduck-training-student-book/chapters/04-dance.md
docs/dance-imitation-e2e/REPORT.md
rlx/scripts/dance_e2e.py
rlx/scripts/audit_dance.py
rlx/runs/studio/dance/dance-e2e-20260907-low-noise/dance.safetensors.json
rlx/runs/studio/dance/dance-e2e-20260907-low-noise/evaluation.json
rlx/runs/studio/dance/dance-e2e-20260907-low-noise/render/evidence.json
rlx/artifacts/dance-e2e-20260907/final-audit/audit.json
PPO teaching references:
docs/microduck-training-student-book/chapters/02a-ppo-code-lab.md
docs/microduck-training-student-book/chapters/02b-gae-workshop.md
scripts/scenarios/README.md
README.md
Evidence edition: 2026-09-11. Complete raw recorded metrics are bundled under raw/dance/.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what was actually measured  ·  1/3
Actual final evidence: PASS for dance-e2e-20260907-low-noise; Studio evaluation passed 16/16 eight-second episodes with zero terminations.
Independent seeds 101-105 passed 5/5; mean pose RMSE 0.08438 rad, mean dynamic gain 38.39%, mean leg gain 52.52%, upright coverage 100%.
Three seeds passed a separate 800-step, 16-second extension that repeats the learned eight-second excerpt twice.
Zero action passed 0/5 and fell after 43-49 steps; the untrained network fell after 37 steps; frozen phase passed 0/5 for dynamic tracking.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microduck_local/src/microduck_local/walk_env.py
README.md
scripts/train-dance.sh
scripts/scenarios/README.md
docs/microduck-training-student-book/chapters/04-dance.md
docs/dance-imitation-e2e/REPORT.md
rlx/scripts/dance_e2e.py
rlx/scripts/audit_dance.py
rlx/runs/studio/dance/dance-e2e-20260907-low-noise/dance.safetensors.json
rlx/runs/studio/dance/dance-e2e-20260907-low-noise/evaluation.json
rlx/runs/studio/dance/dance-e2e-20260907-low-noise/render/evidence.json
rlx/artifacts/dance-e2e-20260907/final-audit/audit.json
PPO teaching references:
docs/microduck-training-student-book/chapters/02a-ppo-code-lab.md
docs/microduck-training-student-book/chapters/02b-gae-workshop.md
scripts/scenarios/README.md
README.md
Evidence edition: 2026-09-11. Complete raw recorded metrics are bundled under raw/dance/.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what was actually measured  ·  2/3
ONNX/native maximum action error was 3.5762786865234375e-7; learned tensor L2 change from initialization was 12.247028438523373.
Training recorded 1,954 finite updates and 31,264 optimizer steps; final-100 policy_loss was -0.01673409083727165.
Final-100 value_loss was 0.0030093801085240555 and mean_loss was -0.013724710738842986.
Final-100 approximate_kl was 0.053165218892099804, clip_fraction 0.430621337890625, and explained_variance 0.8950924869797166.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microduck_local/src/microduck_local/walk_env.py
README.md
scripts/train-dance.sh
scripts/scenarios/README.md
docs/microduck-training-student-book/chapters/04-dance.md
docs/dance-imitation-e2e/REPORT.md
rlx/scripts/dance_e2e.py
rlx/scripts/audit_dance.py
rlx/runs/studio/dance/dance-e2e-20260907-low-noise/dance.safetensors.json
rlx/runs/studio/dance/dance-e2e-20260907-low-noise/evaluation.json
rlx/runs/studio/dance/dance-e2e-20260907-low-noise/render/evidence.json
rlx/artifacts/dance-e2e-20260907/final-audit/audit.json
PPO teaching references:
docs/microduck-training-student-book/chapters/02a-ppo-code-lab.md
docs/microduck-training-student-book/chapters/02b-gae-workshop.md
scripts/scenarios/README.md
README.md
Evidence edition: 2026-09-11. Complete raw recorded metrics are bundled under raw/dance/.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what was actually measured  ·  3/3
Saved render receipt binds ep0.mp4 to ONNX SHA-256 32c27fe239285f1be624b01f77eaa7a411262852c89d51404ae8398ac94bdbd9.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microduck_local/src/microduck_local/walk_env.py
README.md
scripts/train-dance.sh
scripts/scenarios/README.md
docs/microduck-training-student-book/chapters/04-dance.md
docs/dance-imitation-e2e/REPORT.md
rlx/scripts/dance_e2e.py
rlx/scripts/audit_dance.py
rlx/runs/studio/dance/dance-e2e-20260907-low-noise/dance.safetensors.json
rlx/runs/studio/dance/dance-e2e-20260907-low-noise/evaluation.json
rlx/runs/studio/dance/dance-e2e-20260907-low-noise/render/evidence.json
rlx/artifacts/dance-e2e-20260907/final-audit/audit.json
PPO teaching references:
docs/microduck-training-student-book/chapters/02a-ppo-code-lab.md
docs/microduck-training-student-book/chapters/02b-gae-workshop.md
scripts/scenarios/README.md
README.md
Evidence edition: 2026-09-11. Complete raw recorded metrics are bundled under raw/dance/.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Saved policy video
Source: rlx/runs/studio/dance/dance-e2e-20260907-low-noise/render/ep0.mp4
Embedded video bytes are copied unchanged, not regenerated and not sped up. A single video is not a seed sweep. PowerPoint playback requires a user click; use the included MP4 in a local player if a presentation viewer cannot decode embedded media.
The claim covers one eight-second excerpt, not the complete 60.923-second source clip or arbitrary choreography.
Only one successful training seed is recorded; the evaluation seeds do not measure reliability across independently trained policies.
The recipe changes both exploration scale and sample budget versus earlier failures, so their individual causal effects are not isolated.
Root translation, root yaw, root roll, and authored contacts are ignored; visible lag, hip-roll offsets, and head-yaw overshoot remain.
The run uses nominal XML actuators with no domain randomization, BAM audit, disturbances, terrain, latency, or hardware validation.
The 16-second result is two repeats of the same loop, not evidence that unseen source choreography was learned.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microduck_local/src/microduck_local/walk_env.py
README.md
scripts/train-dance.sh
scripts/scenarios/README.md
docs/microduck-training-student-book/chapters/04-dance.md
docs/dance-imitation-e2e/REPORT.md
rlx/scripts/dance_e2e.py
rlx/scripts/audit_dance.py
rlx/runs/studio/dance/dance-e2e-20260907-low-noise/dance.safetensors.json
rlx/runs/studio/dance/dance-e2e-20260907-low-noise/evaluation.json
rlx/runs/studio/dance/dance-e2e-20260907-low-noise/render/evidence.json
rlx/artifacts/dance-e2e-20260907/final-audit/audit.json
PPO teaching references:
docs/microduck-training-student-book/chapters/02a-ppo-code-lab.md
docs/microduck-training-student-book/chapters/02b-gae-workshop.md
scripts/scenarios/README.md
README.md
Evidence edition: 2026-09-11. Complete raw recorded metrics are bundled under raw/dance/.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Limits and failure analysis  ·  1/2
The claim covers one eight-second excerpt, not the complete 60.923-second source clip or arbitrary choreography.
Only one successful training seed is recorded; the evaluation seeds do not measure reliability across independently trained policies.
The recipe changes both exploration scale and sample budget versus earlier failures, so their individual causal effects are not isolated.
Root translation, root yaw, root roll, and authored contacts are ignored; visible lag, hip-roll offsets, and head-yaw overshoot remain.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microduck_local/src/microduck_local/walk_env.py
README.md
scripts/train-dance.sh
scripts/scenarios/README.md
docs/microduck-training-student-book/chapters/04-dance.md
docs/dance-imitation-e2e/REPORT.md
rlx/scripts/dance_e2e.py
rlx/scripts/audit_dance.py
rlx/runs/studio/dance/dance-e2e-20260907-low-noise/dance.safetensors.json
rlx/runs/studio/dance/dance-e2e-20260907-low-noise/evaluation.json
rlx/runs/studio/dance/dance-e2e-20260907-low-noise/render/evidence.json
rlx/artifacts/dance-e2e-20260907/final-audit/audit.json
PPO teaching references:
docs/microduck-training-student-book/chapters/02a-ppo-code-lab.md
docs/microduck-training-student-book/chapters/02b-gae-workshop.md
scripts/scenarios/README.md
README.md
Evidence edition: 2026-09-11. Complete raw recorded metrics are bundled under raw/dance/.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Limits and failure analysis  ·  2/2
The run uses nominal XML actuators with no domain randomization, BAM audit, disturbances, terrain, latency, or hardware validation.
The 16-second result is two repeats of the same loop, not evidence that unseen source choreography was learned.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microduck_local/src/microduck_local/walk_env.py
README.md
scripts/train-dance.sh
scripts/scenarios/README.md
docs/microduck-training-student-book/chapters/04-dance.md
docs/dance-imitation-e2e/REPORT.md
rlx/scripts/dance_e2e.py
rlx/scripts/audit_dance.py
rlx/runs/studio/dance/dance-e2e-20260907-low-noise/dance.safetensors.json
rlx/runs/studio/dance/dance-e2e-20260907-low-noise/evaluation.json
rlx/runs/studio/dance/dance-e2e-20260907-low-noise/render/evidence.json
rlx/artifacts/dance-e2e-20260907/final-audit/audit.json
PPO teaching references:
docs/microduck-training-student-book/chapters/02a-ppo-code-lab.md
docs/microduck-training-student-book/chapters/02b-gae-workshop.md
scripts/scenarios/README.md
README.md
Evidence edition: 2026-09-11. Complete raw recorded metrics are bundled under raw/dance/.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lab: change one variable, keep the gates  ·  1/2
Recommended exercise, not saved evidence: reconstruct all observation slices and identify phase indices 59 and 60.
Recommended exercise, not saved evidence: recompute dynamic gain from trained-seed101.npz without smoothing, fitted lag, or time shifting.
Recommended exercise, not saved evidence: calculate rollout count, optimizer count, and sample reuse for a 4,000,000-transition request.
Recommended exercise, not saved evidence: inspect ONNX names, float32 shapes, and embedded mean, variance, epsilon, and clip constants.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microduck_local/src/microduck_local/walk_env.py
README.md
scripts/train-dance.sh
scripts/scenarios/README.md
docs/microduck-training-student-book/chapters/04-dance.md
docs/dance-imitation-e2e/REPORT.md
rlx/scripts/dance_e2e.py
rlx/scripts/audit_dance.py
rlx/runs/studio/dance/dance-e2e-20260907-low-noise/dance.safetensors.json
rlx/runs/studio/dance/dance-e2e-20260907-low-noise/evaluation.json
rlx/runs/studio/dance/dance-e2e-20260907-low-noise/render/evidence.json
rlx/artifacts/dance-e2e-20260907/final-audit/audit.json
PPO teaching references:
docs/microduck-training-student-book/chapters/02a-ppo-code-lab.md
docs/microduck-training-student-book/chapters/02b-gae-workshop.md
scripts/scenarios/README.md
README.md
Evidence edition: 2026-09-11. Complete raw recorded metrics are bundled under raw/dance/.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lab: change one variable, keep the gates  ·  2/2
Recommended exercise, not saved evidence: design a five-training-seed study with a fixed recipe and predeclared held-out gate.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microduck_local/src/microduck_local/walk_env.py
README.md
scripts/train-dance.sh
scripts/scenarios/README.md
docs/microduck-training-student-book/chapters/04-dance.md
docs/dance-imitation-e2e/REPORT.md
rlx/scripts/dance_e2e.py
rlx/scripts/audit_dance.py
rlx/runs/studio/dance/dance-e2e-20260907-low-noise/dance.safetensors.json
rlx/runs/studio/dance/dance-e2e-20260907-low-noise/evaluation.json
rlx/runs/studio/dance/dance-e2e-20260907-low-noise/render/evidence.json
rlx/artifacts/dance-e2e-20260907/final-audit/audit.json
PPO teaching references:
docs/microduck-training-student-book/chapters/02a-ppo-code-lab.md
docs/microduck-training-student-book/chapters/02b-gae-workshop.md
scripts/scenarios/README.md
README.md
Evidence edition: 2026-09-11. Complete raw recorded metrics are bundled under raw/dance/.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Submit an experiment, not just a video
Before training: write one hypothesis, the changed parameter, the fixed baseline, seed list, acceptance criteria and time/transition budget.
During training: save the exact command, environment versions, initialization, checkpoint and raw reward/loss/KL metrics. Never overwrite the saved reference run.
After training: evaluate the frozen exported policy on matched seeds; include all failures, aggregate metrics, the full rollout video and a source-bound result table.
Rubric / 10: reproducibility 2; environment and reward explanation 2; PPO and metrics interpretation 2; honest verification 2; one evidence-based next experiment 2.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microduck_local/src/microduck_local/walk_env.py
README.md
scripts/train-dance.sh
scripts/scenarios/README.md
docs/microduck-training-student-book/chapters/04-dance.md
docs/dance-imitation-e2e/REPORT.md
rlx/scripts/dance_e2e.py
rlx/scripts/audit_dance.py
rlx/runs/studio/dance/dance-e2e-20260907-low-noise/dance.safetensors.json
rlx/runs/studio/dance/dance-e2e-20260907-low-noise/evaluation.json
rlx/runs/studio/dance/dance-e2e-20260907-low-noise/render/evidence.json
rlx/artifacts/dance-e2e-20260907/final-audit/audit.json
PPO teaching references:
docs/microduck-training-student-book/chapters/02a-ppo-code-lab.md
docs/microduck-training-student-book/chapters/02b-gae-workshop.md
scripts/scenarios/README.md
README.md
Evidence edition: 2026-09-11. Complete raw recorded metrics are bundled under raw/dance/.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map and further study  ·  1/2
AGENTS.md
microduck_local/AGENTS.md
microduck_local/src/microduck_local/contract.py
microduck_local/src/microduck_local/walk_env.py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microduck_local/src/microduck_local/walk_env.py
README.md
scripts/train-dance.sh
scripts/scenarios/README.md
docs/microduck-training-student-book/chapters/04-dance.md
docs/dance-imitation-e2e/REPORT.md
rlx/scripts/dance_e2e.py
rlx/scripts/audit_dance.py
rlx/runs/studio/dance/dance-e2e-20260907-low-noise/dance.safetensors.json
rlx/runs/studio/dance/dance-e2e-20260907-low-noise/evaluation.json
rlx/runs/studio/dance/dance-e2e-20260907-low-noise/render/evidence.json
rlx/artifacts/dance-e2e-20260907/final-audit/audit.json
PPO teaching references:
docs/microduck-training-student-book/chapters/02a-ppo-code-lab.md
docs/microduck-training-student-book/chapters/02b-gae-workshop.md
scripts/scenarios/README.md
README.md
Evidence edition: 2026-09-11. Complete raw recorded metrics are bundled under raw/dance/.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map and further study  ·  2/2
docs/microduck-training-student-book/chapters/02a-ppo-code-lab.md
docs/microduck-training-student-book/chapters/02b-gae-workshop.md
scripts/scenarios/README.md
README.md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microduck_local/src/microduck_local/walk_env.py
README.md
scripts/train-dance.sh
scripts/scenarios/README.md
docs/microduck-training-student-book/chapters/04-dance.md
docs/dance-imitation-e2e/REPORT.md
rlx/scripts/dance_e2e.py
rlx/scripts/audit_dance.py
rlx/runs/studio/dance/dance-e2e-20260907-low-noise/dance.safetensors.json
rlx/runs/studio/dance/dance-e2e-20260907-low-noise/evaluation.json
rlx/runs/studio/dance/dance-e2e-20260907-low-noise/render/evidence.json
rlx/artifacts/dance-e2e-20260907/final-audit/audit.json
PPO teaching references:
docs/microduck-training-student-book/chapters/02a-ppo-code-lab.md
docs/microduck-training-student-book/chapters/02b-gae-workshop.md
scripts/scenarios/README.md
README.md
Evidence edition: 2026-09-11. Complete raw recorded metrics are bundled under raw/dance/.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video" Target="../media/media-31-1.mp4"/><Relationship Id="rId2" Type="http://schemas.microsoft.com/office/2007/relationships/media" Target="../media/media-31-1.mp4"/><Relationship Id="rId3" Type="http://schemas.openxmlformats.org/officeDocument/2006/relationships/image" Target="../media/image-31-3.png"/><Relationship Id="rId4" Type="http://schemas.openxmlformats.org/officeDocument/2006/relationships/slideLayout" Target="../slideLayouts/slideLayout1.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EIGHT CASES / ONE LEARNING METHOD  /  DANCE IMITATION: TIMED CHOREOGRAPHY AS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LAB 01</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01</a:t>
            </a:r>
            <a:endParaRPr lang="en-US" sz="1200" dirty="0"/>
          </a:p>
        </p:txBody>
      </p:sp>
      <p:sp>
        <p:nvSpPr>
          <p:cNvPr id="8" name="Text 6"/>
          <p:cNvSpPr/>
          <p:nvPr/>
        </p:nvSpPr>
        <p:spPr>
          <a:xfrm>
            <a:off x="658368" y="1828800"/>
            <a:ext cx="5532120" cy="1298448"/>
          </a:xfrm>
          <a:prstGeom prst="rect">
            <a:avLst/>
          </a:prstGeom>
          <a:noFill/>
          <a:ln/>
        </p:spPr>
        <p:txBody>
          <a:bodyPr wrap="square" lIns="0" tIns="0" rIns="0" bIns="0" rtlCol="0" anchor="ctr"/>
          <a:lstStyle/>
          <a:p>
            <a:pPr indent="0" marL="0">
              <a:buNone/>
            </a:pPr>
            <a:r>
              <a:rPr lang="en-US" sz="4300" b="1" dirty="0">
                <a:solidFill>
                  <a:srgbClr val="142D3B"/>
                </a:solidFill>
                <a:latin typeface="Aptos" pitchFamily="34" charset="0"/>
                <a:ea typeface="Aptos" pitchFamily="34" charset="-122"/>
                <a:cs typeface="Aptos" pitchFamily="34" charset="-120"/>
              </a:rPr>
              <a:t>Dance imitation</a:t>
            </a:r>
            <a:endParaRPr lang="en-US" sz="4300" dirty="0"/>
          </a:p>
        </p:txBody>
      </p:sp>
      <p:sp>
        <p:nvSpPr>
          <p:cNvPr id="9" name="Text 7"/>
          <p:cNvSpPr/>
          <p:nvPr/>
        </p:nvSpPr>
        <p:spPr>
          <a:xfrm>
            <a:off x="685800" y="3328416"/>
            <a:ext cx="5230368" cy="1005840"/>
          </a:xfrm>
          <a:prstGeom prst="rect">
            <a:avLst/>
          </a:prstGeom>
          <a:noFill/>
          <a:ln/>
        </p:spPr>
        <p:txBody>
          <a:bodyPr wrap="square" lIns="0" tIns="0" rIns="0" bIns="0" rtlCol="0" anchor="ctr"/>
          <a:lstStyle/>
          <a:p>
            <a:pPr indent="0" marL="0">
              <a:buNone/>
            </a:pPr>
            <a:r>
              <a:rPr lang="en-US" sz="2300" dirty="0">
                <a:solidFill>
                  <a:srgbClr val="566C79"/>
                </a:solidFill>
                <a:latin typeface="Aptos" pitchFamily="34" charset="0"/>
                <a:ea typeface="Aptos" pitchFamily="34" charset="-122"/>
                <a:cs typeface="Aptos" pitchFamily="34" charset="-120"/>
              </a:rPr>
              <a:t>Dance Imitation: Timed Choreography as Feedback Control</a:t>
            </a:r>
            <a:endParaRPr lang="en-US" sz="2300" dirty="0"/>
          </a:p>
        </p:txBody>
      </p:sp>
      <p:sp>
        <p:nvSpPr>
          <p:cNvPr id="10" name="Text 8"/>
          <p:cNvSpPr/>
          <p:nvPr/>
        </p:nvSpPr>
        <p:spPr>
          <a:xfrm>
            <a:off x="685800" y="4645152"/>
            <a:ext cx="5230368" cy="548640"/>
          </a:xfrm>
          <a:prstGeom prst="rect">
            <a:avLst/>
          </a:prstGeom>
          <a:noFill/>
          <a:ln/>
        </p:spPr>
        <p:txBody>
          <a:bodyPr wrap="square" lIns="0" tIns="0" rIns="0" bIns="0" rtlCol="0" anchor="ctr"/>
          <a:lstStyle/>
          <a:p>
            <a:pPr indent="0" marL="0">
              <a:buNone/>
            </a:pPr>
            <a:r>
              <a:rPr lang="en-US" sz="1700" dirty="0">
                <a:solidFill>
                  <a:srgbClr val="566C79"/>
                </a:solidFill>
                <a:latin typeface="Aptos" pitchFamily="34" charset="0"/>
                <a:ea typeface="Aptos" pitchFamily="34" charset="-122"/>
                <a:cs typeface="Aptos" pitchFamily="34" charset="-120"/>
              </a:rPr>
              <a:t>Environment design · PPO · Honest verification</a:t>
            </a:r>
            <a:endParaRPr lang="en-US" sz="1700" dirty="0"/>
          </a:p>
        </p:txBody>
      </p:sp>
      <p:pic>
        <p:nvPicPr>
          <p:cNvPr id="11" name="Image 0" descr="/Volumes/ExternalSSD/geoagent/microduck-lab/docs/classroom-ppt/assets/dance/rollout-poster.png">    </p:cNvPr>
          <p:cNvPicPr>
            <a:picLocks noChangeAspect="1"/>
          </p:cNvPicPr>
          <p:nvPr/>
        </p:nvPicPr>
        <p:blipFill>
          <a:blip r:embed="rId1"/>
          <a:stretch>
            <a:fillRect/>
          </a:stretch>
        </p:blipFill>
        <p:spPr>
          <a:xfrm>
            <a:off x="6263640" y="2084546"/>
            <a:ext cx="5349240" cy="3008948"/>
          </a:xfrm>
          <a:prstGeom prst="rect">
            <a:avLst/>
          </a:prstGeom>
        </p:spPr>
      </p:pic>
      <p:sp>
        <p:nvSpPr>
          <p:cNvPr id="12" name="Text 9"/>
          <p:cNvSpPr/>
          <p:nvPr/>
        </p:nvSpPr>
        <p:spPr>
          <a:xfrm>
            <a:off x="685800" y="5550408"/>
            <a:ext cx="10698480" cy="393192"/>
          </a:xfrm>
          <a:prstGeom prst="rect">
            <a:avLst/>
          </a:prstGeom>
          <a:noFill/>
          <a:ln/>
        </p:spPr>
        <p:txBody>
          <a:bodyPr wrap="square" lIns="0" tIns="0" rIns="0" bIns="0" rtlCol="0" anchor="ctr"/>
          <a:lstStyle/>
          <a:p>
            <a:pPr indent="0" marL="0">
              <a:buNone/>
            </a:pPr>
            <a:r>
              <a:rPr lang="en-US" sz="2000" b="1" spc="100" kern="0" dirty="0">
                <a:solidFill>
                  <a:srgbClr val="087E8B"/>
                </a:solidFill>
                <a:latin typeface="Aptos" pitchFamily="34" charset="0"/>
                <a:ea typeface="Aptos" pitchFamily="34" charset="-122"/>
                <a:cs typeface="Aptos" pitchFamily="34" charset="-120"/>
              </a:rPr>
              <a:t>BUILD  →  TRAIN  →  VERIFY  →  EXPLAIN</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DANCE IMITATION: TIMED CHOREOGRAPHY AS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What you will build — and what the evidence says</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02</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Use case: Teach how PPO turns a time-indexed joint clip into a balanced 50 Hz feedback controller, then prove motion with deterministic ONNX tracking and null controls.</a:t>
            </a:r>
            <a:endParaRPr lang="en-US" sz="165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1750" dirty="0">
                <a:solidFill>
                  <a:srgbClr val="142D3B"/>
                </a:solidFill>
                <a:latin typeface="Aptos" pitchFamily="34" charset="0"/>
                <a:ea typeface="Aptos" pitchFamily="34" charset="-122"/>
                <a:cs typeface="Aptos" pitchFamily="34" charset="-120"/>
              </a:rPr>
              <a:t>By the end: describe the scene, map observations to actions, explain the reward, trace one PPO update, run a bounded experiment, and defend an evaluation claim.</a:t>
            </a:r>
            <a:endParaRPr lang="en-US" sz="17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The claim covers one eight-second excerpt, not the complete 60.923-second source clip or arbitrary choreography.</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1850" dirty="0">
                <a:solidFill>
                  <a:srgbClr val="142D3B"/>
                </a:solidFill>
                <a:latin typeface="Aptos" pitchFamily="34" charset="0"/>
                <a:ea typeface="Aptos" pitchFamily="34" charset="-122"/>
                <a:cs typeface="Aptos" pitchFamily="34" charset="-120"/>
              </a:rPr>
              <a:t>Scope: local MuJoCo simulation. Do not deploy these classroom artifacts to a physical robot; hardware transfer requires a separate validated process.</a:t>
            </a:r>
            <a:endParaRPr lang="en-US" sz="1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DANCE IMITATION: TIMED CHOREOGRAPHY AS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Materials and prerequisites  ·  1/2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03</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Apple Silicon Mac with the installed RLX environment, MLX, MuJoCo, ONNX, ONNX Runtime, Pillow, ImageIO, and FFmpeg.</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Source choreography: dance-clip/bachata_microduck_v2.clip.json; the selected evidence uses its first unscaled eight seconds.</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Prepared 400-pose reference: rlx/artifacts/dance-e2e-20260907/reference.clip.json.</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Training and audit tools: ppo_microduck_studio.py, dance_e2e.py, audit_dance.py, and the Studio HTTP driver.</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DANCE IMITATION: TIMED CHOREOGRAPHY AS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Materials and prerequisites  ·  2/2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04</a:t>
            </a:r>
            <a:endParaRPr lang="en-US" sz="1200" dirty="0"/>
          </a:p>
        </p:txBody>
      </p:sp>
      <p:sp>
        <p:nvSpPr>
          <p:cNvPr id="8" name="Shape 6"/>
          <p:cNvSpPr/>
          <p:nvPr/>
        </p:nvSpPr>
        <p:spPr>
          <a:xfrm>
            <a:off x="512064" y="1746504"/>
            <a:ext cx="11045952" cy="418795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400507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Saved checkpoint, normalization sidecar, deterministic ONNX actor, evaluation JSON, MP4, contact sheet, and JSONL telemetry.</a:t>
            </a:r>
            <a:endParaRPr lang="en-US" sz="2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DANCE IMITATION: TIMED CHOREOGRAPHY AS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Environment and policy contract  ·  1/2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05</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Nominal local MuJoCo with XML position actuators; physics dt 0.005 s, decimation 4, and control dt 0.02 s or 50 Hz.</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1900" dirty="0">
                <a:solidFill>
                  <a:srgbClr val="142D3B"/>
                </a:solidFill>
                <a:latin typeface="Aptos" pitchFamily="34" charset="0"/>
                <a:ea typeface="Aptos" pitchFamily="34" charset="-122"/>
                <a:cs typeface="Aptos" pitchFamily="34" charset="-120"/>
              </a:rPr>
              <a:t>Observation contract is float32 batch x 61: gyro 0:3, gravity 3:6, joint position 6:20, lagged velocity 20:34, last action 34:48, commands 48:61.</a:t>
            </a:r>
            <a:endParaRPr lang="en-US" sz="19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Dance keeps the shared contract by replacing body-command indices 59 and 60 with sin(phase) and cos(phase); twist commands are zero.</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1850" dirty="0">
                <a:solidFill>
                  <a:srgbClr val="142D3B"/>
                </a:solidFill>
                <a:latin typeface="Aptos" pitchFamily="34" charset="0"/>
                <a:ea typeface="Aptos" pitchFamily="34" charset="-122"/>
                <a:cs typeface="Aptos" pitchFamily="34" charset="-120"/>
              </a:rPr>
              <a:t>Action contract is float32 batch x 14 in deployment joint order; raw actor means are stored, applied offsets clip to [-4,4] rad, then add DEFAULT_POSE.</a:t>
            </a:r>
            <a:endParaRPr lang="en-US" sz="1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DANCE IMITATION: TIMED CHOREOGRAPHY AS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Environment and policy contract  ·  2/2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06</a:t>
            </a:r>
            <a:endParaRPr lang="en-US" sz="1200" dirty="0"/>
          </a:p>
        </p:txBody>
      </p:sp>
      <p:sp>
        <p:nvSpPr>
          <p:cNvPr id="8" name="Shape 6"/>
          <p:cNvSpPr/>
          <p:nvPr/>
        </p:nvSpPr>
        <p:spPr>
          <a:xfrm>
            <a:off x="512064" y="1746504"/>
            <a:ext cx="11045952" cy="203911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185623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The selected run disables domain randomization, observation noise, action delay, and random yaw; normal reset perturbations still remain.</a:t>
            </a:r>
            <a:endParaRPr lang="en-US" sz="2100" dirty="0"/>
          </a:p>
        </p:txBody>
      </p:sp>
      <p:sp>
        <p:nvSpPr>
          <p:cNvPr id="11" name="Shape 9"/>
          <p:cNvSpPr/>
          <p:nvPr/>
        </p:nvSpPr>
        <p:spPr>
          <a:xfrm>
            <a:off x="512064" y="3895344"/>
            <a:ext cx="11045952" cy="2039112"/>
          </a:xfrm>
          <a:prstGeom prst="rect">
            <a:avLst/>
          </a:prstGeom>
          <a:solidFill>
            <a:srgbClr val="FFFFFF"/>
          </a:solidFill>
          <a:ln w="6350">
            <a:solidFill>
              <a:srgbClr val="FFFFFF"/>
            </a:solidFill>
            <a:prstDash val="solid"/>
          </a:ln>
        </p:spPr>
      </p:sp>
      <p:sp>
        <p:nvSpPr>
          <p:cNvPr id="12" name="Text 10"/>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3986784"/>
            <a:ext cx="9738360" cy="185623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The clip loader uses 14 joint targets and rootPitch; authored root yaw, roll, position, and contact annotations are not imitation targets.</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DANCE IMITATION: TIMED CHOREOGRAPHY AS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How this case is built: one evidence loop</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07</a:t>
            </a:r>
            <a:endParaRPr lang="en-US" sz="1200" dirty="0"/>
          </a:p>
        </p:txBody>
      </p:sp>
      <p:sp>
        <p:nvSpPr>
          <p:cNvPr id="8" name="Shape 6"/>
          <p:cNvSpPr/>
          <p:nvPr/>
        </p:nvSpPr>
        <p:spPr>
          <a:xfrm>
            <a:off x="594360" y="1828800"/>
            <a:ext cx="3227832" cy="1234440"/>
          </a:xfrm>
          <a:prstGeom prst="rect">
            <a:avLst/>
          </a:prstGeom>
          <a:solidFill>
            <a:srgbClr val="FFFFFF"/>
          </a:solidFill>
          <a:ln w="6350">
            <a:solidFill>
              <a:srgbClr val="FFFFFF"/>
            </a:solidFill>
            <a:prstDash val="solid"/>
          </a:ln>
        </p:spPr>
      </p:sp>
      <p:sp>
        <p:nvSpPr>
          <p:cNvPr id="9" name="Text 7"/>
          <p:cNvSpPr/>
          <p:nvPr/>
        </p:nvSpPr>
        <p:spPr>
          <a:xfrm>
            <a:off x="777240" y="1965960"/>
            <a:ext cx="2834640" cy="228600"/>
          </a:xfrm>
          <a:prstGeom prst="rect">
            <a:avLst/>
          </a:prstGeom>
          <a:noFill/>
          <a:ln/>
        </p:spPr>
        <p:txBody>
          <a:bodyPr wrap="square" lIns="0" tIns="0" rIns="0" bIns="0" rtlCol="0" anchor="ctr"/>
          <a:lstStyle/>
          <a:p>
            <a:pPr indent="0" marL="0">
              <a:buNone/>
            </a:pPr>
            <a:r>
              <a:rPr lang="en-US" sz="1200" b="1" dirty="0">
                <a:solidFill>
                  <a:srgbClr val="087E8B"/>
                </a:solidFill>
                <a:latin typeface="Aptos" pitchFamily="34" charset="0"/>
                <a:ea typeface="Aptos" pitchFamily="34" charset="-122"/>
                <a:cs typeface="Aptos" pitchFamily="34" charset="-120"/>
              </a:rPr>
              <a:t>01 / REFERENCE</a:t>
            </a:r>
            <a:endParaRPr lang="en-US" sz="1200" dirty="0"/>
          </a:p>
        </p:txBody>
      </p:sp>
      <p:sp>
        <p:nvSpPr>
          <p:cNvPr id="10" name="Text 8"/>
          <p:cNvSpPr/>
          <p:nvPr/>
        </p:nvSpPr>
        <p:spPr>
          <a:xfrm>
            <a:off x="777240" y="2304288"/>
            <a:ext cx="2788920" cy="530352"/>
          </a:xfrm>
          <a:prstGeom prst="rect">
            <a:avLst/>
          </a:prstGeom>
          <a:noFill/>
          <a:ln/>
        </p:spPr>
        <p:txBody>
          <a:bodyPr wrap="square" lIns="0" tIns="0" rIns="0" bIns="0" rtlCol="0" anchor="ctr"/>
          <a:lstStyle/>
          <a:p>
            <a:pPr indent="0" marL="0">
              <a:buNone/>
            </a:pPr>
            <a:r>
              <a:rPr lang="en-US" sz="2100" b="1" dirty="0">
                <a:solidFill>
                  <a:srgbClr val="142D3B"/>
                </a:solidFill>
                <a:latin typeface="Aptos" pitchFamily="34" charset="0"/>
                <a:ea typeface="Aptos" pitchFamily="34" charset="-122"/>
                <a:cs typeface="Aptos" pitchFamily="34" charset="-120"/>
              </a:rPr>
              <a:t>Prepare an 8-second clip</a:t>
            </a:r>
            <a:endParaRPr lang="en-US" sz="2100" dirty="0"/>
          </a:p>
        </p:txBody>
      </p:sp>
      <p:sp>
        <p:nvSpPr>
          <p:cNvPr id="11" name="Shape 9"/>
          <p:cNvSpPr/>
          <p:nvPr/>
        </p:nvSpPr>
        <p:spPr>
          <a:xfrm>
            <a:off x="4471416" y="1828800"/>
            <a:ext cx="3227832" cy="1234440"/>
          </a:xfrm>
          <a:prstGeom prst="rect">
            <a:avLst/>
          </a:prstGeom>
          <a:solidFill>
            <a:srgbClr val="FFFFFF"/>
          </a:solidFill>
          <a:ln w="6350">
            <a:solidFill>
              <a:srgbClr val="FFFFFF"/>
            </a:solidFill>
            <a:prstDash val="solid"/>
          </a:ln>
        </p:spPr>
      </p:sp>
      <p:sp>
        <p:nvSpPr>
          <p:cNvPr id="12" name="Text 10"/>
          <p:cNvSpPr/>
          <p:nvPr/>
        </p:nvSpPr>
        <p:spPr>
          <a:xfrm>
            <a:off x="4654296" y="1965960"/>
            <a:ext cx="2834640" cy="228600"/>
          </a:xfrm>
          <a:prstGeom prst="rect">
            <a:avLst/>
          </a:prstGeom>
          <a:noFill/>
          <a:ln/>
        </p:spPr>
        <p:txBody>
          <a:bodyPr wrap="square" lIns="0" tIns="0" rIns="0" bIns="0" rtlCol="0" anchor="ctr"/>
          <a:lstStyle/>
          <a:p>
            <a:pPr indent="0" marL="0">
              <a:buNone/>
            </a:pPr>
            <a:r>
              <a:rPr lang="en-US" sz="1200" b="1" dirty="0">
                <a:solidFill>
                  <a:srgbClr val="087E8B"/>
                </a:solidFill>
                <a:latin typeface="Aptos" pitchFamily="34" charset="0"/>
                <a:ea typeface="Aptos" pitchFamily="34" charset="-122"/>
                <a:cs typeface="Aptos" pitchFamily="34" charset="-120"/>
              </a:rPr>
              <a:t>02 / TARGETS</a:t>
            </a:r>
            <a:endParaRPr lang="en-US" sz="1200" dirty="0"/>
          </a:p>
        </p:txBody>
      </p:sp>
      <p:sp>
        <p:nvSpPr>
          <p:cNvPr id="13" name="Text 11"/>
          <p:cNvSpPr/>
          <p:nvPr/>
        </p:nvSpPr>
        <p:spPr>
          <a:xfrm>
            <a:off x="4654296" y="2304288"/>
            <a:ext cx="2788920" cy="530352"/>
          </a:xfrm>
          <a:prstGeom prst="rect">
            <a:avLst/>
          </a:prstGeom>
          <a:noFill/>
          <a:ln/>
        </p:spPr>
        <p:txBody>
          <a:bodyPr wrap="square" lIns="0" tIns="0" rIns="0" bIns="0" rtlCol="0" anchor="ctr"/>
          <a:lstStyle/>
          <a:p>
            <a:pPr indent="0" marL="0">
              <a:buNone/>
            </a:pPr>
            <a:r>
              <a:rPr lang="en-US" sz="2100" b="1" dirty="0">
                <a:solidFill>
                  <a:srgbClr val="142D3B"/>
                </a:solidFill>
                <a:latin typeface="Aptos" pitchFamily="34" charset="0"/>
                <a:ea typeface="Aptos" pitchFamily="34" charset="-122"/>
                <a:cs typeface="Aptos" pitchFamily="34" charset="-120"/>
              </a:rPr>
              <a:t>400 poses at 50 Hz</a:t>
            </a:r>
            <a:endParaRPr lang="en-US" sz="2100" dirty="0"/>
          </a:p>
        </p:txBody>
      </p:sp>
      <p:sp>
        <p:nvSpPr>
          <p:cNvPr id="14" name="Shape 12"/>
          <p:cNvSpPr/>
          <p:nvPr/>
        </p:nvSpPr>
        <p:spPr>
          <a:xfrm>
            <a:off x="8348472" y="1828800"/>
            <a:ext cx="3227832" cy="1234440"/>
          </a:xfrm>
          <a:prstGeom prst="rect">
            <a:avLst/>
          </a:prstGeom>
          <a:solidFill>
            <a:srgbClr val="FFFFFF"/>
          </a:solidFill>
          <a:ln w="6350">
            <a:solidFill>
              <a:srgbClr val="FFFFFF"/>
            </a:solidFill>
            <a:prstDash val="solid"/>
          </a:ln>
        </p:spPr>
      </p:sp>
      <p:sp>
        <p:nvSpPr>
          <p:cNvPr id="15" name="Text 13"/>
          <p:cNvSpPr/>
          <p:nvPr/>
        </p:nvSpPr>
        <p:spPr>
          <a:xfrm>
            <a:off x="8531352" y="1965960"/>
            <a:ext cx="2834640" cy="228600"/>
          </a:xfrm>
          <a:prstGeom prst="rect">
            <a:avLst/>
          </a:prstGeom>
          <a:noFill/>
          <a:ln/>
        </p:spPr>
        <p:txBody>
          <a:bodyPr wrap="square" lIns="0" tIns="0" rIns="0" bIns="0" rtlCol="0" anchor="ctr"/>
          <a:lstStyle/>
          <a:p>
            <a:pPr indent="0" marL="0">
              <a:buNone/>
            </a:pPr>
            <a:r>
              <a:rPr lang="en-US" sz="1200" b="1" dirty="0">
                <a:solidFill>
                  <a:srgbClr val="087E8B"/>
                </a:solidFill>
                <a:latin typeface="Aptos" pitchFamily="34" charset="0"/>
                <a:ea typeface="Aptos" pitchFamily="34" charset="-122"/>
                <a:cs typeface="Aptos" pitchFamily="34" charset="-120"/>
              </a:rPr>
              <a:t>03 / OBJECTIVE</a:t>
            </a:r>
            <a:endParaRPr lang="en-US" sz="1200" dirty="0"/>
          </a:p>
        </p:txBody>
      </p:sp>
      <p:sp>
        <p:nvSpPr>
          <p:cNvPr id="16" name="Text 14"/>
          <p:cNvSpPr/>
          <p:nvPr/>
        </p:nvSpPr>
        <p:spPr>
          <a:xfrm>
            <a:off x="8531352" y="2304288"/>
            <a:ext cx="2788920" cy="530352"/>
          </a:xfrm>
          <a:prstGeom prst="rect">
            <a:avLst/>
          </a:prstGeom>
          <a:noFill/>
          <a:ln/>
        </p:spPr>
        <p:txBody>
          <a:bodyPr wrap="square" lIns="0" tIns="0" rIns="0" bIns="0" rtlCol="0" anchor="ctr"/>
          <a:lstStyle/>
          <a:p>
            <a:pPr indent="0" marL="0">
              <a:buNone/>
            </a:pPr>
            <a:r>
              <a:rPr lang="en-US" sz="2100" b="1" dirty="0">
                <a:solidFill>
                  <a:srgbClr val="142D3B"/>
                </a:solidFill>
                <a:latin typeface="Aptos" pitchFamily="34" charset="0"/>
                <a:ea typeface="Aptos" pitchFamily="34" charset="-122"/>
                <a:cs typeface="Aptos" pitchFamily="34" charset="-120"/>
              </a:rPr>
              <a:t>Pose tracking + balance</a:t>
            </a:r>
            <a:endParaRPr lang="en-US" sz="2100" dirty="0"/>
          </a:p>
        </p:txBody>
      </p:sp>
      <p:sp>
        <p:nvSpPr>
          <p:cNvPr id="17" name="Shape 15"/>
          <p:cNvSpPr/>
          <p:nvPr/>
        </p:nvSpPr>
        <p:spPr>
          <a:xfrm>
            <a:off x="8348472" y="3886200"/>
            <a:ext cx="3227832" cy="1234440"/>
          </a:xfrm>
          <a:prstGeom prst="rect">
            <a:avLst/>
          </a:prstGeom>
          <a:solidFill>
            <a:srgbClr val="FFFFFF"/>
          </a:solidFill>
          <a:ln w="6350">
            <a:solidFill>
              <a:srgbClr val="FFFFFF"/>
            </a:solidFill>
            <a:prstDash val="solid"/>
          </a:ln>
        </p:spPr>
      </p:sp>
      <p:sp>
        <p:nvSpPr>
          <p:cNvPr id="18" name="Text 16"/>
          <p:cNvSpPr/>
          <p:nvPr/>
        </p:nvSpPr>
        <p:spPr>
          <a:xfrm>
            <a:off x="8531352" y="4023360"/>
            <a:ext cx="2834640" cy="228600"/>
          </a:xfrm>
          <a:prstGeom prst="rect">
            <a:avLst/>
          </a:prstGeom>
          <a:noFill/>
          <a:ln/>
        </p:spPr>
        <p:txBody>
          <a:bodyPr wrap="square" lIns="0" tIns="0" rIns="0" bIns="0" rtlCol="0" anchor="ctr"/>
          <a:lstStyle/>
          <a:p>
            <a:pPr indent="0" marL="0">
              <a:buNone/>
            </a:pPr>
            <a:r>
              <a:rPr lang="en-US" sz="1200" b="1" dirty="0">
                <a:solidFill>
                  <a:srgbClr val="087E8B"/>
                </a:solidFill>
                <a:latin typeface="Aptos" pitchFamily="34" charset="0"/>
                <a:ea typeface="Aptos" pitchFamily="34" charset="-122"/>
                <a:cs typeface="Aptos" pitchFamily="34" charset="-120"/>
              </a:rPr>
              <a:t>04 / TRAIN</a:t>
            </a:r>
            <a:endParaRPr lang="en-US" sz="1200" dirty="0"/>
          </a:p>
        </p:txBody>
      </p:sp>
      <p:sp>
        <p:nvSpPr>
          <p:cNvPr id="19" name="Text 17"/>
          <p:cNvSpPr/>
          <p:nvPr/>
        </p:nvSpPr>
        <p:spPr>
          <a:xfrm>
            <a:off x="8531352" y="4361688"/>
            <a:ext cx="2788920" cy="530352"/>
          </a:xfrm>
          <a:prstGeom prst="rect">
            <a:avLst/>
          </a:prstGeom>
          <a:noFill/>
          <a:ln/>
        </p:spPr>
        <p:txBody>
          <a:bodyPr wrap="square" lIns="0" tIns="0" rIns="0" bIns="0" rtlCol="0" anchor="ctr"/>
          <a:lstStyle/>
          <a:p>
            <a:pPr indent="0" marL="0">
              <a:buNone/>
            </a:pPr>
            <a:r>
              <a:rPr lang="en-US" sz="2100" b="1" dirty="0">
                <a:solidFill>
                  <a:srgbClr val="142D3B"/>
                </a:solidFill>
                <a:latin typeface="Aptos" pitchFamily="34" charset="0"/>
                <a:ea typeface="Aptos" pitchFamily="34" charset="-122"/>
                <a:cs typeface="Aptos" pitchFamily="34" charset="-120"/>
              </a:rPr>
              <a:t>Fresh PPO + actor/critic</a:t>
            </a:r>
            <a:endParaRPr lang="en-US" sz="2100" dirty="0"/>
          </a:p>
        </p:txBody>
      </p:sp>
      <p:sp>
        <p:nvSpPr>
          <p:cNvPr id="20" name="Shape 18"/>
          <p:cNvSpPr/>
          <p:nvPr/>
        </p:nvSpPr>
        <p:spPr>
          <a:xfrm>
            <a:off x="4471416" y="3886200"/>
            <a:ext cx="3227832" cy="1234440"/>
          </a:xfrm>
          <a:prstGeom prst="rect">
            <a:avLst/>
          </a:prstGeom>
          <a:solidFill>
            <a:srgbClr val="FFFFFF"/>
          </a:solidFill>
          <a:ln w="6350">
            <a:solidFill>
              <a:srgbClr val="FFFFFF"/>
            </a:solidFill>
            <a:prstDash val="solid"/>
          </a:ln>
        </p:spPr>
      </p:sp>
      <p:sp>
        <p:nvSpPr>
          <p:cNvPr id="21" name="Text 19"/>
          <p:cNvSpPr/>
          <p:nvPr/>
        </p:nvSpPr>
        <p:spPr>
          <a:xfrm>
            <a:off x="4654296" y="4023360"/>
            <a:ext cx="2834640" cy="228600"/>
          </a:xfrm>
          <a:prstGeom prst="rect">
            <a:avLst/>
          </a:prstGeom>
          <a:noFill/>
          <a:ln/>
        </p:spPr>
        <p:txBody>
          <a:bodyPr wrap="square" lIns="0" tIns="0" rIns="0" bIns="0" rtlCol="0" anchor="ctr"/>
          <a:lstStyle/>
          <a:p>
            <a:pPr indent="0" marL="0">
              <a:buNone/>
            </a:pPr>
            <a:r>
              <a:rPr lang="en-US" sz="1200" b="1" dirty="0">
                <a:solidFill>
                  <a:srgbClr val="087E8B"/>
                </a:solidFill>
                <a:latin typeface="Aptos" pitchFamily="34" charset="0"/>
                <a:ea typeface="Aptos" pitchFamily="34" charset="-122"/>
                <a:cs typeface="Aptos" pitchFamily="34" charset="-120"/>
              </a:rPr>
              <a:t>05 / VERIFY</a:t>
            </a:r>
            <a:endParaRPr lang="en-US" sz="1200" dirty="0"/>
          </a:p>
        </p:txBody>
      </p:sp>
      <p:sp>
        <p:nvSpPr>
          <p:cNvPr id="22" name="Text 20"/>
          <p:cNvSpPr/>
          <p:nvPr/>
        </p:nvSpPr>
        <p:spPr>
          <a:xfrm>
            <a:off x="4654296" y="4361688"/>
            <a:ext cx="2788920" cy="530352"/>
          </a:xfrm>
          <a:prstGeom prst="rect">
            <a:avLst/>
          </a:prstGeom>
          <a:noFill/>
          <a:ln/>
        </p:spPr>
        <p:txBody>
          <a:bodyPr wrap="square" lIns="0" tIns="0" rIns="0" bIns="0" rtlCol="0" anchor="ctr"/>
          <a:lstStyle/>
          <a:p>
            <a:pPr indent="0" marL="0">
              <a:buNone/>
            </a:pPr>
            <a:r>
              <a:rPr lang="en-US" sz="2100" b="1" dirty="0">
                <a:solidFill>
                  <a:srgbClr val="142D3B"/>
                </a:solidFill>
                <a:latin typeface="Aptos" pitchFamily="34" charset="0"/>
                <a:ea typeface="Aptos" pitchFamily="34" charset="-122"/>
                <a:cs typeface="Aptos" pitchFamily="34" charset="-120"/>
              </a:rPr>
              <a:t>Tracking + null controls</a:t>
            </a:r>
            <a:endParaRPr lang="en-US" sz="2100" dirty="0"/>
          </a:p>
        </p:txBody>
      </p:sp>
      <p:sp>
        <p:nvSpPr>
          <p:cNvPr id="23" name="Shape 21"/>
          <p:cNvSpPr/>
          <p:nvPr/>
        </p:nvSpPr>
        <p:spPr>
          <a:xfrm>
            <a:off x="594360" y="3886200"/>
            <a:ext cx="3227832" cy="1234440"/>
          </a:xfrm>
          <a:prstGeom prst="rect">
            <a:avLst/>
          </a:prstGeom>
          <a:solidFill>
            <a:srgbClr val="FFFFFF"/>
          </a:solidFill>
          <a:ln w="6350">
            <a:solidFill>
              <a:srgbClr val="FFFFFF"/>
            </a:solidFill>
            <a:prstDash val="solid"/>
          </a:ln>
        </p:spPr>
      </p:sp>
      <p:sp>
        <p:nvSpPr>
          <p:cNvPr id="24" name="Text 22"/>
          <p:cNvSpPr/>
          <p:nvPr/>
        </p:nvSpPr>
        <p:spPr>
          <a:xfrm>
            <a:off x="777240" y="4023360"/>
            <a:ext cx="2834640" cy="228600"/>
          </a:xfrm>
          <a:prstGeom prst="rect">
            <a:avLst/>
          </a:prstGeom>
          <a:noFill/>
          <a:ln/>
        </p:spPr>
        <p:txBody>
          <a:bodyPr wrap="square" lIns="0" tIns="0" rIns="0" bIns="0" rtlCol="0" anchor="ctr"/>
          <a:lstStyle/>
          <a:p>
            <a:pPr indent="0" marL="0">
              <a:buNone/>
            </a:pPr>
            <a:r>
              <a:rPr lang="en-US" sz="1200" b="1" dirty="0">
                <a:solidFill>
                  <a:srgbClr val="087E8B"/>
                </a:solidFill>
                <a:latin typeface="Aptos" pitchFamily="34" charset="0"/>
                <a:ea typeface="Aptos" pitchFamily="34" charset="-122"/>
                <a:cs typeface="Aptos" pitchFamily="34" charset="-120"/>
              </a:rPr>
              <a:t>06 / EVIDENCE</a:t>
            </a:r>
            <a:endParaRPr lang="en-US" sz="1200" dirty="0"/>
          </a:p>
        </p:txBody>
      </p:sp>
      <p:sp>
        <p:nvSpPr>
          <p:cNvPr id="25" name="Text 23"/>
          <p:cNvSpPr/>
          <p:nvPr/>
        </p:nvSpPr>
        <p:spPr>
          <a:xfrm>
            <a:off x="777240" y="4361688"/>
            <a:ext cx="2788920" cy="530352"/>
          </a:xfrm>
          <a:prstGeom prst="rect">
            <a:avLst/>
          </a:prstGeom>
          <a:noFill/>
          <a:ln/>
        </p:spPr>
        <p:txBody>
          <a:bodyPr wrap="square" lIns="0" tIns="0" rIns="0" bIns="0" rtlCol="0" anchor="ctr"/>
          <a:lstStyle/>
          <a:p>
            <a:pPr indent="0" marL="0">
              <a:buNone/>
            </a:pPr>
            <a:r>
              <a:rPr lang="en-US" sz="2100" b="1" dirty="0">
                <a:solidFill>
                  <a:srgbClr val="142D3B"/>
                </a:solidFill>
                <a:latin typeface="Aptos" pitchFamily="34" charset="0"/>
                <a:ea typeface="Aptos" pitchFamily="34" charset="-122"/>
                <a:cs typeface="Aptos" pitchFamily="34" charset="-120"/>
              </a:rPr>
              <a:t>Full-horizon dance video</a:t>
            </a:r>
            <a:endParaRPr lang="en-US" sz="2100" dirty="0"/>
          </a:p>
        </p:txBody>
      </p:sp>
      <p:sp>
        <p:nvSpPr>
          <p:cNvPr id="26" name="Shape 24"/>
          <p:cNvSpPr/>
          <p:nvPr/>
        </p:nvSpPr>
        <p:spPr>
          <a:xfrm>
            <a:off x="3840480" y="2441448"/>
            <a:ext cx="566928" cy="0"/>
          </a:xfrm>
          <a:prstGeom prst="line">
            <a:avLst/>
          </a:prstGeom>
          <a:noFill/>
          <a:ln w="31750">
            <a:solidFill>
              <a:srgbClr val="087E8B"/>
            </a:solidFill>
            <a:prstDash val="solid"/>
            <a:tailEnd type="triangle"/>
          </a:ln>
        </p:spPr>
      </p:sp>
      <p:sp>
        <p:nvSpPr>
          <p:cNvPr id="27" name="Shape 25"/>
          <p:cNvSpPr/>
          <p:nvPr/>
        </p:nvSpPr>
        <p:spPr>
          <a:xfrm>
            <a:off x="7708392" y="2441448"/>
            <a:ext cx="576072" cy="0"/>
          </a:xfrm>
          <a:prstGeom prst="line">
            <a:avLst/>
          </a:prstGeom>
          <a:noFill/>
          <a:ln w="31750">
            <a:solidFill>
              <a:srgbClr val="087E8B"/>
            </a:solidFill>
            <a:prstDash val="solid"/>
            <a:tailEnd type="triangle"/>
          </a:ln>
        </p:spPr>
      </p:sp>
      <p:sp>
        <p:nvSpPr>
          <p:cNvPr id="28" name="Shape 26"/>
          <p:cNvSpPr/>
          <p:nvPr/>
        </p:nvSpPr>
        <p:spPr>
          <a:xfrm>
            <a:off x="9939528" y="3145536"/>
            <a:ext cx="0" cy="621792"/>
          </a:xfrm>
          <a:prstGeom prst="line">
            <a:avLst/>
          </a:prstGeom>
          <a:noFill/>
          <a:ln w="31750">
            <a:solidFill>
              <a:srgbClr val="087E8B"/>
            </a:solidFill>
            <a:prstDash val="solid"/>
            <a:tailEnd type="triangle"/>
          </a:ln>
        </p:spPr>
      </p:sp>
      <p:sp>
        <p:nvSpPr>
          <p:cNvPr id="29" name="Shape 27"/>
          <p:cNvSpPr/>
          <p:nvPr/>
        </p:nvSpPr>
        <p:spPr>
          <a:xfrm>
            <a:off x="7717536" y="4480560"/>
            <a:ext cx="530352" cy="0"/>
          </a:xfrm>
          <a:prstGeom prst="line">
            <a:avLst/>
          </a:prstGeom>
          <a:noFill/>
          <a:ln w="31750">
            <a:solidFill>
              <a:srgbClr val="087E8B"/>
            </a:solidFill>
            <a:prstDash val="solid"/>
            <a:headEnd type="triangle"/>
          </a:ln>
        </p:spPr>
      </p:sp>
      <p:sp>
        <p:nvSpPr>
          <p:cNvPr id="30" name="Shape 28"/>
          <p:cNvSpPr/>
          <p:nvPr/>
        </p:nvSpPr>
        <p:spPr>
          <a:xfrm>
            <a:off x="3840480" y="4480560"/>
            <a:ext cx="530352" cy="0"/>
          </a:xfrm>
          <a:prstGeom prst="line">
            <a:avLst/>
          </a:prstGeom>
          <a:noFill/>
          <a:ln w="31750">
            <a:solidFill>
              <a:srgbClr val="087E8B"/>
            </a:solidFill>
            <a:prstDash val="solid"/>
            <a:headEnd type="triangle"/>
          </a:ln>
        </p:spPr>
      </p:sp>
      <p:sp>
        <p:nvSpPr>
          <p:cNvPr id="31" name="Text 29"/>
          <p:cNvSpPr/>
          <p:nvPr/>
        </p:nvSpPr>
        <p:spPr>
          <a:xfrm>
            <a:off x="731520" y="5641848"/>
            <a:ext cx="10789920" cy="347472"/>
          </a:xfrm>
          <a:prstGeom prst="rect">
            <a:avLst/>
          </a:prstGeom>
          <a:noFill/>
          <a:ln/>
        </p:spPr>
        <p:txBody>
          <a:bodyPr wrap="square" lIns="0" tIns="0" rIns="0" bIns="0" rtlCol="0" anchor="ctr"/>
          <a:lstStyle/>
          <a:p>
            <a:pPr indent="0" marL="0">
              <a:buNone/>
            </a:pPr>
            <a:r>
              <a:rPr lang="en-US" sz="1900" b="1" dirty="0">
                <a:solidFill>
                  <a:srgbClr val="D96C35"/>
                </a:solidFill>
                <a:latin typeface="Aptos" pitchFamily="34" charset="0"/>
                <a:ea typeface="Aptos" pitchFamily="34" charset="-122"/>
                <a:cs typeface="Aptos" pitchFamily="34" charset="-120"/>
              </a:rPr>
              <a:t>Failure is data: change one cause, retrain, and repeat the same evaluation gates.</a:t>
            </a:r>
            <a:endParaRPr lang="en-US"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DANCE IMITATION: TIMED CHOREOGRAPHY AS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Build the case step by step  ·  1/2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08</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Hash the 60.923 s source clip and prepare a looping, unscaled eight-second excerpt sampled into 400 control-rate poses.</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2000" dirty="0">
                <a:solidFill>
                  <a:srgbClr val="142D3B"/>
                </a:solidFill>
                <a:latin typeface="Aptos" pitchFamily="34" charset="0"/>
                <a:ea typeface="Aptos" pitchFamily="34" charset="-122"/>
                <a:cs typeface="Aptos" pitchFamily="34" charset="-120"/>
              </a:rPr>
              <a:t>Create the Dance recipe with per-joint Gaussian pose precision sigma 0.2, 16 environments, 128-step rollouts, and fresh actor-critic weights.</a:t>
            </a:r>
            <a:endParaRPr lang="en-US" sz="20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1900" dirty="0">
                <a:solidFill>
                  <a:srgbClr val="142D3B"/>
                </a:solidFill>
                <a:latin typeface="Aptos" pitchFamily="34" charset="0"/>
                <a:ea typeface="Aptos" pitchFamily="34" charset="-122"/>
                <a:cs typeface="Aptos" pitchFamily="34" charset="-120"/>
              </a:rPr>
              <a:t>Train stochastic PPO while logging normalized collection reward, raw completed-episode return, and actual minibatch optimizer metrics separately.</a:t>
            </a:r>
            <a:endParaRPr lang="en-US" sz="19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Save checkpoints at rollout boundaries, including observation and reward normalization statistics and exact recipe metadata.</a:t>
            </a:r>
            <a:endParaRPr lang="en-US" sz="2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DANCE IMITATION: TIMED CHOREOGRAPHY AS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Build the case step by step  ·  2/2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09</a:t>
            </a:r>
            <a:endParaRPr lang="en-US" sz="1200" dirty="0"/>
          </a:p>
        </p:txBody>
      </p:sp>
      <p:sp>
        <p:nvSpPr>
          <p:cNvPr id="8" name="Shape 6"/>
          <p:cNvSpPr/>
          <p:nvPr/>
        </p:nvSpPr>
        <p:spPr>
          <a:xfrm>
            <a:off x="512064" y="1746504"/>
            <a:ext cx="11045952" cy="203911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185623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Export the deterministic actor mean to ONNX with observation normalization embedded; the critic and action sampling are not exported.</a:t>
            </a:r>
            <a:endParaRPr lang="en-US" sz="2100" dirty="0"/>
          </a:p>
        </p:txBody>
      </p:sp>
      <p:sp>
        <p:nvSpPr>
          <p:cNvPr id="11" name="Shape 9"/>
          <p:cNvSpPr/>
          <p:nvPr/>
        </p:nvSpPr>
        <p:spPr>
          <a:xfrm>
            <a:off x="512064" y="3895344"/>
            <a:ext cx="11045952" cy="2039112"/>
          </a:xfrm>
          <a:prstGeom prst="rect">
            <a:avLst/>
          </a:prstGeom>
          <a:solidFill>
            <a:srgbClr val="FFFFFF"/>
          </a:solidFill>
          <a:ln w="6350">
            <a:solidFill>
              <a:srgbClr val="FFFFFF"/>
            </a:solidFill>
            <a:prstDash val="solid"/>
          </a:ln>
        </p:spPr>
      </p:sp>
      <p:sp>
        <p:nvSpPr>
          <p:cNvPr id="12" name="Text 10"/>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3986784"/>
            <a:ext cx="9738360" cy="185623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Run strict complete-episode evaluation, then render the exported policy and independently compare trained, zero, untrained, and frozen-phase controls.</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DANCE IMITATION: TIMED CHOREOGRAPHY AS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PPO: improve the actor without trusting a huge step</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10</a:t>
            </a:r>
            <a:endParaRPr lang="en-US" sz="1200" dirty="0"/>
          </a:p>
        </p:txBody>
      </p:sp>
      <p:sp>
        <p:nvSpPr>
          <p:cNvPr id="8" name="Shape 6"/>
          <p:cNvSpPr/>
          <p:nvPr/>
        </p:nvSpPr>
        <p:spPr>
          <a:xfrm>
            <a:off x="594360" y="1810512"/>
            <a:ext cx="10972800" cy="932688"/>
          </a:xfrm>
          <a:prstGeom prst="rect">
            <a:avLst/>
          </a:prstGeom>
          <a:solidFill>
            <a:srgbClr val="142D3B"/>
          </a:solidFill>
          <a:ln w="6350">
            <a:solidFill>
              <a:srgbClr val="142D3B"/>
            </a:solidFill>
            <a:prstDash val="solid"/>
          </a:ln>
        </p:spPr>
      </p:sp>
      <p:sp>
        <p:nvSpPr>
          <p:cNvPr id="9" name="Text 7"/>
          <p:cNvSpPr/>
          <p:nvPr/>
        </p:nvSpPr>
        <p:spPr>
          <a:xfrm>
            <a:off x="914400" y="1975104"/>
            <a:ext cx="10241280" cy="502920"/>
          </a:xfrm>
          <a:prstGeom prst="rect">
            <a:avLst/>
          </a:prstGeom>
          <a:noFill/>
          <a:ln/>
        </p:spPr>
        <p:txBody>
          <a:bodyPr wrap="square" lIns="0" tIns="0" rIns="0" bIns="0" rtlCol="0" anchor="ctr"/>
          <a:lstStyle/>
          <a:p>
            <a:pPr indent="0" marL="0">
              <a:buNone/>
            </a:pPr>
            <a:r>
              <a:rPr lang="en-US" sz="2900" b="1" dirty="0">
                <a:solidFill>
                  <a:srgbClr val="FFFFFF"/>
                </a:solidFill>
                <a:latin typeface="Aptos" pitchFamily="34" charset="0"/>
                <a:ea typeface="Aptos" pitchFamily="34" charset="-122"/>
                <a:cs typeface="Aptos" pitchFamily="34" charset="-120"/>
              </a:rPr>
              <a:t>ratio = πnew(a | o) / πold(a | o)</a:t>
            </a:r>
            <a:endParaRPr lang="en-US" sz="2900" dirty="0"/>
          </a:p>
        </p:txBody>
      </p:sp>
      <p:sp>
        <p:nvSpPr>
          <p:cNvPr id="10" name="Text 8"/>
          <p:cNvSpPr/>
          <p:nvPr/>
        </p:nvSpPr>
        <p:spPr>
          <a:xfrm>
            <a:off x="731520" y="2971800"/>
            <a:ext cx="10789920" cy="640080"/>
          </a:xfrm>
          <a:prstGeom prst="rect">
            <a:avLst/>
          </a:prstGeom>
          <a:noFill/>
          <a:ln/>
        </p:spPr>
        <p:txBody>
          <a:bodyPr wrap="square" lIns="0" tIns="0" rIns="0" bIns="0" rtlCol="0" anchor="ctr"/>
          <a:lstStyle/>
          <a:p>
            <a:pPr indent="0" marL="0">
              <a:buNone/>
            </a:pPr>
            <a:r>
              <a:rPr lang="en-US" sz="2500" b="1" dirty="0">
                <a:solidFill>
                  <a:srgbClr val="142D3B"/>
                </a:solidFill>
                <a:latin typeface="Aptos" pitchFamily="34" charset="0"/>
                <a:ea typeface="Aptos" pitchFamily="34" charset="-122"/>
                <a:cs typeface="Aptos" pitchFamily="34" charset="-120"/>
              </a:rPr>
              <a:t>Maximize mean[min(ratio × A, clip(ratio, 1 − ε, 1 + ε) × A)]</a:t>
            </a:r>
            <a:endParaRPr lang="en-US" sz="2500" dirty="0"/>
          </a:p>
        </p:txBody>
      </p:sp>
      <p:sp>
        <p:nvSpPr>
          <p:cNvPr id="11" name="Text 9"/>
          <p:cNvSpPr/>
          <p:nvPr/>
        </p:nvSpPr>
        <p:spPr>
          <a:xfrm>
            <a:off x="731520" y="3904488"/>
            <a:ext cx="10789920" cy="640080"/>
          </a:xfrm>
          <a:prstGeom prst="rect">
            <a:avLst/>
          </a:prstGeom>
          <a:noFill/>
          <a:ln/>
        </p:spPr>
        <p:txBody>
          <a:bodyPr wrap="square" lIns="0" tIns="0" rIns="0" bIns="0" rtlCol="0" anchor="ctr"/>
          <a:lstStyle/>
          <a:p>
            <a:pPr indent="0" marL="0">
              <a:buNone/>
            </a:pPr>
            <a:r>
              <a:rPr lang="en-US" sz="2300" dirty="0">
                <a:solidFill>
                  <a:srgbClr val="142D3B"/>
                </a:solidFill>
                <a:latin typeface="Aptos" pitchFamily="34" charset="0"/>
                <a:ea typeface="Aptos" pitchFamily="34" charset="-122"/>
                <a:cs typeface="Aptos" pitchFamily="34" charset="-120"/>
              </a:rPr>
              <a:t>Actor: chooses joint actions.   Critic: estimates future discounted reward.</a:t>
            </a:r>
            <a:endParaRPr lang="en-US" sz="2300" dirty="0"/>
          </a:p>
        </p:txBody>
      </p:sp>
      <p:sp>
        <p:nvSpPr>
          <p:cNvPr id="12" name="Text 10"/>
          <p:cNvSpPr/>
          <p:nvPr/>
        </p:nvSpPr>
        <p:spPr>
          <a:xfrm>
            <a:off x="731520" y="4809744"/>
            <a:ext cx="10789920" cy="731520"/>
          </a:xfrm>
          <a:prstGeom prst="rect">
            <a:avLst/>
          </a:prstGeom>
          <a:noFill/>
          <a:ln/>
        </p:spPr>
        <p:txBody>
          <a:bodyPr wrap="square" lIns="0" tIns="0" rIns="0" bIns="0" rtlCol="0" anchor="ctr"/>
          <a:lstStyle/>
          <a:p>
            <a:pPr indent="0" marL="0">
              <a:buNone/>
            </a:pPr>
            <a:r>
              <a:rPr lang="en-US" sz="2200" dirty="0">
                <a:solidFill>
                  <a:srgbClr val="566C79"/>
                </a:solidFill>
                <a:latin typeface="Aptos" pitchFamily="34" charset="0"/>
                <a:ea typeface="Aptos" pitchFamily="34" charset="-122"/>
                <a:cs typeface="Aptos" pitchFamily="34" charset="-120"/>
              </a:rPr>
              <a:t>A = advantage.  ε = clipping range.  Old log probabilities stay fixed for each collected batch.</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DANCE IMITATION: TIMED CHOREOGRAPHY AS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Follow one rollout through the learner</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11</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000" dirty="0">
                <a:solidFill>
                  <a:srgbClr val="142D3B"/>
                </a:solidFill>
                <a:latin typeface="Aptos" pitchFamily="34" charset="0"/>
                <a:ea typeface="Aptos" pitchFamily="34" charset="-122"/>
                <a:cs typeface="Aptos" pitchFamily="34" charset="-120"/>
              </a:rPr>
              <a:t>Collect observations, sampled actions, old log probabilities, values, rewards and episode-boundary flags using the current stochastic actor.</a:t>
            </a:r>
            <a:endParaRPr lang="en-US" sz="20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1750" dirty="0">
                <a:solidFill>
                  <a:srgbClr val="142D3B"/>
                </a:solidFill>
                <a:latin typeface="Aptos" pitchFamily="34" charset="0"/>
                <a:ea typeface="Aptos" pitchFamily="34" charset="-122"/>
                <a:cs typeface="Aptos" pitchFamily="34" charset="-120"/>
              </a:rPr>
              <a:t>Compute TD residuals and generalized advantage estimates (GAE). A true terminal has zero continuation value; a timeout may bootstrap the saved final observation.</a:t>
            </a:r>
            <a:endParaRPr lang="en-US" sz="17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Cut advantage traces at reset boundaries. Never bootstrap a timeout from the first observation of the next episode.</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1800" dirty="0">
                <a:solidFill>
                  <a:srgbClr val="142D3B"/>
                </a:solidFill>
                <a:latin typeface="Aptos" pitchFamily="34" charset="0"/>
                <a:ea typeface="Aptos" pitchFamily="34" charset="-122"/>
                <a:cs typeface="Aptos" pitchFamily="34" charset="-120"/>
              </a:rPr>
              <a:t>Reuse this batch for PPO minibatch updates, then collect fresh on-policy data. Export the deterministic actor and its observation transform for evaluation.</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DANCE IMITATION: TIMED CHOREOGRAPHY AS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Paper exercise: count samples and clip the objective</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12</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Illustrative arithmetic, NOT this run: 16 environments × 128 steps = 2,048 fresh transitions per rollout. Four epochs reuse those transitions; they do not create 8,192 new samples.</a:t>
            </a:r>
            <a:endParaRPr lang="en-US" sz="165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2050" dirty="0">
                <a:solidFill>
                  <a:srgbClr val="142D3B"/>
                </a:solidFill>
                <a:latin typeface="Aptos" pitchFamily="34" charset="0"/>
                <a:ea typeface="Aptos" pitchFamily="34" charset="-122"/>
                <a:cs typeface="Aptos" pitchFamily="34" charset="-120"/>
              </a:rPr>
              <a:t>With ε = 0.2, ratio = 1.4 and A = +2: min(2.8, 2.4) = 2.4. The minimized policy term is −2.4 before averaging and additional loss terms.</a:t>
            </a:r>
            <a:endParaRPr lang="en-US" sz="20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With the same ratio and A = −2: min(−2.8, −2.4) = −2.8. Explain why clipping is asymmetric once the sign of the advantage changes.</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1850" dirty="0">
                <a:solidFill>
                  <a:srgbClr val="142D3B"/>
                </a:solidFill>
                <a:latin typeface="Aptos" pitchFamily="34" charset="0"/>
                <a:ea typeface="Aptos" pitchFamily="34" charset="-122"/>
                <a:cs typeface="Aptos" pitchFamily="34" charset="-120"/>
              </a:rPr>
              <a:t>Run from repo root: python3 docs/microduck-training-student-book/learning_lab.py --gae. This is a deterministic arithmetic lab, not new policy training.</a:t>
            </a:r>
            <a:endParaRPr lang="en-US" sz="1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DANCE IMITATION: TIMED CHOREOGRAPHY AS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Reward design: what the agent is paid to do  ·  1/2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13</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pose_match 40: mean over joints of exp(-((q - q_ref)/0.2)^2), replacing the broader inherited pose kernel.</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rotation_match 4: rewards agreement with the clip's reference root pitch.</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on_feet 5: rewards supported, upright physical execution while following the choreography.</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no_slip 0.5 and no_spin 0.3: non-positive penalties for foot slip and excessive spin.</a:t>
            </a:r>
            <a:endParaRPr lang="en-US" sz="2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DANCE IMITATION: TIMED CHOREOGRAPHY AS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Reward design: what the agent is paid to do  ·  2/2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14</a:t>
            </a:r>
            <a:endParaRPr lang="en-US" sz="1200" dirty="0"/>
          </a:p>
        </p:txBody>
      </p:sp>
      <p:sp>
        <p:nvSpPr>
          <p:cNvPr id="8" name="Shape 6"/>
          <p:cNvSpPr/>
          <p:nvPr/>
        </p:nvSpPr>
        <p:spPr>
          <a:xfrm>
            <a:off x="512064" y="1746504"/>
            <a:ext cx="11045952" cy="203911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185623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gentle_head 1, soft_landings 0.75, no_limit_parking 1, and save_energy 0.0005 are active penalty terms.</a:t>
            </a:r>
            <a:endParaRPr lang="en-US" sz="2100" dirty="0"/>
          </a:p>
        </p:txBody>
      </p:sp>
      <p:sp>
        <p:nvSpPr>
          <p:cNvPr id="11" name="Shape 9"/>
          <p:cNvSpPr/>
          <p:nvPr/>
        </p:nvSpPr>
        <p:spPr>
          <a:xfrm>
            <a:off x="512064" y="3895344"/>
            <a:ext cx="11045952" cy="2039112"/>
          </a:xfrm>
          <a:prstGeom prst="rect">
            <a:avLst/>
          </a:prstGeom>
          <a:solidFill>
            <a:srgbClr val="FFFFFF"/>
          </a:solidFill>
          <a:ln w="6350">
            <a:solidFill>
              <a:srgbClr val="FFFFFF"/>
            </a:solidFill>
            <a:prstDash val="solid"/>
          </a:ln>
        </p:spPr>
      </p:sp>
      <p:sp>
        <p:nvSpPr>
          <p:cNvPr id="12" name="Text 10"/>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3986784"/>
            <a:ext cx="9738360" cy="185623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travel 0 disables forward-travel reward; stick_it 5 is present but inactive because the selected reference loops.</a:t>
            </a:r>
            <a:endParaRPr lang="en-US" sz="2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DANCE IMITATION: TIMED CHOREOGRAPHY AS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Recorded training recipe  ·  1/2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15</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1900" dirty="0">
                <a:solidFill>
                  <a:srgbClr val="142D3B"/>
                </a:solidFill>
                <a:latin typeface="Aptos" pitchFamily="34" charset="0"/>
                <a:ea typeface="Aptos" pitchFamily="34" charset="-122"/>
                <a:cs typeface="Aptos" pitchFamily="34" charset="-120"/>
              </a:rPr>
              <a:t>Actual selected run: seed 7, fresh PPO, 4,001,792 transitions, 16 fork environments, 128 steps per environment, and 2,048 transitions per rollout.</a:t>
            </a:r>
            <a:endParaRPr lang="en-US" sz="19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PPO uses 4 minibatches x 4 epochs: 512 rows per minibatch, 16 optimizer steps per rollout, 1,954 rollouts, and 31,264 optimizer steps.</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Learning rate 0.0001; gamma 0.99; GAE lambda 0.95; clip 0.2; value coefficient 1; entropy coefficient 0; max gradient norm 0.5.</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Initial action standard deviation is 0.1; actor and critic are separate 61-512-256-128 networks with ELU activations.</a:t>
            </a:r>
            <a:endParaRPr lang="en-US" sz="2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DANCE IMITATION: TIMED CHOREOGRAPHY AS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Recorded training recipe  ·  2/2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16</a:t>
            </a:r>
            <a:endParaRPr lang="en-US" sz="1200" dirty="0"/>
          </a:p>
        </p:txBody>
      </p:sp>
      <p:sp>
        <p:nvSpPr>
          <p:cNvPr id="8" name="Shape 6"/>
          <p:cNvSpPr/>
          <p:nvPr/>
        </p:nvSpPr>
        <p:spPr>
          <a:xfrm>
            <a:off x="512064" y="1746504"/>
            <a:ext cx="11045952" cy="203911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185623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Observation and discounted-return reward normalization are enabled; observation statistics are frozen into the exported ONNX graph.</a:t>
            </a:r>
            <a:endParaRPr lang="en-US" sz="2100" dirty="0"/>
          </a:p>
        </p:txBody>
      </p:sp>
      <p:sp>
        <p:nvSpPr>
          <p:cNvPr id="11" name="Shape 9"/>
          <p:cNvSpPr/>
          <p:nvPr/>
        </p:nvSpPr>
        <p:spPr>
          <a:xfrm>
            <a:off x="512064" y="3895344"/>
            <a:ext cx="11045952" cy="2039112"/>
          </a:xfrm>
          <a:prstGeom prst="rect">
            <a:avLst/>
          </a:prstGeom>
          <a:solidFill>
            <a:srgbClr val="FFFFFF"/>
          </a:solidFill>
          <a:ln w="6350">
            <a:solidFill>
              <a:srgbClr val="FFFFFF"/>
            </a:solidFill>
            <a:prstDash val="solid"/>
          </a:ln>
        </p:spPr>
      </p:sp>
      <p:sp>
        <p:nvSpPr>
          <p:cNvPr id="12" name="Text 10"/>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3986784"/>
            <a:ext cx="9738360" cy="185623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Update log fields are phase, steps, seconds, optimizer_steps, mean_loss, policy_loss, value_loss, entropy, approximate_kl, clip_fraction, explained_variance, env_steps.</a:t>
            </a:r>
            <a:endParaRPr lang="en-US" sz="2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COPYABLE COMMANDS ALSO IN INSTRUCTOR GUIDE  /  DANCE IMITATION: TIMED CHOREOGRAPHY AS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Hands-on commands: inspect, smoke, train  ·  1/3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17</a:t>
            </a:r>
            <a:endParaRPr lang="en-US" sz="1200" dirty="0"/>
          </a:p>
        </p:txBody>
      </p:sp>
      <p:sp>
        <p:nvSpPr>
          <p:cNvPr id="8" name="Shape 6"/>
          <p:cNvSpPr/>
          <p:nvPr/>
        </p:nvSpPr>
        <p:spPr>
          <a:xfrm>
            <a:off x="512064" y="1746504"/>
            <a:ext cx="11045952" cy="203911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185623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From .:</a:t>
            </a:r>
            <a:endParaRPr lang="en-US" sz="1400" dirty="0"/>
          </a:p>
          <a:p>
            <a:pPr indent="0" marL="0">
              <a:buNone/>
            </a:pPr>
            <a:r>
              <a:rPr lang="en-US" sz="1400" dirty="0">
                <a:solidFill>
                  <a:srgbClr val="142D3B"/>
                </a:solidFill>
                <a:latin typeface="Menlo" pitchFamily="34" charset="0"/>
                <a:ea typeface="Menlo" pitchFamily="34" charset="-122"/>
                <a:cs typeface="Menlo" pitchFamily="34" charset="-120"/>
              </a:rPr>
              <a:t>./scripts/train-dance.sh --dry-run</a:t>
            </a:r>
            <a:endParaRPr lang="en-US" sz="1400" dirty="0"/>
          </a:p>
          <a:p>
            <a:pPr indent="0" marL="0">
              <a:buNone/>
            </a:pPr>
            <a:r>
              <a:rPr lang="en-US" sz="1400" dirty="0">
                <a:solidFill>
                  <a:srgbClr val="142D3B"/>
                </a:solidFill>
                <a:latin typeface="Menlo" pitchFamily="34" charset="0"/>
                <a:ea typeface="Menlo" pitchFamily="34" charset="-122"/>
                <a:cs typeface="Menlo" pitchFamily="34" charset="-120"/>
              </a:rPr>
              <a:t>Inspect the current bundled Dance pipeline without training.</a:t>
            </a:r>
            <a:endParaRPr lang="en-US" sz="1400" dirty="0"/>
          </a:p>
        </p:txBody>
      </p:sp>
      <p:sp>
        <p:nvSpPr>
          <p:cNvPr id="11" name="Shape 9"/>
          <p:cNvSpPr/>
          <p:nvPr/>
        </p:nvSpPr>
        <p:spPr>
          <a:xfrm>
            <a:off x="512064" y="3895344"/>
            <a:ext cx="11045952" cy="2039112"/>
          </a:xfrm>
          <a:prstGeom prst="rect">
            <a:avLst/>
          </a:prstGeom>
          <a:solidFill>
            <a:srgbClr val="FFFFFF"/>
          </a:solidFill>
          <a:ln w="6350">
            <a:solidFill>
              <a:srgbClr val="FFFFFF"/>
            </a:solidFill>
            <a:prstDash val="solid"/>
          </a:ln>
        </p:spPr>
      </p:sp>
      <p:sp>
        <p:nvSpPr>
          <p:cNvPr id="12" name="Text 10"/>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3986784"/>
            <a:ext cx="9738360" cy="185623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From .:</a:t>
            </a:r>
            <a:endParaRPr lang="en-US" sz="1400" dirty="0"/>
          </a:p>
          <a:p>
            <a:pPr indent="0" marL="0">
              <a:buNone/>
            </a:pPr>
            <a:r>
              <a:rPr lang="en-US" sz="1400" dirty="0">
                <a:solidFill>
                  <a:srgbClr val="142D3B"/>
                </a:solidFill>
                <a:latin typeface="Menlo" pitchFamily="34" charset="0"/>
                <a:ea typeface="Menlo" pitchFamily="34" charset="-122"/>
                <a:cs typeface="Menlo" pitchFamily="34" charset="-120"/>
              </a:rPr>
              <a:t>./scripts/train-dance.sh</a:t>
            </a:r>
            <a:endParaRPr lang="en-US" sz="1400" dirty="0"/>
          </a:p>
          <a:p>
            <a:pPr indent="0" marL="0">
              <a:buNone/>
            </a:pPr>
            <a:r>
              <a:rPr lang="en-US" sz="1400" dirty="0">
                <a:solidFill>
                  <a:srgbClr val="142D3B"/>
                </a:solidFill>
                <a:latin typeface="Menlo" pitchFamily="34" charset="0"/>
                <a:ea typeface="Menlo" pitchFamily="34" charset="-122"/>
                <a:cs typeface="Menlo" pitchFamily="34" charset="-120"/>
              </a:rPr>
              <a:t>Run the current independent Full Dance pipeline with a fresh timestamped output.</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COPYABLE COMMANDS ALSO IN INSTRUCTOR GUIDE  /  DANCE IMITATION: TIMED CHOREOGRAPHY AS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Hands-on commands: inspect, smoke, train  ·  2/3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18</a:t>
            </a:r>
            <a:endParaRPr lang="en-US" sz="1200" dirty="0"/>
          </a:p>
        </p:txBody>
      </p:sp>
      <p:sp>
        <p:nvSpPr>
          <p:cNvPr id="8" name="Shape 6"/>
          <p:cNvSpPr/>
          <p:nvPr/>
        </p:nvSpPr>
        <p:spPr>
          <a:xfrm>
            <a:off x="512064" y="1746504"/>
            <a:ext cx="11045952" cy="203911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0" name="Text 8"/>
          <p:cNvSpPr/>
          <p:nvPr/>
        </p:nvSpPr>
        <p:spPr>
          <a:xfrm>
            <a:off x="1435608" y="1837944"/>
            <a:ext cx="9738360" cy="185623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From .:</a:t>
            </a:r>
            <a:endParaRPr lang="en-US" sz="1400" dirty="0"/>
          </a:p>
          <a:p>
            <a:pPr indent="0" marL="0">
              <a:buNone/>
            </a:pPr>
            <a:r>
              <a:rPr lang="en-US" sz="1400" dirty="0">
                <a:solidFill>
                  <a:srgbClr val="142D3B"/>
                </a:solidFill>
                <a:latin typeface="Menlo" pitchFamily="34" charset="0"/>
                <a:ea typeface="Menlo" pitchFamily="34" charset="-122"/>
                <a:cs typeface="Menlo" pitchFamily="34" charset="-120"/>
              </a:rPr>
              <a:t>rlx/.venv-microduck/bin/python rlx/scripts/dance_e2e.py --source dance-clip/bachata_microduck_v2.clip.json --output rlx/artifacts/dance-reproduction-YYYYMMDD-HHMMSS --seconds 8 --train-steps 4001792 --run-name dance-e2e-reproduction-YYYYMMDD-HHMMSS</a:t>
            </a:r>
            <a:endParaRPr lang="en-US" sz="1400" dirty="0"/>
          </a:p>
          <a:p>
            <a:pPr indent="0" marL="0">
              <a:buNone/>
            </a:pPr>
            <a:r>
              <a:rPr lang="en-US" sz="1400" dirty="0">
                <a:solidFill>
                  <a:srgbClr val="142D3B"/>
                </a:solidFill>
                <a:latin typeface="Menlo" pitchFamily="34" charset="0"/>
                <a:ea typeface="Menlo" pitchFamily="34" charset="-122"/>
                <a:cs typeface="Menlo" pitchFamily="34" charset="-120"/>
              </a:rPr>
              <a:t>Prepare the exact historical eight-second Bachata reference and recipe; replace the timestamp token consistently.</a:t>
            </a:r>
            <a:endParaRPr lang="en-US" sz="1400" dirty="0"/>
          </a:p>
        </p:txBody>
      </p:sp>
      <p:sp>
        <p:nvSpPr>
          <p:cNvPr id="11" name="Shape 9"/>
          <p:cNvSpPr/>
          <p:nvPr/>
        </p:nvSpPr>
        <p:spPr>
          <a:xfrm>
            <a:off x="512064" y="3895344"/>
            <a:ext cx="11045952" cy="2039112"/>
          </a:xfrm>
          <a:prstGeom prst="rect">
            <a:avLst/>
          </a:prstGeom>
          <a:solidFill>
            <a:srgbClr val="FFFFFF"/>
          </a:solidFill>
          <a:ln w="6350">
            <a:solidFill>
              <a:srgbClr val="FFFFFF"/>
            </a:solidFill>
            <a:prstDash val="solid"/>
          </a:ln>
        </p:spPr>
      </p:sp>
      <p:sp>
        <p:nvSpPr>
          <p:cNvPr id="12" name="Text 10"/>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3" name="Text 11"/>
          <p:cNvSpPr/>
          <p:nvPr/>
        </p:nvSpPr>
        <p:spPr>
          <a:xfrm>
            <a:off x="1435608" y="3986784"/>
            <a:ext cx="9738360" cy="185623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From .:</a:t>
            </a:r>
            <a:endParaRPr lang="en-US" sz="1400" dirty="0"/>
          </a:p>
          <a:p>
            <a:pPr indent="0" marL="0">
              <a:buNone/>
            </a:pPr>
            <a:r>
              <a:rPr lang="en-US" sz="1400" dirty="0">
                <a:solidFill>
                  <a:srgbClr val="142D3B"/>
                </a:solidFill>
                <a:latin typeface="Menlo" pitchFamily="34" charset="0"/>
                <a:ea typeface="Menlo" pitchFamily="34" charset="-122"/>
                <a:cs typeface="Menlo" pitchFamily="34" charset="-120"/>
              </a:rPr>
              <a:t>rlx/.venv-microduck/bin/python rlx/scripts/audit_dance.py --run rlx/runs/studio/dance/dance-e2e-reproduction-YYYYMMDD-HHMMSS --recipe rlx/artifacts/dance-reproduction-YYYYMMDD-HHMMSS/recipe.json --output rlx/artifacts/dance-reproduction-YYYYMMDD-HHMMSS/audit --seeds 101 102 103 104 105 --history-stride 2 --render</a:t>
            </a:r>
            <a:endParaRPr lang="en-US" sz="1400" dirty="0"/>
          </a:p>
          <a:p>
            <a:pPr indent="0" marL="0">
              <a:buNone/>
            </a:pPr>
            <a:r>
              <a:rPr lang="en-US" sz="1400" dirty="0">
                <a:solidFill>
                  <a:srgbClr val="142D3B"/>
                </a:solidFill>
                <a:latin typeface="Menlo" pitchFamily="34" charset="0"/>
                <a:ea typeface="Menlo" pitchFamily="34" charset="-122"/>
                <a:cs typeface="Menlo" pitchFamily="34" charset="-120"/>
              </a:rPr>
              <a:t>Audit a completed exact-recipe reproduction over held-out seeds without further PPO training.</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COPYABLE COMMANDS ALSO IN INSTRUCTOR GUIDE  /  DANCE IMITATION: TIMED CHOREOGRAPHY AS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Hands-on commands: inspect, smoke, train  ·  3/3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19</a:t>
            </a:r>
            <a:endParaRPr lang="en-US" sz="1200" dirty="0"/>
          </a:p>
        </p:txBody>
      </p:sp>
      <p:sp>
        <p:nvSpPr>
          <p:cNvPr id="8" name="Shape 6"/>
          <p:cNvSpPr/>
          <p:nvPr/>
        </p:nvSpPr>
        <p:spPr>
          <a:xfrm>
            <a:off x="512064" y="1746504"/>
            <a:ext cx="11045952" cy="418795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400507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From .:</a:t>
            </a:r>
            <a:endParaRPr lang="en-US" sz="1400" dirty="0"/>
          </a:p>
          <a:p>
            <a:pPr indent="0" marL="0">
              <a:buNone/>
            </a:pPr>
            <a:r>
              <a:rPr lang="en-US" sz="1400" dirty="0">
                <a:solidFill>
                  <a:srgbClr val="142D3B"/>
                </a:solidFill>
                <a:latin typeface="Menlo" pitchFamily="34" charset="0"/>
                <a:ea typeface="Menlo" pitchFamily="34" charset="-122"/>
                <a:cs typeface="Menlo" pitchFamily="34" charset="-120"/>
              </a:rPr>
              <a:t>rlx/.venv-microduck/bin/python -m pytest rlx/tests/test_dance_evaluation.py rlx/tests/test_dance_pipeline.py rlx/tests/test_microduck_dance.py</a:t>
            </a:r>
            <a:endParaRPr lang="en-US" sz="1400" dirty="0"/>
          </a:p>
          <a:p>
            <a:pPr indent="0" marL="0">
              <a:buNone/>
            </a:pPr>
            <a:r>
              <a:rPr lang="en-US" sz="1400" dirty="0">
                <a:solidFill>
                  <a:srgbClr val="142D3B"/>
                </a:solidFill>
                <a:latin typeface="Menlo" pitchFamily="34" charset="0"/>
                <a:ea typeface="Menlo" pitchFamily="34" charset="-122"/>
                <a:cs typeface="Menlo" pitchFamily="34" charset="-120"/>
              </a:rPr>
              <a:t>Run focused Dance contract and evaluation tests.</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MEASURED TRAINING LOGS  /  DANCE IMITATION: TIMED CHOREOGRAPHY AS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Reward: does the logged signal match the task?</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20</a:t>
            </a:r>
            <a:endParaRPr lang="en-US" sz="1200" dirty="0"/>
          </a:p>
        </p:txBody>
      </p:sp>
      <p:pic>
        <p:nvPicPr>
          <p:cNvPr id="8" name="Image 0" descr="/Volumes/ExternalSSD/geoagent/microduck-lab/docs/classroom-ppt/assets/dance/reward.png">    </p:cNvPr>
          <p:cNvPicPr>
            <a:picLocks noChangeAspect="1"/>
          </p:cNvPicPr>
          <p:nvPr/>
        </p:nvPicPr>
        <p:blipFill>
          <a:blip r:embed="rId1"/>
          <a:stretch>
            <a:fillRect/>
          </a:stretch>
        </p:blipFill>
        <p:spPr>
          <a:xfrm>
            <a:off x="621792" y="1673352"/>
            <a:ext cx="10954512" cy="4178808"/>
          </a:xfrm>
          <a:prstGeom prst="rect">
            <a:avLst/>
          </a:prstGeom>
        </p:spPr>
      </p:pic>
      <p:sp>
        <p:nvSpPr>
          <p:cNvPr id="9" name="Text 6"/>
          <p:cNvSpPr/>
          <p:nvPr/>
        </p:nvSpPr>
        <p:spPr>
          <a:xfrm>
            <a:off x="731520" y="5907024"/>
            <a:ext cx="10744200" cy="347472"/>
          </a:xfrm>
          <a:prstGeom prst="rect">
            <a:avLst/>
          </a:prstGeom>
          <a:noFill/>
          <a:ln/>
        </p:spPr>
        <p:txBody>
          <a:bodyPr wrap="square" lIns="0" tIns="0" rIns="0" bIns="0" rtlCol="0" anchor="ctr"/>
          <a:lstStyle/>
          <a:p>
            <a:pPr indent="0" marL="0">
              <a:buNone/>
            </a:pPr>
            <a:r>
              <a:rPr lang="en-US" sz="1200" dirty="0">
                <a:solidFill>
                  <a:srgbClr val="566C79"/>
                </a:solidFill>
                <a:latin typeface="Aptos" pitchFamily="34" charset="0"/>
                <a:ea typeface="Aptos" pitchFamily="34" charset="-122"/>
                <a:cs typeface="Aptos" pitchFamily="34" charset="-120"/>
              </a:rPr>
              <a:t>Training reward is an optimization signal, not the acceptance test. See raw/&lt;case&gt;/ for complete recorded fields.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MEASURED TRAINING LOGS  /  DANCE IMITATION: TIMED CHOREOGRAPHY AS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Loss: inspect actor, critic and policy drift</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21</a:t>
            </a:r>
            <a:endParaRPr lang="en-US" sz="1200" dirty="0"/>
          </a:p>
        </p:txBody>
      </p:sp>
      <p:pic>
        <p:nvPicPr>
          <p:cNvPr id="8" name="Image 0" descr="/Volumes/ExternalSSD/geoagent/microduck-lab/docs/classroom-ppt/assets/dance/loss.png">    </p:cNvPr>
          <p:cNvPicPr>
            <a:picLocks noChangeAspect="1"/>
          </p:cNvPicPr>
          <p:nvPr/>
        </p:nvPicPr>
        <p:blipFill>
          <a:blip r:embed="rId1"/>
          <a:stretch>
            <a:fillRect/>
          </a:stretch>
        </p:blipFill>
        <p:spPr>
          <a:xfrm>
            <a:off x="621792" y="1673352"/>
            <a:ext cx="10954512" cy="4178808"/>
          </a:xfrm>
          <a:prstGeom prst="rect">
            <a:avLst/>
          </a:prstGeom>
        </p:spPr>
      </p:pic>
      <p:sp>
        <p:nvSpPr>
          <p:cNvPr id="9" name="Text 6"/>
          <p:cNvSpPr/>
          <p:nvPr/>
        </p:nvSpPr>
        <p:spPr>
          <a:xfrm>
            <a:off x="731520" y="5907024"/>
            <a:ext cx="10744200" cy="347472"/>
          </a:xfrm>
          <a:prstGeom prst="rect">
            <a:avLst/>
          </a:prstGeom>
          <a:noFill/>
          <a:ln/>
        </p:spPr>
        <p:txBody>
          <a:bodyPr wrap="square" lIns="0" tIns="0" rIns="0" bIns="0" rtlCol="0" anchor="ctr"/>
          <a:lstStyle/>
          <a:p>
            <a:pPr indent="0" marL="0">
              <a:buNone/>
            </a:pPr>
            <a:r>
              <a:rPr lang="en-US" sz="1200" dirty="0">
                <a:solidFill>
                  <a:srgbClr val="566C79"/>
                </a:solidFill>
                <a:latin typeface="Aptos" pitchFamily="34" charset="0"/>
                <a:ea typeface="Aptos" pitchFamily="34" charset="-122"/>
                <a:cs typeface="Aptos" pitchFamily="34" charset="-120"/>
              </a:rPr>
              <a:t>A lower loss does not prove a better robot skill. Loss sign and scale depend on the implementation.</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MEASURED TRAINING LOGS  /  DANCE IMITATION: TIMED CHOREOGRAPHY AS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Diagnostics: is the optimizer behaving?</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22</a:t>
            </a:r>
            <a:endParaRPr lang="en-US" sz="1200" dirty="0"/>
          </a:p>
        </p:txBody>
      </p:sp>
      <p:pic>
        <p:nvPicPr>
          <p:cNvPr id="8" name="Image 0" descr="/Volumes/ExternalSSD/geoagent/microduck-lab/docs/classroom-ppt/assets/dance/diagnostics.png">    </p:cNvPr>
          <p:cNvPicPr>
            <a:picLocks noChangeAspect="1"/>
          </p:cNvPicPr>
          <p:nvPr/>
        </p:nvPicPr>
        <p:blipFill>
          <a:blip r:embed="rId1"/>
          <a:stretch>
            <a:fillRect/>
          </a:stretch>
        </p:blipFill>
        <p:spPr>
          <a:xfrm>
            <a:off x="621792" y="1673352"/>
            <a:ext cx="10954512" cy="4178808"/>
          </a:xfrm>
          <a:prstGeom prst="rect">
            <a:avLst/>
          </a:prstGeom>
        </p:spPr>
      </p:pic>
      <p:sp>
        <p:nvSpPr>
          <p:cNvPr id="9" name="Text 6"/>
          <p:cNvSpPr/>
          <p:nvPr/>
        </p:nvSpPr>
        <p:spPr>
          <a:xfrm>
            <a:off x="731520" y="5907024"/>
            <a:ext cx="10744200" cy="347472"/>
          </a:xfrm>
          <a:prstGeom prst="rect">
            <a:avLst/>
          </a:prstGeom>
          <a:noFill/>
          <a:ln/>
        </p:spPr>
        <p:txBody>
          <a:bodyPr wrap="square" lIns="0" tIns="0" rIns="0" bIns="0" rtlCol="0" anchor="ctr"/>
          <a:lstStyle/>
          <a:p>
            <a:pPr indent="0" marL="0">
              <a:buNone/>
            </a:pPr>
            <a:r>
              <a:rPr lang="en-US" sz="1200" dirty="0">
                <a:solidFill>
                  <a:srgbClr val="566C79"/>
                </a:solidFill>
                <a:latin typeface="Aptos" pitchFamily="34" charset="0"/>
                <a:ea typeface="Aptos" pitchFamily="34" charset="-122"/>
                <a:cs typeface="Aptos" pitchFamily="34" charset="-120"/>
              </a:rPr>
              <a:t>Entropy, clipping, explained variance and timing are diagnostics — not a standalone pass/fail certificate.</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DANCE IMITATION: TIMED CHOREOGRAPHY AS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Metric matrix: numerical audit of this trace  ·  1/3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23</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approximate_kl: first 7.759 → final 0.08225; min 0.03034, max 7.759; 1954 logged samples.</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clip_fraction: first 0.9050 → final 0.4437; min 0.3440, max 0.9050; 1954 logged samples.</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entropy: first -12.38 → final -14.10; min -14.10, max -12.27; 1954 logged samples.</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explained_variance: first -0.006817 → final 0.9283; min -0.1084, max 0.9960; 1954 logged samples.</a:t>
            </a:r>
            <a:endParaRPr lang="en-US" sz="2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DANCE IMITATION: TIMED CHOREOGRAPHY AS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Metric matrix: numerical audit of this trace  ·  2/3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24</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mean_loss: first 2.261 → final 0.01790; min -0.03312, max 2.261; 1954 logged samples.</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mean_raw_return: first 1234 → final 5343; min 940.8, max 1.788e+4; 11820 logged samples.</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07</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mean_reward: first 0.2507 → final 0.04188; min 0.03332, max 0.2507; 1954 logged samples.</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08</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policy_loss: first 0.08514 → final -0.01620; min -0.03472, max 0.1133; 1954 logged samples.</a:t>
            </a:r>
            <a:endParaRPr lang="en-US" sz="2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DANCE IMITATION: TIMED CHOREOGRAPHY AS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Metric matrix: numerical audit of this trace  ·  3/3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25</a:t>
            </a:r>
            <a:endParaRPr lang="en-US" sz="1200" dirty="0"/>
          </a:p>
        </p:txBody>
      </p:sp>
      <p:sp>
        <p:nvSpPr>
          <p:cNvPr id="8" name="Shape 6"/>
          <p:cNvSpPr/>
          <p:nvPr/>
        </p:nvSpPr>
        <p:spPr>
          <a:xfrm>
            <a:off x="512064" y="1746504"/>
            <a:ext cx="11045952" cy="418795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09</a:t>
            </a:r>
            <a:endParaRPr lang="en-US" sz="1600" dirty="0"/>
          </a:p>
        </p:txBody>
      </p:sp>
      <p:sp>
        <p:nvSpPr>
          <p:cNvPr id="10" name="Text 8"/>
          <p:cNvSpPr/>
          <p:nvPr/>
        </p:nvSpPr>
        <p:spPr>
          <a:xfrm>
            <a:off x="1435608" y="1837944"/>
            <a:ext cx="9738360" cy="400507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value_loss: first 2.176 → final 0.03411; min 0.00004939, max 2.176; 1954 logged samples.</a:t>
            </a:r>
            <a:endParaRPr lang="en-US" sz="2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DANCE IMITATION: TIMED CHOREOGRAPHY AS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Verification: define success before looking  ·  1/2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26</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1850" dirty="0">
                <a:solidFill>
                  <a:srgbClr val="142D3B"/>
                </a:solidFill>
                <a:latin typeface="Aptos" pitchFamily="34" charset="0"/>
                <a:ea typeface="Aptos" pitchFamily="34" charset="-122"/>
                <a:cs typeface="Aptos" pitchFamily="34" charset="-120"/>
              </a:rPr>
              <a:t>Require every episode to complete 400 measured steps with no termination, contiguous phase coverage, finite traces, and at least 95% upright samples.</a:t>
            </a:r>
            <a:endParaRPr lang="en-US" sz="185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Require all-joint pose RMSE &lt;= 0.15 rad, dynamic gain &gt;= 0.20 over a constant-reference-mean baseline, and positive leg dynamic gain.</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Require at least two moving leg joints; the selected reference has 12 moving joints and 8 moving leg joints at the 0.03 rad threshold.</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Compare deterministic trained ONNX against zero action, an untrained network, and the trained network with phase inputs frozen.</a:t>
            </a:r>
            <a:endParaRPr lang="en-US" sz="2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DANCE IMITATION: TIMED CHOREOGRAPHY AS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Verification: define success before looking  ·  2/2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27</a:t>
            </a:r>
            <a:endParaRPr lang="en-US" sz="1200" dirty="0"/>
          </a:p>
        </p:txBody>
      </p:sp>
      <p:sp>
        <p:nvSpPr>
          <p:cNvPr id="8" name="Shape 6"/>
          <p:cNvSpPr/>
          <p:nvPr/>
        </p:nvSpPr>
        <p:spPr>
          <a:xfrm>
            <a:off x="512064" y="1746504"/>
            <a:ext cx="11045952" cy="203911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185623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Validate dynamic batch x 61 input and dynamic batch x 14 output, ONNX checker success, source hashes, and native/ONNX action parity &lt;= 1e-4.</a:t>
            </a:r>
            <a:endParaRPr lang="en-US" sz="2100" dirty="0"/>
          </a:p>
        </p:txBody>
      </p:sp>
      <p:sp>
        <p:nvSpPr>
          <p:cNvPr id="11" name="Shape 9"/>
          <p:cNvSpPr/>
          <p:nvPr/>
        </p:nvSpPr>
        <p:spPr>
          <a:xfrm>
            <a:off x="512064" y="3895344"/>
            <a:ext cx="11045952" cy="2039112"/>
          </a:xfrm>
          <a:prstGeom prst="rect">
            <a:avLst/>
          </a:prstGeom>
          <a:solidFill>
            <a:srgbClr val="FFFFFF"/>
          </a:solidFill>
          <a:ln w="6350">
            <a:solidFill>
              <a:srgbClr val="FFFFFF"/>
            </a:solidFill>
            <a:prstDash val="solid"/>
          </a:ln>
        </p:spPr>
      </p:sp>
      <p:sp>
        <p:nvSpPr>
          <p:cNvPr id="12" name="Text 10"/>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3986784"/>
            <a:ext cx="9738360" cy="185623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Inspect the complete MP4 and captioned contact sheet; reward or finite execution alone cannot establish choreography.</a:t>
            </a:r>
            <a:endParaRPr lang="en-US" sz="2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SAVED RESULTS — NOT A NEW TRAINING RUN  /  DANCE IMITATION: TIMED CHOREOGRAPHY AS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Results: what was actually measured  ·  1/3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28</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050" dirty="0">
                <a:solidFill>
                  <a:srgbClr val="142D3B"/>
                </a:solidFill>
                <a:latin typeface="Aptos" pitchFamily="34" charset="0"/>
                <a:ea typeface="Aptos" pitchFamily="34" charset="-122"/>
                <a:cs typeface="Aptos" pitchFamily="34" charset="-120"/>
              </a:rPr>
              <a:t>Actual final evidence: PASS for dance-e2e-20260907-low-noise; Studio evaluation passed 16/16 eight-second episodes with zero terminations.</a:t>
            </a:r>
            <a:endParaRPr lang="en-US" sz="205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2050" dirty="0">
                <a:solidFill>
                  <a:srgbClr val="142D3B"/>
                </a:solidFill>
                <a:latin typeface="Aptos" pitchFamily="34" charset="0"/>
                <a:ea typeface="Aptos" pitchFamily="34" charset="-122"/>
                <a:cs typeface="Aptos" pitchFamily="34" charset="-120"/>
              </a:rPr>
              <a:t>Independent seeds 101-105 passed 5/5; mean pose RMSE 0.08438 rad, mean dynamic gain 38.39%, mean leg gain 52.52%, upright coverage 100%.</a:t>
            </a:r>
            <a:endParaRPr lang="en-US" sz="20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Three seeds passed a separate 800-step, 16-second extension that repeats the learned eight-second excerpt twice.</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2000" dirty="0">
                <a:solidFill>
                  <a:srgbClr val="142D3B"/>
                </a:solidFill>
                <a:latin typeface="Aptos" pitchFamily="34" charset="0"/>
                <a:ea typeface="Aptos" pitchFamily="34" charset="-122"/>
                <a:cs typeface="Aptos" pitchFamily="34" charset="-120"/>
              </a:rPr>
              <a:t>Zero action passed 0/5 and fell after 43-49 steps; the untrained network fell after 37 steps; frozen phase passed 0/5 for dynamic tracking.</a:t>
            </a:r>
            <a:endParaRPr lang="en-US" sz="2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SAVED RESULTS — NOT A NEW TRAINING RUN  /  DANCE IMITATION: TIMED CHOREOGRAPHY AS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Results: what was actually measured  ·  2/3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29</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ONNX/native maximum action error was 3.5762786865234375e-7; learned tensor L2 change from initialization was 12.247028438523373.</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Training recorded 1,954 finite updates and 31,264 optimizer steps; final-100 policy_loss was -0.01673409083727165.</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07</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Final-100 value_loss was 0.0030093801085240555 and mean_loss was -0.013724710738842986.</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08</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Final-100 approximate_kl was 0.053165218892099804, clip_fraction 0.430621337890625, and explained_variance 0.8950924869797166.</a:t>
            </a:r>
            <a:endParaRPr lang="en-US" sz="2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SAVED RESULTS — NOT A NEW TRAINING RUN  /  DANCE IMITATION: TIMED CHOREOGRAPHY AS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Results: what was actually measured  ·  3/3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30</a:t>
            </a:r>
            <a:endParaRPr lang="en-US" sz="1200" dirty="0"/>
          </a:p>
        </p:txBody>
      </p:sp>
      <p:sp>
        <p:nvSpPr>
          <p:cNvPr id="8" name="Shape 6"/>
          <p:cNvSpPr/>
          <p:nvPr/>
        </p:nvSpPr>
        <p:spPr>
          <a:xfrm>
            <a:off x="512064" y="1746504"/>
            <a:ext cx="11045952" cy="418795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09</a:t>
            </a:r>
            <a:endParaRPr lang="en-US" sz="1600" dirty="0"/>
          </a:p>
        </p:txBody>
      </p:sp>
      <p:sp>
        <p:nvSpPr>
          <p:cNvPr id="10" name="Text 8"/>
          <p:cNvSpPr/>
          <p:nvPr/>
        </p:nvSpPr>
        <p:spPr>
          <a:xfrm>
            <a:off x="1435608" y="1837944"/>
            <a:ext cx="9738360" cy="400507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Saved render receipt binds ep0.mp4 to ONNX SHA-256 32c27fe239285f1be624b01f77eaa7a411262852c89d51404ae8398ac94bdbd9.</a:t>
            </a:r>
            <a:endParaRPr lang="en-US" sz="2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EMBEDDED OFFLINE VIDEO  /  DANCE IMITATION: TIMED CHOREOGRAPHY AS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Watch the actual saved rollout</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31</a:t>
            </a:r>
            <a:endParaRPr lang="en-US" sz="12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658368" y="1691640"/>
            <a:ext cx="7452360" cy="4197096"/>
          </a:xfrm>
          <a:prstGeom prst="rect">
            <a:avLst/>
          </a:prstGeom>
        </p:spPr>
      </p:pic>
      <p:sp>
        <p:nvSpPr>
          <p:cNvPr id="9" name="Text 6"/>
          <p:cNvSpPr/>
          <p:nvPr/>
        </p:nvSpPr>
        <p:spPr>
          <a:xfrm>
            <a:off x="8439912" y="1847088"/>
            <a:ext cx="2926080" cy="320040"/>
          </a:xfrm>
          <a:prstGeom prst="rect">
            <a:avLst/>
          </a:prstGeom>
          <a:noFill/>
          <a:ln/>
        </p:spPr>
        <p:txBody>
          <a:bodyPr wrap="square" lIns="0" tIns="0" rIns="0" bIns="0" rtlCol="0" anchor="ctr"/>
          <a:lstStyle/>
          <a:p>
            <a:pPr indent="0" marL="0">
              <a:buNone/>
            </a:pPr>
            <a:r>
              <a:rPr lang="en-US" sz="1300" b="1" dirty="0">
                <a:solidFill>
                  <a:srgbClr val="087E8B"/>
                </a:solidFill>
                <a:latin typeface="Aptos" pitchFamily="34" charset="0"/>
                <a:ea typeface="Aptos" pitchFamily="34" charset="-122"/>
                <a:cs typeface="Aptos" pitchFamily="34" charset="-120"/>
              </a:rPr>
              <a:t>BEFORE PLAY</a:t>
            </a:r>
            <a:endParaRPr lang="en-US" sz="1300" dirty="0"/>
          </a:p>
        </p:txBody>
      </p:sp>
      <p:sp>
        <p:nvSpPr>
          <p:cNvPr id="10" name="Text 7"/>
          <p:cNvSpPr/>
          <p:nvPr/>
        </p:nvSpPr>
        <p:spPr>
          <a:xfrm>
            <a:off x="8439912" y="2322576"/>
            <a:ext cx="2880360" cy="960120"/>
          </a:xfrm>
          <a:prstGeom prst="rect">
            <a:avLst/>
          </a:prstGeom>
          <a:noFill/>
          <a:ln/>
        </p:spPr>
        <p:txBody>
          <a:bodyPr wrap="square" lIns="0" tIns="0" rIns="0" bIns="0" rtlCol="0" anchor="ctr"/>
          <a:lstStyle/>
          <a:p>
            <a:pPr indent="0" marL="0">
              <a:buNone/>
            </a:pPr>
            <a:r>
              <a:rPr lang="en-US" sz="2300" b="1" dirty="0">
                <a:solidFill>
                  <a:srgbClr val="142D3B"/>
                </a:solidFill>
                <a:latin typeface="Aptos" pitchFamily="34" charset="0"/>
                <a:ea typeface="Aptos" pitchFamily="34" charset="-122"/>
                <a:cs typeface="Aptos" pitchFamily="34" charset="-120"/>
              </a:rPr>
              <a:t>Predict one success signal and one failure signal.</a:t>
            </a:r>
            <a:endParaRPr lang="en-US" sz="2300" dirty="0"/>
          </a:p>
        </p:txBody>
      </p:sp>
      <p:sp>
        <p:nvSpPr>
          <p:cNvPr id="11" name="Text 8"/>
          <p:cNvSpPr/>
          <p:nvPr/>
        </p:nvSpPr>
        <p:spPr>
          <a:xfrm>
            <a:off x="8439912" y="3685032"/>
            <a:ext cx="2926080" cy="320040"/>
          </a:xfrm>
          <a:prstGeom prst="rect">
            <a:avLst/>
          </a:prstGeom>
          <a:noFill/>
          <a:ln/>
        </p:spPr>
        <p:txBody>
          <a:bodyPr wrap="square" lIns="0" tIns="0" rIns="0" bIns="0" rtlCol="0" anchor="ctr"/>
          <a:lstStyle/>
          <a:p>
            <a:pPr indent="0" marL="0">
              <a:buNone/>
            </a:pPr>
            <a:r>
              <a:rPr lang="en-US" sz="1300" b="1" dirty="0">
                <a:solidFill>
                  <a:srgbClr val="D96C35"/>
                </a:solidFill>
                <a:latin typeface="Aptos" pitchFamily="34" charset="0"/>
                <a:ea typeface="Aptos" pitchFamily="34" charset="-122"/>
                <a:cs typeface="Aptos" pitchFamily="34" charset="-120"/>
              </a:rPr>
              <a:t>AFTER PLAY</a:t>
            </a:r>
            <a:endParaRPr lang="en-US" sz="1300" dirty="0"/>
          </a:p>
        </p:txBody>
      </p:sp>
      <p:sp>
        <p:nvSpPr>
          <p:cNvPr id="12" name="Text 9"/>
          <p:cNvSpPr/>
          <p:nvPr/>
        </p:nvSpPr>
        <p:spPr>
          <a:xfrm>
            <a:off x="8439912" y="4151376"/>
            <a:ext cx="2880360" cy="1005840"/>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Which claims does this clip support? What remains untested?</a:t>
            </a:r>
            <a:endParaRPr lang="en-US" sz="2100" dirty="0"/>
          </a:p>
        </p:txBody>
      </p:sp>
      <p:sp>
        <p:nvSpPr>
          <p:cNvPr id="13" name="Text 10"/>
          <p:cNvSpPr/>
          <p:nvPr/>
        </p:nvSpPr>
        <p:spPr>
          <a:xfrm>
            <a:off x="731520" y="6044184"/>
            <a:ext cx="10789920" cy="201168"/>
          </a:xfrm>
          <a:prstGeom prst="rect">
            <a:avLst/>
          </a:prstGeom>
          <a:noFill/>
          <a:ln/>
        </p:spPr>
        <p:txBody>
          <a:bodyPr wrap="square" lIns="0" tIns="0" rIns="0" bIns="0" rtlCol="0" anchor="ctr"/>
          <a:lstStyle/>
          <a:p>
            <a:pPr indent="0" marL="0">
              <a:buNone/>
            </a:pPr>
            <a:r>
              <a:rPr lang="en-US" sz="1100" dirty="0">
                <a:solidFill>
                  <a:srgbClr val="566C79"/>
                </a:solidFill>
                <a:latin typeface="Aptos" pitchFamily="34" charset="0"/>
                <a:ea typeface="Aptos" pitchFamily="34" charset="-122"/>
                <a:cs typeface="Aptos" pitchFamily="34" charset="-120"/>
              </a:rPr>
              <a:t>8.0 s saved MP4  •  Click in PowerPoint Slide Show  •  Backup: videos/dance-rollout.mp4</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DANCE IMITATION: TIMED CHOREOGRAPHY AS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Limits and failure analysis  ·  1/2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32</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The claim covers one eight-second excerpt, not the complete 60.923-second source clip or arbitrary choreography.</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Only one successful training seed is recorded; the evaluation seeds do not measure reliability across independently trained policies.</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050" dirty="0">
                <a:solidFill>
                  <a:srgbClr val="142D3B"/>
                </a:solidFill>
                <a:latin typeface="Aptos" pitchFamily="34" charset="0"/>
                <a:ea typeface="Aptos" pitchFamily="34" charset="-122"/>
                <a:cs typeface="Aptos" pitchFamily="34" charset="-120"/>
              </a:rPr>
              <a:t>The recipe changes both exploration scale and sample budget versus earlier failures, so their individual causal effects are not isolated.</a:t>
            </a:r>
            <a:endParaRPr lang="en-US" sz="205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2050" dirty="0">
                <a:solidFill>
                  <a:srgbClr val="142D3B"/>
                </a:solidFill>
                <a:latin typeface="Aptos" pitchFamily="34" charset="0"/>
                <a:ea typeface="Aptos" pitchFamily="34" charset="-122"/>
                <a:cs typeface="Aptos" pitchFamily="34" charset="-120"/>
              </a:rPr>
              <a:t>Root translation, root yaw, root roll, and authored contacts are ignored; visible lag, hip-roll offsets, and head-yaw overshoot remain.</a:t>
            </a:r>
            <a:endParaRPr lang="en-US" sz="2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DANCE IMITATION: TIMED CHOREOGRAPHY AS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Limits and failure analysis  ·  2/2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33</a:t>
            </a:r>
            <a:endParaRPr lang="en-US" sz="1200" dirty="0"/>
          </a:p>
        </p:txBody>
      </p:sp>
      <p:sp>
        <p:nvSpPr>
          <p:cNvPr id="8" name="Shape 6"/>
          <p:cNvSpPr/>
          <p:nvPr/>
        </p:nvSpPr>
        <p:spPr>
          <a:xfrm>
            <a:off x="512064" y="1746504"/>
            <a:ext cx="11045952" cy="203911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185623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The run uses nominal XML actuators with no domain randomization, BAM audit, disturbances, terrain, latency, or hardware validation.</a:t>
            </a:r>
            <a:endParaRPr lang="en-US" sz="2100" dirty="0"/>
          </a:p>
        </p:txBody>
      </p:sp>
      <p:sp>
        <p:nvSpPr>
          <p:cNvPr id="11" name="Shape 9"/>
          <p:cNvSpPr/>
          <p:nvPr/>
        </p:nvSpPr>
        <p:spPr>
          <a:xfrm>
            <a:off x="512064" y="3895344"/>
            <a:ext cx="11045952" cy="2039112"/>
          </a:xfrm>
          <a:prstGeom prst="rect">
            <a:avLst/>
          </a:prstGeom>
          <a:solidFill>
            <a:srgbClr val="FFFFFF"/>
          </a:solidFill>
          <a:ln w="6350">
            <a:solidFill>
              <a:srgbClr val="FFFFFF"/>
            </a:solidFill>
            <a:prstDash val="solid"/>
          </a:ln>
        </p:spPr>
      </p:sp>
      <p:sp>
        <p:nvSpPr>
          <p:cNvPr id="12" name="Text 10"/>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3986784"/>
            <a:ext cx="9738360" cy="185623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The 16-second result is two repeats of the same loop, not evidence that unseen source choreography was learned.</a:t>
            </a:r>
            <a:endParaRPr lang="en-US" sz="2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PROPOSED PRACTICE — NOT MEASURED RESULTS  /  DANCE IMITATION: TIMED CHOREOGRAPHY AS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Student lab: change one variable, keep the gates  ·  1/2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34</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Recommended exercise, not saved evidence: reconstruct all observation slices and identify phase indices 59 and 60.</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2050" dirty="0">
                <a:solidFill>
                  <a:srgbClr val="142D3B"/>
                </a:solidFill>
                <a:latin typeface="Aptos" pitchFamily="34" charset="0"/>
                <a:ea typeface="Aptos" pitchFamily="34" charset="-122"/>
                <a:cs typeface="Aptos" pitchFamily="34" charset="-120"/>
              </a:rPr>
              <a:t>Recommended exercise, not saved evidence: recompute dynamic gain from trained-seed101.npz without smoothing, fitted lag, or time shifting.</a:t>
            </a:r>
            <a:endParaRPr lang="en-US" sz="20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050" dirty="0">
                <a:solidFill>
                  <a:srgbClr val="142D3B"/>
                </a:solidFill>
                <a:latin typeface="Aptos" pitchFamily="34" charset="0"/>
                <a:ea typeface="Aptos" pitchFamily="34" charset="-122"/>
                <a:cs typeface="Aptos" pitchFamily="34" charset="-120"/>
              </a:rPr>
              <a:t>Recommended exercise, not saved evidence: calculate rollout count, optimizer count, and sample reuse for a 4,000,000-transition request.</a:t>
            </a:r>
            <a:endParaRPr lang="en-US" sz="205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2050" dirty="0">
                <a:solidFill>
                  <a:srgbClr val="142D3B"/>
                </a:solidFill>
                <a:latin typeface="Aptos" pitchFamily="34" charset="0"/>
                <a:ea typeface="Aptos" pitchFamily="34" charset="-122"/>
                <a:cs typeface="Aptos" pitchFamily="34" charset="-120"/>
              </a:rPr>
              <a:t>Recommended exercise, not saved evidence: inspect ONNX names, float32 shapes, and embedded mean, variance, epsilon, and clip constants.</a:t>
            </a:r>
            <a:endParaRPr lang="en-US" sz="2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PROPOSED PRACTICE — NOT MEASURED RESULTS  /  DANCE IMITATION: TIMED CHOREOGRAPHY AS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Student lab: change one variable, keep the gates  ·  2/2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35</a:t>
            </a:r>
            <a:endParaRPr lang="en-US" sz="1200" dirty="0"/>
          </a:p>
        </p:txBody>
      </p:sp>
      <p:sp>
        <p:nvSpPr>
          <p:cNvPr id="8" name="Shape 6"/>
          <p:cNvSpPr/>
          <p:nvPr/>
        </p:nvSpPr>
        <p:spPr>
          <a:xfrm>
            <a:off x="512064" y="1746504"/>
            <a:ext cx="11045952" cy="418795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400507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Recommended exercise, not saved evidence: design a five-training-seed study with a fixed recipe and predeclared held-out gate.</a:t>
            </a:r>
            <a:endParaRPr lang="en-US" sz="2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DANCE IMITATION: TIMED CHOREOGRAPHY AS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Submit an experiment, not just a video</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36</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000" dirty="0">
                <a:solidFill>
                  <a:srgbClr val="142D3B"/>
                </a:solidFill>
                <a:latin typeface="Aptos" pitchFamily="34" charset="0"/>
                <a:ea typeface="Aptos" pitchFamily="34" charset="-122"/>
                <a:cs typeface="Aptos" pitchFamily="34" charset="-120"/>
              </a:rPr>
              <a:t>Before training: write one hypothesis, the changed parameter, the fixed baseline, seed list, acceptance criteria and time/transition budget.</a:t>
            </a:r>
            <a:endParaRPr lang="en-US" sz="20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1750" dirty="0">
                <a:solidFill>
                  <a:srgbClr val="142D3B"/>
                </a:solidFill>
                <a:latin typeface="Aptos" pitchFamily="34" charset="0"/>
                <a:ea typeface="Aptos" pitchFamily="34" charset="-122"/>
                <a:cs typeface="Aptos" pitchFamily="34" charset="-120"/>
              </a:rPr>
              <a:t>During training: save the exact command, environment versions, initialization, checkpoint and raw reward/loss/KL metrics. Never overwrite the saved reference run.</a:t>
            </a:r>
            <a:endParaRPr lang="en-US" sz="17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1700" dirty="0">
                <a:solidFill>
                  <a:srgbClr val="142D3B"/>
                </a:solidFill>
                <a:latin typeface="Aptos" pitchFamily="34" charset="0"/>
                <a:ea typeface="Aptos" pitchFamily="34" charset="-122"/>
                <a:cs typeface="Aptos" pitchFamily="34" charset="-120"/>
              </a:rPr>
              <a:t>After training: evaluate the frozen exported policy on matched seeds; include all failures, aggregate metrics, the full rollout video and a source-bound result table.</a:t>
            </a:r>
            <a:endParaRPr lang="en-US" sz="17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1700" dirty="0">
                <a:solidFill>
                  <a:srgbClr val="142D3B"/>
                </a:solidFill>
                <a:latin typeface="Aptos" pitchFamily="34" charset="0"/>
                <a:ea typeface="Aptos" pitchFamily="34" charset="-122"/>
                <a:cs typeface="Aptos" pitchFamily="34" charset="-120"/>
              </a:rPr>
              <a:t>Rubric / 10: reproducibility 2; environment and reward explanation 2; PPO and metrics interpretation 2; honest verification 2; one evidence-based next experiment 2.</a:t>
            </a:r>
            <a:endParaRPr lang="en-US" sz="17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REPOSITORY-RELATIVE PATHS / FULL SOURCES IN NOTES  /  DANCE IMITATION: TIMED CHOREOGRAPHY AS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Source map and further study  ·  1/2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37</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AGENTS.md</a:t>
            </a:r>
            <a:endParaRPr lang="en-US" sz="14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microduck_local/AGENTS.md</a:t>
            </a:r>
            <a:endParaRPr lang="en-US" sz="14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microduck_local/src/microduck_local/contract.py</a:t>
            </a:r>
            <a:endParaRPr lang="en-US" sz="14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microduck_local/src/microduck_local/walk_env.py</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REPOSITORY-RELATIVE PATHS / FULL SOURCES IN NOTES  /  DANCE IMITATION: TIMED CHOREOGRAPHY AS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Source map and further study  ·  2/2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38</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docs/microduck-training-student-book/chapters/02a-ppo-code-lab.md</a:t>
            </a:r>
            <a:endParaRPr lang="en-US" sz="14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docs/microduck-training-student-book/chapters/02b-gae-workshop.md</a:t>
            </a:r>
            <a:endParaRPr lang="en-US" sz="14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07</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scripts/scenarios/README.md</a:t>
            </a:r>
            <a:endParaRPr lang="en-US" sz="14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08</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README.md</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Community education — not affiliated with Pollen Robotics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Microduck PPO Lab 1: Dance Imitation: Timed Choreography as Feedback Control</dc:title>
  <dc:subject>Source-grounded PPO robot training: setup, environment, rewards, verification and evidence</dc:subject>
  <dc:creator>Microduck Lab classroom materials</dc:creator>
  <cp:lastModifiedBy>Microduck Lab classroom materials</cp:lastModifiedBy>
  <cp:revision>1</cp:revision>
  <dcterms:created xsi:type="dcterms:W3CDTF">2026-09-11T20:37:21Z</dcterms:created>
  <dcterms:modified xsi:type="dcterms:W3CDTF">2026-09-11T20:37:21Z</dcterms:modified>
</cp:coreProperties>
</file>