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Backflip: Assisted Launch, PPO Landing, and Stand Handoff
Use case: Teach controller ownership, transfer learning, PPO diagnostics, and evidence boundaries through a three-stage simulated backflip. The spotter owns launch energy and rotation, the trained PPO actor owns only the landing window, and the pretrained stand policy owns the final hold.
Start by explaining the difference between a simulation training pipeline and skill mastery. The cover image is a frame decoded from this case's actual rollout, not generated artwork.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build — and what the evidence says
Use case: Teach controller ownership, transfer learning, PPO diagnostics, and evidence boundaries through a three-stage simulated backflip. The spotter owns launch energy and rotation, the trained PPO actor owns only the landing window, and the pretrained stand policy owns the final hold.
By the end: describe the scene, map observations to actions, explain the reward, trace one PPO update, run a bounded experiment, and defend an evaluation claim.
This is not an unassisted learned backflip. The simulator spotter supplies substantial launch energy and rotation.
Scope: local MuJoCo simulation. Do not deploy these classroom artifacts to a physical robot; hardware transfer requires a separate validated process.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1/2
Microduck MuJoCo model with XML position servos at 50 Hz control
microduck/policies/alpha_stand.onnx as the exact actor and observation-normalizer source and as the post-landing stand controller
rlx/rlx/environments/backflip.py for the assisted launch, landing-only reward, stage metrics, and handoff logic
rlx/rlx/environments/backflip_evaluation.py for the independent physical acceptance gate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2/2
rlx/rlx/models/backflip_bootstrap.py for exact teacher transfer, parity checks, reward calibration, and critic fitting
rlx/examples/ppo_microduck_studio.py and scripts/train-backflip.sh for training, evaluation, rendering, and export
rlx/runs/studio/backflip/backflip-e2e-20260908-v5/ for the retained trained run
rlx/artifacts/backflip-e2e-20260908-v5/ for the independent audit, plots, per-seed arrays, and provenance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1/3
Simulation only. Protocol spotter-launch-landing-stand-v2 uses explicit MuJoCo generalized external forces during launch; it does not teleport the robot.
Control contract: float32 observation shape 61 and action shape 14 at 50 Hz. Actions are 14 joint-target offsets in the fixed servo order.
Observation indices 0:3 are trunk angular velocity; 3:6 projected gravity; 6:20 joint position offsets; 20:34 one-control-step-lagged joint velocity; 34:48 previous raw action; 48:51 twist command; 51:55 head command; 55:61 body command.
The landing actor receives no extra stage, phase, world position, yaw, launch-force, or contact channel. Composite controller code knows the stage, but the PPO actor still receives the standard 61 values.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2/3
Launch duration is 1.2 s. The pitch target ends at 5.3 rad with target rate 5 rad/s; target height rises to 0.32 m and lowers toward 0.22 m before release.
Launch gains and clamps are pitch kp 1.5, pitch kd 0.24, pitch torque limit 1.3 Nm, vertical kp 90, vertical kd 8.5, vertical force limit 15 N, lateral damping 3, and roll/yaw damping 0.1.
Release must reach at least 5.3 rad with backward angular speed between 3.5 and 6.5 rad/s. All external forces and torques are cleared at release.
Handoff requires at least 5.8 rad credited rotation and 10 consecutive stable PPO samples: both feet supported, no non-foot support, upright projection at least 0.9, trunk height at least 0.105 m, gyro norm below sqrt(2) rad/s, and no spotter assistance.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3/3
After handoff, alpha_stand.onnx must maintain the final 100 consecutive stable samples, equal to 2 s at 50 Hz.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Case-specific build flow
01 / SCENE: Ground + spotter launch
02 / INITIALIZE: Prior policy + calibration
03 / PPO: Train landing phase
04 / HANDOFF: Pretrained standing policy
05 / VERIFY: No teleport; gate each phase
06 / EVIDENCE: Assisted result, not free flip
This is an explanatory workflow diagram, not a measured learning curve.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1/3
Start with the invariant 61-observation/14-action contract and label which signals the landing actor can actually observe.
Load alpha_stand.onnx and verify its 512-256-128 ELU actor structure, 61 inputs, 14 outputs, and observation normalizer before transfer.
Collect 16 teacher landing episodes of 600 steps each, producing 9,600 calibration samples from assisted-release states.
Copy the teacher actor and normalizer exactly, require action parity below 1e-4, and freeze observation normalization.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2/3
Fit only the fresh critic for 10 epochs with Adam at 3e-4; keep the transferred actor unchanged during this calibration.
Reset each training episode through the assisted launch, then expose the release observation to PPO. Assisted preparation steps are outside the PPO transition count and receive zero PPO reward.
Train only the landing actor. Do not run a stand-policy override during PPO collection.
Evaluate the complete three-stage controller with deterministic actions and reconstruct the pre-handoff stability streak independently.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3/3
Run the landing-only audit with the stand handoff removed so the PPO actor must hold the final 100 samples itself.
Compare the final actor against the exact initializer and zero-action control on paired seeds; do not infer learning from showcase success.
Render the stage-labeled MP4 and contact sheet, then verify policy, stand-policy, evaluation, and media hashes before using the clip.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clipped surrogate
This is a teaching formula, not a saved experiment value. The optimizer minimizes the negative policy surrogate plus the implementation-specific value and entropy terms. PPO clipping is not a hard KL bound; monitor KL and clip fraction. A negative policy loss or Gaussian entropy is not automatically an error. Each scenario has its own reward units and optimizer conventions.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rollout through the learner
Collect observations, sampled actions, old log probabilities, values, rewards and episode-boundary flags using the current stochastic actor.
Compute TD residuals and generalized advantage estimates (GAE). A true terminal has zero continuation value; a timeout may bootstrap the saved final observation.
Cut advantage traces at reset boundaries. Never bootstrap a timeout from the first observation of the next episode.
Reuse this batch for PPO minibatch updates, then collect fresh on-policy data. Export the deterministic actor and its observation transform for evaluation.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exercise: count samples and clip the objective
Illustrative arithmetic, NOT this run: 16 environments × 128 steps = 2,048 fresh transitions per rollout. Four epochs reuse those transitions; they do not create 8,192 new samples.
With ε = 0.2, ratio = 1.4 and A = +2: min(2.8, 2.4) = 2.4. The minimized policy term is −2.4 before averaging and additional loss terms.
With the same ratio and A = −2: min(−2.8, −2.4) = −2.8. Explain why clipping is asymmetric once the sign of the advantage changes.
Run from repo root: python3 docs/microduck-training-student-book/learning_lab.py --gae. This is a deterministic arithmetic lab, not new policy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1/2
name: landing_upright | weight: 3 | sign: reward | definition: clip((1 - projected_gravity_z) / 2, 0, 1) | scope: PPO landing stage only
name: landing_pose | weight: 2 | sign: reward | definition: landing_upright times the mean of equal 0.60-rad and 0.15-rad Gaussian pose kernels | scope: PPO landing stage only
name: landing_settle | weight: 1 | sign: reward | definition: landing_upright times pose score times exp(-sum(gyro squared) / 2) | scope: PPO landing stage only
name: landing_joint_speed_penalty | weight: 0.05 | sign: penalty | definition: -mean(min(joint_velocity squared / 100, 1)) | scope: PPO landing stage only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2/2
name: landing_action_rate_penalty | weight: 0.02 | sign: penalty | definition: -mean(min((action - previous_action) squared, 1)) | scope: PPO landing stage only
name: landing_action_size_penalty | weight: 0.01 | sign: penalty | definition: -mean(min(action squared / 16, 1)) | scope: PPO landing stage only
name: total_reward | weight: null | sign: bounded sum | definition: 3*landing_upright + 2*landing_pose + landing_settle + 0.05*landing_joint_speed_penalty + 0.02*landing_action_rate_penalty + 0.01*landing_action_size_penalty; bounded from -0.08 to 6 | scope: Every component is zero during assisted launch and pretrained stand handoff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1/2
config: transition_budget | value: 401408 | detail: 196 complete batches of 16 environments x 128 steps; assisted reset preparation is excluded
config: ppo_batch | value: 16 environments, 128 steps per environment, 4 minibatches, 2 update epochs
config: optimizer | value: Adam learning rate 3e-6, maximum gradient norm 0.5, fresh PPO optimizer
config: discount_and_objective | value: gamma 0.99, GAE lambda 0.95, clip coefficient 0.2, clipped value loss enabled, value coefficient 1.0, normalized advantages enabled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2/2
config: exploration | value: initial action standard deviation 0.03, entropy coefficient 0
config: normalization | value: transferred observation normalization frozen; reward normalization enabled and frozen after teacher calibration; calibrated discounted-return standard deviation 147.2994092878347
config: episode_and_randomization | value: 12 s episodes, seed 7, XML actuator, dummy vector backend, domain randomization off, observation noise off, action delay off, random yaw off
config: telemetry_fields | value: phase; env_steps; steps; seconds; optimizer_steps; mean_loss; policy_loss; value_loss; entropy; approximate_kl; clip_fraction; explained_variance; mean_reward; mean_raw_return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1/2
From duck-viewer:
npm run dev
Start the Studio service before the API reproduction driver.
From duck-viewer:
node scripts/rlx-dance-api-e2e.mjs --execute --experiment backflip --run backflip-reproduction-001 --profile full --recipe-json ../docs/backflip-showcase/recipe.json --report ../.restart-lab/backflip-reproduction-001.json
Run the documented full Studio train, evaluate, render, and export sequence with a fresh run name.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2/2
From .:
rlx/.venv-microduck/bin/python rlx/scripts/audit_backflip.py --run rlx/runs/studio/backflip/backflip-reproduction-001 --output rlx/artifacts/backflip-reproduction-001 --seeds 101,102,103,104,105,106,107,108
Run the paired showcase, landing-only, initializer, stand, and zero-action audit.
From duck-viewer:
BACKFLIP_RUN=backflip-e2e-20260908-v5 node scripts/verify-backflip-studio.mjs
Verify the retained V5 Studio card, guidance, evaluation panel, source-bound video, and responsive layout without retraining.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does the logged signal match the task?
Chart source: rlx/runs/studio/backflip/backflip-e2e-20260908-v5/training-metrics.jsonl
Training reward is an optimization signal, not the acceptance test. See raw/&lt;case&gt;/ for complete recorded fields.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inspect actor, critic and policy drift
Chart source: rlx/runs/studio/backflip/backflip-e2e-20260908-v5/training-metrics.jsonl
A lower loss does not prove a better robot skill. Loss sign and scale depend on the implementation.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Diagnostics: is the optimizer behaving?
Chart source: rlx/runs/studio/backflip/backflip-e2e-20260908-v5/training-metrics.jsonl
Entropy, clipping, explained variance and timing are diagnostics — not a standalone pass/fail certificate.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1/3
approximate_kl: first 0.04450 → final 0.004050; min 0.001318, max 0.04450; 196 logged samples.
clip_fraction: first 0.2825 → final 0.04956; min 0.004150, max 0.2825; 196 logged samples.
entropy: first -29.23 → final -29.23; min -29.23, max -29.23; 196 logged samples.
explained_variance: first 0.6132 → final 0.9215; min -0.8016, max 0.9343; 196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2/3
mean_loss: first 0.001169 → final -0.003597; min -0.01114, max 0.007229; 196 logged samples.
mean_raw_return: first 3411 → final 2976; min 2976, max 3411; 41 logged samples.
mean_reward: first 0.03612 → final 0.03421; min 0.03213, max 0.03926; 196 logged samples.
policy_loss: first -0.0009842 → final -0.003618; min -0.01235, max 0.005976; 196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3/3
value_loss: first 0.002153 → final 0.00002170; min 0.00001931, max 0.002153; 196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1/3
A smoke profile is only a four-transition pipeline check and is not skill evidence.
Require deterministic evaluation to report every complete requested episode; reject incomplete, nonfinite, assisted-after-release, unsupported, or failed seeds.
Check the 600-step three-stage gate separately from the 600-step landing-only gate.
Confirm assist_after_release_steps is zero before crediting PPO landing behavior.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2/3
Confirm handoff rotation is at least 5.8 rad and the pre-handoff PPO stability streak reaches 10 samples.
Confirm the final 100 landing-only samples meet the physical stability thresholds; a low gyro alone is insufficient.
Compare final and initializer raw landing returns seed by seed and repeat under fixed action noise before claiming PPO refinement.
Inspect rollout MP4 and contact sheet for airborne rotation, landing contact, controller stage labels, and final stand hold.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3/3
Verify ONNX 61-to-14 contract and PyTorch/ONNX action parity, plus policy and stand-policy hash provenance.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1/3
fact: The retained V5 default three-stage evaluation passed 16 of 16 complete 600-step showcase episodes. | source: rlx/runs/studio/backflip/backflip-e2e-20260908-v5/evaluation.json
fact: The independent audit passed 8 of 8 showcase episodes on seeds 801-808. | source: rlx/artifacts/backflip-e2e-20260908-v5/report.md
fact: With stand handoff removed, the final PPO actor passed 7 of 8 landing-only episodes; seed 808 did not hold all final 100 samples. | source: rlx/artifacts/backflip-e2e-20260908-v5/report.md
fact: Paired landing-only mean raw return regressed from 3409.02 for the initializer to 2978.57 for the final actor, a delta of -430.449 or -12.63 percent; 0 of 8 seeds improved. | source: rlx/artifacts/backflip-e2e-20260908-v5/report.md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2/3
fact: Zero actions passed 0 of 8 landing-only episodes despite a near-zero final gyro; mean final height was about 0.0316 m and upright projection about 0.1351. | source: rlx/artifacts/backflip-e2e-20260908-v5/report.md
fact: Final and initialization ONNX parity maximum absolute action error was 9.53674e-07, and the 61-input/14-output contract passed. | source: rlx/artifacts/backflip-e2e-20260908-v5/report.md
fact: The first PPO update recorded mean_loss 0.0011691017134580761, policy_loss -0.0009841816499829292, value_loss 0.002153283334337175, approximate_kl 0.04449799966823775, and clip_fraction 0.282470703125. | source: rlx/runs/studio/backflip/backflip-e2e-20260908-v5/training-metrics.jsonl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3/3
fact: The final PPO update at env_steps 401408 recorded mean_loss -0.0035966151881439146, policy_loss -0.003618316142819822, value_loss 0.000021701008108720998, approximate_kl 0.004050072617246769, clip_fraction 0.049560546875, and explained_variance 0.9215395247283621. | source: rlx/runs/studio/backflip/backflip-e2e-20260908-v5/training-metrics.jsonl
fact: The assisted showcase passed its physical gate but the extended audit verdict is FAIL because PPO refinement and all-seed standalone landing success were false. | source: rlx/artifacts/backflip-e2e-20260908-v5/audit.json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policy video
Source: rlx/runs/studio/backflip/backflip-e2e-20260908-v5/render/ep0.mp4
Embedded video bytes are copied unchanged, not regenerated and not sped up. A single video is not a seed sweep. PowerPoint playback requires a user click; use the included MP4 in a local player if a presentation viewer cannot decode embedded media.
This is not an unassisted learned backflip. The simulator spotter supplies substantial launch energy and rotation.
The final stand is not owned by PPO; alpha_stand.onnx takes over only after the PPO landing gate.
Exact teacher transfer means the landing ability was not learned from scratch.
V5 physical showcase success does not establish PPO improvement; paired landing-only return regressed and one independent landing seed failed.
The reward can score an upright airborne pose; touchdown and support are enforced by a separate physical gate.
Randomization, noise, delay, and random yaw were disabled in the retained run.
The exported backflip.onnx is only the landing-stage actor, not a complete controller and not hardware deployment authorization.
No result establishes real-robot safety, actuator feasibility, or sim-to-real robustness.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1/2
This is not an unassisted learned backflip. The simulator spotter supplies substantial launch energy and rotation.
The final stand is not owned by PPO; alpha_stand.onnx takes over only after the PPO landing gate.
Exact teacher transfer means the landing ability was not learned from scratch.
V5 physical showcase success does not establish PPO improvement; paired landing-only return regressed and one independent landing seed failed.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2/2
The reward can score an upright airborne pose; touchdown and support are enforced by a separate physical gate.
Randomization, noise, delay, and random yaw were disabled in the retained run.
The exported backflip.onnx is only the landing-stage actor, not a complete controller and not hardware deployment authorization.
No result establishes real-robot safety, actuator feasibility, or sim-to-real robustness.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1/3
Draw a three-column timeline and assign every launch, landing, and stand action to spotter, PPO actor, or pretrained stand policy.
Using the observation table, identify which reward inputs are actor-observable and which acceptance checks are privileged evaluator signals.
Compute the PPO batch size, number of optimizer steps per update, and number of complete updates in 401,408 transitions.
Recalculate the reward upper and lower bounds from the six term weights.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2/3
Compare the first and last update fields, then explain why smaller losses or KL do not prove a better landing.
Use the audit table to calculate the paired percentage change for one seed and compare it with the aggregate -12.63 percent result.
Inspect ep0.mp4 and list the visual evidence that distinguishes launch assistance, PPO landing, and stand handoff.
Design a fixed-noise paired evaluation that keeps the physical gate unchanged and tests whether a successor improves the initializer.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3/3
Write a one-sentence claim that is supported by the evidence and a second sentence that would overclaim.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an experiment, not just a video
Before training: write one hypothesis, the changed parameter, the fixed baseline, seed list, acceptance criteria and time/transition budget.
During training: save the exact command, environment versions, initialization, checkpoint and raw reward/loss/KL metrics. Never overwrite the saved reference run.
After training: evaluate the frozen exported policy on matched seeds; include all failures, aggregate metrics, the full rollout video and a source-bound result table.
Rubric / 10: reproducibility 2; environment and reward explanation 2; PPO and metrics interpretation 2; honest verification 2; one evidence-based next experiment 2.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1/2
microduck_local/AGENTS.md
docs/student-book/microduck-lab-student-book.md
docs/backflip-showcase/REPORT.md
docs/backflip-showcase/recipe.json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2/2
docs/microduck-training-student-book/chapters/02a-ppo-code-lab.md
docs/microduck-training-student-book/chapters/02b-gae-workshop.md
scripts/scenarios/README.md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docs/backflip-showcase/REPORT.md
docs/backflip-showcase/recipe.json
docs/backflip-showcase/lifecycle.svg
rlx/rlx/environments/backflip.py
rlx/rlx/environments/backflip_evaluation.py
rlx/rlx/models/backflip_bootstrap.py
rlx/examples/ppo_microduck_studio.py
rlx/rlx/algorithms/ppo.py
scripts/train-backflip.sh
rlx/runs/studio/backflip/backflip-e2e-20260908-v5/backflip.safetensors.json
rlx/runs/studio/backflip/backflip-e2e-20260908-v5/evaluation.json
rlx/runs/studio/backflip/backflip-e2e-20260908-v5/render/evidence.json
rlx/runs/studio/backflip/backflip-e2e-20260908-v5/training-metrics.jsonl
rlx/artifacts/backflip-e2e-20260908-v5/audit.json
rlx/artifacts/backflip-e2e-20260908-v5/report.md
rlx/artifacts/backflip-e2e-20260908-v5/provenance.json
PPO teaching references:
docs/microduck-training-student-book/chapters/02a-ppo-code-lab.md
docs/microduck-training-student-book/chapters/02b-gae-workshop.md
scripts/scenarios/README.md
README.md
Evidence edition: 2026-09-11. Complete raw recorded metrics are bundled under raw/backflip/.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video" Target="../media/media-33-1.mp4"/><Relationship Id="rId2" Type="http://schemas.microsoft.com/office/2007/relationships/media" Target="../media/media-33-1.mp4"/><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EIGHT CASES / ONE LEARNING METHOD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LAB 05</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01</a:t>
            </a:r>
            <a:endParaRPr lang="en-US" sz="1200" dirty="0"/>
          </a:p>
        </p:txBody>
      </p:sp>
      <p:sp>
        <p:nvSpPr>
          <p:cNvPr id="8" name="Text 6"/>
          <p:cNvSpPr/>
          <p:nvPr/>
        </p:nvSpPr>
        <p:spPr>
          <a:xfrm>
            <a:off x="658368" y="1828800"/>
            <a:ext cx="5532120" cy="1298448"/>
          </a:xfrm>
          <a:prstGeom prst="rect">
            <a:avLst/>
          </a:prstGeom>
          <a:noFill/>
          <a:ln/>
        </p:spPr>
        <p:txBody>
          <a:bodyPr wrap="square" lIns="0" tIns="0" rIns="0" bIns="0" rtlCol="0" anchor="ctr"/>
          <a:lstStyle/>
          <a:p>
            <a:pPr indent="0" marL="0">
              <a:buNone/>
            </a:pPr>
            <a:r>
              <a:rPr lang="en-US" sz="4300" b="1" dirty="0">
                <a:solidFill>
                  <a:srgbClr val="142D3B"/>
                </a:solidFill>
                <a:latin typeface="Aptos" pitchFamily="34" charset="0"/>
                <a:ea typeface="Aptos" pitchFamily="34" charset="-122"/>
                <a:cs typeface="Aptos" pitchFamily="34" charset="-120"/>
              </a:rPr>
              <a:t>Assisted backflip</a:t>
            </a:r>
            <a:endParaRPr lang="en-US" sz="4300" dirty="0"/>
          </a:p>
        </p:txBody>
      </p:sp>
      <p:sp>
        <p:nvSpPr>
          <p:cNvPr id="9" name="Text 7"/>
          <p:cNvSpPr/>
          <p:nvPr/>
        </p:nvSpPr>
        <p:spPr>
          <a:xfrm>
            <a:off x="685800" y="3328416"/>
            <a:ext cx="5230368" cy="1005840"/>
          </a:xfrm>
          <a:prstGeom prst="rect">
            <a:avLst/>
          </a:prstGeom>
          <a:noFill/>
          <a:ln/>
        </p:spPr>
        <p:txBody>
          <a:bodyPr wrap="square" lIns="0" tIns="0" rIns="0" bIns="0" rtlCol="0" anchor="ctr"/>
          <a:lstStyle/>
          <a:p>
            <a:pPr indent="0" marL="0">
              <a:buNone/>
            </a:pPr>
            <a:r>
              <a:rPr lang="en-US" sz="2300" dirty="0">
                <a:solidFill>
                  <a:srgbClr val="566C79"/>
                </a:solidFill>
                <a:latin typeface="Aptos" pitchFamily="34" charset="0"/>
                <a:ea typeface="Aptos" pitchFamily="34" charset="-122"/>
                <a:cs typeface="Aptos" pitchFamily="34" charset="-120"/>
              </a:rPr>
              <a:t>Backflip: Assisted Launch, PPO Landing, and Stand Handoff</a:t>
            </a:r>
            <a:endParaRPr lang="en-US" sz="2300" dirty="0"/>
          </a:p>
        </p:txBody>
      </p:sp>
      <p:sp>
        <p:nvSpPr>
          <p:cNvPr id="10" name="Text 8"/>
          <p:cNvSpPr/>
          <p:nvPr/>
        </p:nvSpPr>
        <p:spPr>
          <a:xfrm>
            <a:off x="685800" y="4645152"/>
            <a:ext cx="5230368" cy="548640"/>
          </a:xfrm>
          <a:prstGeom prst="rect">
            <a:avLst/>
          </a:prstGeom>
          <a:noFill/>
          <a:ln/>
        </p:spPr>
        <p:txBody>
          <a:bodyPr wrap="square" lIns="0" tIns="0" rIns="0" bIns="0" rtlCol="0" anchor="ctr"/>
          <a:lstStyle/>
          <a:p>
            <a:pPr indent="0" marL="0">
              <a:buNone/>
            </a:pPr>
            <a:r>
              <a:rPr lang="en-US" sz="1700" dirty="0">
                <a:solidFill>
                  <a:srgbClr val="566C79"/>
                </a:solidFill>
                <a:latin typeface="Aptos" pitchFamily="34" charset="0"/>
                <a:ea typeface="Aptos" pitchFamily="34" charset="-122"/>
                <a:cs typeface="Aptos" pitchFamily="34" charset="-120"/>
              </a:rPr>
              <a:t>Environment design · PPO · Honest verification</a:t>
            </a:r>
            <a:endParaRPr lang="en-US" sz="1700" dirty="0"/>
          </a:p>
        </p:txBody>
      </p:sp>
      <p:pic>
        <p:nvPicPr>
          <p:cNvPr id="11" name="Image 0" descr="/Volumes/ExternalSSD/geoagent/microduck-lab/docs/classroom-ppt/assets/backflip/rollout-poster.png">    </p:cNvPr>
          <p:cNvPicPr>
            <a:picLocks noChangeAspect="1"/>
          </p:cNvPicPr>
          <p:nvPr/>
        </p:nvPicPr>
        <p:blipFill>
          <a:blip r:embed="rId1"/>
          <a:stretch>
            <a:fillRect/>
          </a:stretch>
        </p:blipFill>
        <p:spPr>
          <a:xfrm>
            <a:off x="6263640" y="2084546"/>
            <a:ext cx="5349240" cy="3008948"/>
          </a:xfrm>
          <a:prstGeom prst="rect">
            <a:avLst/>
          </a:prstGeom>
        </p:spPr>
      </p:pic>
      <p:sp>
        <p:nvSpPr>
          <p:cNvPr id="12" name="Text 9"/>
          <p:cNvSpPr/>
          <p:nvPr/>
        </p:nvSpPr>
        <p:spPr>
          <a:xfrm>
            <a:off x="685800" y="5550408"/>
            <a:ext cx="10698480" cy="393192"/>
          </a:xfrm>
          <a:prstGeom prst="rect">
            <a:avLst/>
          </a:prstGeom>
          <a:noFill/>
          <a:ln/>
        </p:spPr>
        <p:txBody>
          <a:bodyPr wrap="square" lIns="0" tIns="0" rIns="0" bIns="0" rtlCol="0" anchor="ctr"/>
          <a:lstStyle/>
          <a:p>
            <a:pPr indent="0" marL="0">
              <a:buNone/>
            </a:pPr>
            <a:r>
              <a:rPr lang="en-US" sz="2000" b="1" spc="100" kern="0" dirty="0">
                <a:solidFill>
                  <a:srgbClr val="087E8B"/>
                </a:solidFill>
                <a:latin typeface="Aptos" pitchFamily="34" charset="0"/>
                <a:ea typeface="Aptos" pitchFamily="34" charset="-122"/>
                <a:cs typeface="Aptos" pitchFamily="34" charset="-120"/>
              </a:rPr>
              <a:t>BUILD  →  TRAIN  →  VERIFY  →  EXPLAIN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What you will build — and what the evidence says</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50" dirty="0">
                <a:solidFill>
                  <a:srgbClr val="142D3B"/>
                </a:solidFill>
                <a:latin typeface="Aptos" pitchFamily="34" charset="0"/>
                <a:ea typeface="Aptos" pitchFamily="34" charset="-122"/>
                <a:cs typeface="Aptos" pitchFamily="34" charset="-120"/>
              </a:rPr>
              <a:t>Use case: Teach controller ownership, transfer learning, PPO diagnostics, and evidence boundaries through a three-stage simulated backflip. The spotter owns launch energy and rotation, the trained PPO actor owns only the landing window, and the pretrained stand policy owns the final hold.</a:t>
            </a:r>
            <a:endParaRPr lang="en-US" sz="14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By the end: describe the scene, map observations to actions, explain the reward, trace one PPO update, run a bounded experiment, and defend an evaluation claim.</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This is not an unassisted learned backflip. The simulator spotter supplies substantial launch energy and rotation.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Scope: local MuJoCo simulation. Do not deploy these classroom artifacts to a physical robot; hardware transfer requires a separate validated process.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Microduck MuJoCo model with XML position servos at 50 Hz control</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microduck/policies/alpha_stand.onnx as the exact actor and observation-normalizer source and as the post-landing stand controller</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rlx/rlx/environments/backflip.py for the assisted launch, landing-only reward, stage metrics, and handoff logic</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rlx/rlx/environments/backflip_evaluation.py for the independent physical acceptance gate</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rlx/rlx/models/backflip_bootstrap.py for exact teacher transfer, parity checks, reward calibration, and critic fitting</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rlx/examples/ppo_microduck_studio.py and scripts/train-backflip.sh for training, evaluation, rendering, and export</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rlx/runs/studio/backflip/backflip-e2e-20260908-v5/ for the retained trained run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rlx/artifacts/backflip-e2e-20260908-v5/ for the independent audit, plots, per-seed arrays, and provenance</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Simulation only. Protocol spotter-launch-landing-stand-v2 uses explicit MuJoCo generalized external forces during launch; it does not teleport the robot.</a:t>
            </a:r>
            <a:endParaRPr lang="en-US" sz="18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Control contract: float32 observation shape 61 and action shape 14 at 50 Hz. Actions are 14 joint-target offsets in the fixed servo order.</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Observation indices 0:3 are trunk angular velocity; 3:6 projected gravity; 6:20 joint position offsets; 20:34 one-control-step-lagged joint velocity; 34:48 previous raw action; 48:51 twist command; 51:55 head command; 55:61 body command.</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The landing actor receives no extra stage, phase, world position, yaw, launch-force, or contact channel. Composite controller code knows the stage, but the PPO actor still receives the standard 61 values.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Launch duration is 1.2 s. The pitch target ends at 5.3 rad with target rate 5 rad/s; target height rises to 0.32 m and lowers toward 0.22 m before release.</a:t>
            </a:r>
            <a:endParaRPr lang="en-US" sz="18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Launch gains and clamps are pitch kp 1.5, pitch kd 0.24, pitch torque limit 1.3 Nm, vertical kp 90, vertical kd 8.5, vertical force limit 15 N, lateral damping 3, and roll/yaw damping 0.1.</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900" dirty="0">
                <a:solidFill>
                  <a:srgbClr val="142D3B"/>
                </a:solidFill>
                <a:latin typeface="Aptos" pitchFamily="34" charset="0"/>
                <a:ea typeface="Aptos" pitchFamily="34" charset="-122"/>
                <a:cs typeface="Aptos" pitchFamily="34" charset="-120"/>
              </a:rPr>
              <a:t>Release must reach at least 5.3 rad with backward angular speed between 3.5 and 6.5 rad/s. All external forces and torques are cleared at release.</a:t>
            </a:r>
            <a:endParaRPr lang="en-US" sz="19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Handoff requires at least 5.8 rad credited rotation and 10 consecutive stable PPO samples: both feet supported, no non-foot support, upright projection at least 0.9, trunk height at least 0.105 m, gyro norm below sqrt(2) rad/s, and no spotter assistance.</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07</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After handoff, alpha_stand.onnx must maintain the final 100 consecutive stable samples, equal to 2 s at 50 Hz.</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How this case is built: one evidence loop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08</a:t>
            </a:r>
            <a:endParaRPr lang="en-US" sz="1200" dirty="0"/>
          </a:p>
        </p:txBody>
      </p:sp>
      <p:sp>
        <p:nvSpPr>
          <p:cNvPr id="8" name="Shape 6"/>
          <p:cNvSpPr/>
          <p:nvPr/>
        </p:nvSpPr>
        <p:spPr>
          <a:xfrm>
            <a:off x="594360" y="1828800"/>
            <a:ext cx="3227832" cy="1234440"/>
          </a:xfrm>
          <a:prstGeom prst="rect">
            <a:avLst/>
          </a:prstGeom>
          <a:solidFill>
            <a:srgbClr val="FFFFFF"/>
          </a:solidFill>
          <a:ln w="6350">
            <a:solidFill>
              <a:srgbClr val="FFFFFF"/>
            </a:solidFill>
            <a:prstDash val="solid"/>
          </a:ln>
        </p:spPr>
      </p:sp>
      <p:sp>
        <p:nvSpPr>
          <p:cNvPr id="9" name="Text 7"/>
          <p:cNvSpPr/>
          <p:nvPr/>
        </p:nvSpPr>
        <p:spPr>
          <a:xfrm>
            <a:off x="777240"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01 / SCENE</a:t>
            </a:r>
            <a:endParaRPr lang="en-US" sz="1200" dirty="0"/>
          </a:p>
        </p:txBody>
      </p:sp>
      <p:sp>
        <p:nvSpPr>
          <p:cNvPr id="10" name="Text 8"/>
          <p:cNvSpPr/>
          <p:nvPr/>
        </p:nvSpPr>
        <p:spPr>
          <a:xfrm>
            <a:off x="777240"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Ground + spotter launch</a:t>
            </a:r>
            <a:endParaRPr lang="en-US" sz="2100" dirty="0"/>
          </a:p>
        </p:txBody>
      </p:sp>
      <p:sp>
        <p:nvSpPr>
          <p:cNvPr id="11" name="Shape 9"/>
          <p:cNvSpPr/>
          <p:nvPr/>
        </p:nvSpPr>
        <p:spPr>
          <a:xfrm>
            <a:off x="4471416" y="1828800"/>
            <a:ext cx="3227832" cy="1234440"/>
          </a:xfrm>
          <a:prstGeom prst="rect">
            <a:avLst/>
          </a:prstGeom>
          <a:solidFill>
            <a:srgbClr val="FFFFFF"/>
          </a:solidFill>
          <a:ln w="6350">
            <a:solidFill>
              <a:srgbClr val="FFFFFF"/>
            </a:solidFill>
            <a:prstDash val="solid"/>
          </a:ln>
        </p:spPr>
      </p:sp>
      <p:sp>
        <p:nvSpPr>
          <p:cNvPr id="12" name="Text 10"/>
          <p:cNvSpPr/>
          <p:nvPr/>
        </p:nvSpPr>
        <p:spPr>
          <a:xfrm>
            <a:off x="4654296"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02 / INITIALIZE</a:t>
            </a:r>
            <a:endParaRPr lang="en-US" sz="1200" dirty="0"/>
          </a:p>
        </p:txBody>
      </p:sp>
      <p:sp>
        <p:nvSpPr>
          <p:cNvPr id="13" name="Text 11"/>
          <p:cNvSpPr/>
          <p:nvPr/>
        </p:nvSpPr>
        <p:spPr>
          <a:xfrm>
            <a:off x="4654296"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Prior policy + calibration</a:t>
            </a:r>
            <a:endParaRPr lang="en-US" sz="2100" dirty="0"/>
          </a:p>
        </p:txBody>
      </p:sp>
      <p:sp>
        <p:nvSpPr>
          <p:cNvPr id="14" name="Shape 12"/>
          <p:cNvSpPr/>
          <p:nvPr/>
        </p:nvSpPr>
        <p:spPr>
          <a:xfrm>
            <a:off x="8348472" y="1828800"/>
            <a:ext cx="3227832" cy="1234440"/>
          </a:xfrm>
          <a:prstGeom prst="rect">
            <a:avLst/>
          </a:prstGeom>
          <a:solidFill>
            <a:srgbClr val="FFFFFF"/>
          </a:solidFill>
          <a:ln w="6350">
            <a:solidFill>
              <a:srgbClr val="FFFFFF"/>
            </a:solidFill>
            <a:prstDash val="solid"/>
          </a:ln>
        </p:spPr>
      </p:sp>
      <p:sp>
        <p:nvSpPr>
          <p:cNvPr id="15" name="Text 13"/>
          <p:cNvSpPr/>
          <p:nvPr/>
        </p:nvSpPr>
        <p:spPr>
          <a:xfrm>
            <a:off x="8531352"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03 / PPO</a:t>
            </a:r>
            <a:endParaRPr lang="en-US" sz="1200" dirty="0"/>
          </a:p>
        </p:txBody>
      </p:sp>
      <p:sp>
        <p:nvSpPr>
          <p:cNvPr id="16" name="Text 14"/>
          <p:cNvSpPr/>
          <p:nvPr/>
        </p:nvSpPr>
        <p:spPr>
          <a:xfrm>
            <a:off x="8531352"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Train landing phase</a:t>
            </a:r>
            <a:endParaRPr lang="en-US" sz="2100" dirty="0"/>
          </a:p>
        </p:txBody>
      </p:sp>
      <p:sp>
        <p:nvSpPr>
          <p:cNvPr id="17" name="Shape 15"/>
          <p:cNvSpPr/>
          <p:nvPr/>
        </p:nvSpPr>
        <p:spPr>
          <a:xfrm>
            <a:off x="8348472" y="3886200"/>
            <a:ext cx="3227832" cy="1234440"/>
          </a:xfrm>
          <a:prstGeom prst="rect">
            <a:avLst/>
          </a:prstGeom>
          <a:solidFill>
            <a:srgbClr val="FFFFFF"/>
          </a:solidFill>
          <a:ln w="6350">
            <a:solidFill>
              <a:srgbClr val="FFFFFF"/>
            </a:solidFill>
            <a:prstDash val="solid"/>
          </a:ln>
        </p:spPr>
      </p:sp>
      <p:sp>
        <p:nvSpPr>
          <p:cNvPr id="18" name="Text 16"/>
          <p:cNvSpPr/>
          <p:nvPr/>
        </p:nvSpPr>
        <p:spPr>
          <a:xfrm>
            <a:off x="8531352"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04 / HANDOFF</a:t>
            </a:r>
            <a:endParaRPr lang="en-US" sz="1200" dirty="0"/>
          </a:p>
        </p:txBody>
      </p:sp>
      <p:sp>
        <p:nvSpPr>
          <p:cNvPr id="19" name="Text 17"/>
          <p:cNvSpPr/>
          <p:nvPr/>
        </p:nvSpPr>
        <p:spPr>
          <a:xfrm>
            <a:off x="8531352"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Pretrained standing policy</a:t>
            </a:r>
            <a:endParaRPr lang="en-US" sz="2100" dirty="0"/>
          </a:p>
        </p:txBody>
      </p:sp>
      <p:sp>
        <p:nvSpPr>
          <p:cNvPr id="20" name="Shape 18"/>
          <p:cNvSpPr/>
          <p:nvPr/>
        </p:nvSpPr>
        <p:spPr>
          <a:xfrm>
            <a:off x="4471416" y="3886200"/>
            <a:ext cx="3227832" cy="1234440"/>
          </a:xfrm>
          <a:prstGeom prst="rect">
            <a:avLst/>
          </a:prstGeom>
          <a:solidFill>
            <a:srgbClr val="FFFFFF"/>
          </a:solidFill>
          <a:ln w="6350">
            <a:solidFill>
              <a:srgbClr val="FFFFFF"/>
            </a:solidFill>
            <a:prstDash val="solid"/>
          </a:ln>
        </p:spPr>
      </p:sp>
      <p:sp>
        <p:nvSpPr>
          <p:cNvPr id="21" name="Text 19"/>
          <p:cNvSpPr/>
          <p:nvPr/>
        </p:nvSpPr>
        <p:spPr>
          <a:xfrm>
            <a:off x="4654296"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05 / VERIFY</a:t>
            </a:r>
            <a:endParaRPr lang="en-US" sz="1200" dirty="0"/>
          </a:p>
        </p:txBody>
      </p:sp>
      <p:sp>
        <p:nvSpPr>
          <p:cNvPr id="22" name="Text 20"/>
          <p:cNvSpPr/>
          <p:nvPr/>
        </p:nvSpPr>
        <p:spPr>
          <a:xfrm>
            <a:off x="4654296"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No teleport; gate each phase</a:t>
            </a:r>
            <a:endParaRPr lang="en-US" sz="2100" dirty="0"/>
          </a:p>
        </p:txBody>
      </p:sp>
      <p:sp>
        <p:nvSpPr>
          <p:cNvPr id="23" name="Shape 21"/>
          <p:cNvSpPr/>
          <p:nvPr/>
        </p:nvSpPr>
        <p:spPr>
          <a:xfrm>
            <a:off x="594360" y="3886200"/>
            <a:ext cx="3227832" cy="1234440"/>
          </a:xfrm>
          <a:prstGeom prst="rect">
            <a:avLst/>
          </a:prstGeom>
          <a:solidFill>
            <a:srgbClr val="FFFFFF"/>
          </a:solidFill>
          <a:ln w="6350">
            <a:solidFill>
              <a:srgbClr val="FFFFFF"/>
            </a:solidFill>
            <a:prstDash val="solid"/>
          </a:ln>
        </p:spPr>
      </p:sp>
      <p:sp>
        <p:nvSpPr>
          <p:cNvPr id="24" name="Text 22"/>
          <p:cNvSpPr/>
          <p:nvPr/>
        </p:nvSpPr>
        <p:spPr>
          <a:xfrm>
            <a:off x="777240"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06 / EVIDENCE</a:t>
            </a:r>
            <a:endParaRPr lang="en-US" sz="1200" dirty="0"/>
          </a:p>
        </p:txBody>
      </p:sp>
      <p:sp>
        <p:nvSpPr>
          <p:cNvPr id="25" name="Text 23"/>
          <p:cNvSpPr/>
          <p:nvPr/>
        </p:nvSpPr>
        <p:spPr>
          <a:xfrm>
            <a:off x="777240"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Assisted result, not free flip</a:t>
            </a:r>
            <a:endParaRPr lang="en-US" sz="2100" dirty="0"/>
          </a:p>
        </p:txBody>
      </p:sp>
      <p:sp>
        <p:nvSpPr>
          <p:cNvPr id="26" name="Shape 24"/>
          <p:cNvSpPr/>
          <p:nvPr/>
        </p:nvSpPr>
        <p:spPr>
          <a:xfrm>
            <a:off x="3840480" y="2441448"/>
            <a:ext cx="566928" cy="0"/>
          </a:xfrm>
          <a:prstGeom prst="line">
            <a:avLst/>
          </a:prstGeom>
          <a:noFill/>
          <a:ln w="31750">
            <a:solidFill>
              <a:srgbClr val="087E8B"/>
            </a:solidFill>
            <a:prstDash val="solid"/>
            <a:tailEnd type="triangle"/>
          </a:ln>
        </p:spPr>
      </p:sp>
      <p:sp>
        <p:nvSpPr>
          <p:cNvPr id="27" name="Shape 25"/>
          <p:cNvSpPr/>
          <p:nvPr/>
        </p:nvSpPr>
        <p:spPr>
          <a:xfrm>
            <a:off x="7708392" y="2441448"/>
            <a:ext cx="576072" cy="0"/>
          </a:xfrm>
          <a:prstGeom prst="line">
            <a:avLst/>
          </a:prstGeom>
          <a:noFill/>
          <a:ln w="31750">
            <a:solidFill>
              <a:srgbClr val="087E8B"/>
            </a:solidFill>
            <a:prstDash val="solid"/>
            <a:tailEnd type="triangle"/>
          </a:ln>
        </p:spPr>
      </p:sp>
      <p:sp>
        <p:nvSpPr>
          <p:cNvPr id="28" name="Shape 26"/>
          <p:cNvSpPr/>
          <p:nvPr/>
        </p:nvSpPr>
        <p:spPr>
          <a:xfrm>
            <a:off x="9939528" y="3145536"/>
            <a:ext cx="0" cy="621792"/>
          </a:xfrm>
          <a:prstGeom prst="line">
            <a:avLst/>
          </a:prstGeom>
          <a:noFill/>
          <a:ln w="31750">
            <a:solidFill>
              <a:srgbClr val="087E8B"/>
            </a:solidFill>
            <a:prstDash val="solid"/>
            <a:tailEnd type="triangle"/>
          </a:ln>
        </p:spPr>
      </p:sp>
      <p:sp>
        <p:nvSpPr>
          <p:cNvPr id="29" name="Shape 27"/>
          <p:cNvSpPr/>
          <p:nvPr/>
        </p:nvSpPr>
        <p:spPr>
          <a:xfrm>
            <a:off x="7717536" y="4480560"/>
            <a:ext cx="530352" cy="0"/>
          </a:xfrm>
          <a:prstGeom prst="line">
            <a:avLst/>
          </a:prstGeom>
          <a:noFill/>
          <a:ln w="31750">
            <a:solidFill>
              <a:srgbClr val="087E8B"/>
            </a:solidFill>
            <a:prstDash val="solid"/>
            <a:headEnd type="triangle"/>
          </a:ln>
        </p:spPr>
      </p:sp>
      <p:sp>
        <p:nvSpPr>
          <p:cNvPr id="30" name="Shape 28"/>
          <p:cNvSpPr/>
          <p:nvPr/>
        </p:nvSpPr>
        <p:spPr>
          <a:xfrm>
            <a:off x="3840480" y="4480560"/>
            <a:ext cx="530352" cy="0"/>
          </a:xfrm>
          <a:prstGeom prst="line">
            <a:avLst/>
          </a:prstGeom>
          <a:noFill/>
          <a:ln w="31750">
            <a:solidFill>
              <a:srgbClr val="087E8B"/>
            </a:solidFill>
            <a:prstDash val="solid"/>
            <a:headEnd type="triangle"/>
          </a:ln>
        </p:spPr>
      </p:sp>
      <p:sp>
        <p:nvSpPr>
          <p:cNvPr id="31" name="Text 29"/>
          <p:cNvSpPr/>
          <p:nvPr/>
        </p:nvSpPr>
        <p:spPr>
          <a:xfrm>
            <a:off x="731520" y="5641848"/>
            <a:ext cx="10789920" cy="347472"/>
          </a:xfrm>
          <a:prstGeom prst="rect">
            <a:avLst/>
          </a:prstGeom>
          <a:noFill/>
          <a:ln/>
        </p:spPr>
        <p:txBody>
          <a:bodyPr wrap="square" lIns="0" tIns="0" rIns="0" bIns="0" rtlCol="0" anchor="ctr"/>
          <a:lstStyle/>
          <a:p>
            <a:pPr indent="0" marL="0">
              <a:buNone/>
            </a:pPr>
            <a:r>
              <a:rPr lang="en-US" sz="1900" b="1" dirty="0">
                <a:solidFill>
                  <a:srgbClr val="D96C35"/>
                </a:solidFill>
                <a:latin typeface="Aptos" pitchFamily="34" charset="0"/>
                <a:ea typeface="Aptos" pitchFamily="34" charset="-122"/>
                <a:cs typeface="Aptos" pitchFamily="34" charset="-120"/>
              </a:rPr>
              <a:t>Failure is data: change one cause, retrain, and repeat the same evaluation gates.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Start with the invariant 61-observation/14-action contract and label which signals the landing actor can actually observe.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Load alpha_stand.onnx and verify its 512-256-128 ELU actor structure, 61 inputs, 14 outputs, and observation normalizer before transfer.</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Collect 16 teacher landing episodes of 600 steps each, producing 9,600 calibration samples from assisted-release states.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Copy the teacher actor and normalizer exactly, require action parity below 1e-4, and freeze observation normalization.</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Fit only the fresh critic for 10 epochs with Adam at 3e-4; keep the transferred actor unchanged during this calibration.</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Reset each training episode through the assisted launch, then expose the release observation to PPO. Assisted preparation steps are outside the PPO transition count and receive zero PPO reward.</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Train only the landing actor. Do not run a stand-policy override during PPO collection.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Evaluate the complete three-stage controller with deterministic actions and reconstruct the pre-handoff stability streak independently.</a:t>
            </a:r>
            <a:endParaRPr lang="en-US" sz="2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11</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Run the landing-only audit with the stand handoff removed so the PPO actor must hold the final 100 samples itself.</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Compare the final actor against the exact initializer and zero-action control on paired seeds; do not infer learning from showcase success.</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11</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Render the stage-labeled MP4 and contact sheet, then verify policy, stand-policy, evaluation, and media hashes before using the clip.</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PPO: improve the actor without trusting a huge step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12</a:t>
            </a:r>
            <a:endParaRPr lang="en-US" sz="1200" dirty="0"/>
          </a:p>
        </p:txBody>
      </p:sp>
      <p:sp>
        <p:nvSpPr>
          <p:cNvPr id="8" name="Shape 6"/>
          <p:cNvSpPr/>
          <p:nvPr/>
        </p:nvSpPr>
        <p:spPr>
          <a:xfrm>
            <a:off x="594360" y="1810512"/>
            <a:ext cx="10972800" cy="932688"/>
          </a:xfrm>
          <a:prstGeom prst="rect">
            <a:avLst/>
          </a:prstGeom>
          <a:solidFill>
            <a:srgbClr val="142D3B"/>
          </a:solidFill>
          <a:ln w="6350">
            <a:solidFill>
              <a:srgbClr val="142D3B"/>
            </a:solidFill>
            <a:prstDash val="solid"/>
          </a:ln>
        </p:spPr>
      </p:sp>
      <p:sp>
        <p:nvSpPr>
          <p:cNvPr id="9" name="Text 7"/>
          <p:cNvSpPr/>
          <p:nvPr/>
        </p:nvSpPr>
        <p:spPr>
          <a:xfrm>
            <a:off x="914400" y="1975104"/>
            <a:ext cx="10241280" cy="502920"/>
          </a:xfrm>
          <a:prstGeom prst="rect">
            <a:avLst/>
          </a:prstGeom>
          <a:noFill/>
          <a:ln/>
        </p:spPr>
        <p:txBody>
          <a:bodyPr wrap="square" lIns="0" tIns="0" rIns="0" bIns="0" rtlCol="0" anchor="ctr"/>
          <a:lstStyle/>
          <a:p>
            <a:pPr indent="0" marL="0">
              <a:buNone/>
            </a:pPr>
            <a:r>
              <a:rPr lang="en-US" sz="2900" b="1" dirty="0">
                <a:solidFill>
                  <a:srgbClr val="FFFFFF"/>
                </a:solidFill>
                <a:latin typeface="Aptos" pitchFamily="34" charset="0"/>
                <a:ea typeface="Aptos" pitchFamily="34" charset="-122"/>
                <a:cs typeface="Aptos" pitchFamily="34" charset="-120"/>
              </a:rPr>
              <a:t>ratio = πnew(a | o) / πold(a | o)</a:t>
            </a:r>
            <a:endParaRPr lang="en-US" sz="2900" dirty="0"/>
          </a:p>
        </p:txBody>
      </p:sp>
      <p:sp>
        <p:nvSpPr>
          <p:cNvPr id="10" name="Text 8"/>
          <p:cNvSpPr/>
          <p:nvPr/>
        </p:nvSpPr>
        <p:spPr>
          <a:xfrm>
            <a:off x="731520" y="2971800"/>
            <a:ext cx="10789920" cy="640080"/>
          </a:xfrm>
          <a:prstGeom prst="rect">
            <a:avLst/>
          </a:prstGeom>
          <a:noFill/>
          <a:ln/>
        </p:spPr>
        <p:txBody>
          <a:bodyPr wrap="square" lIns="0" tIns="0" rIns="0" bIns="0" rtlCol="0" anchor="ctr"/>
          <a:lstStyle/>
          <a:p>
            <a:pPr indent="0" marL="0">
              <a:buNone/>
            </a:pPr>
            <a:r>
              <a:rPr lang="en-US" sz="2500" b="1" dirty="0">
                <a:solidFill>
                  <a:srgbClr val="142D3B"/>
                </a:solidFill>
                <a:latin typeface="Aptos" pitchFamily="34" charset="0"/>
                <a:ea typeface="Aptos" pitchFamily="34" charset="-122"/>
                <a:cs typeface="Aptos" pitchFamily="34" charset="-120"/>
              </a:rPr>
              <a:t>Maximize mean[min(ratio × A, clip(ratio, 1 − ε, 1 + ε) × A)]</a:t>
            </a:r>
            <a:endParaRPr lang="en-US" sz="2500" dirty="0"/>
          </a:p>
        </p:txBody>
      </p:sp>
      <p:sp>
        <p:nvSpPr>
          <p:cNvPr id="11" name="Text 9"/>
          <p:cNvSpPr/>
          <p:nvPr/>
        </p:nvSpPr>
        <p:spPr>
          <a:xfrm>
            <a:off x="731520" y="3904488"/>
            <a:ext cx="10789920" cy="640080"/>
          </a:xfrm>
          <a:prstGeom prst="rect">
            <a:avLst/>
          </a:prstGeom>
          <a:noFill/>
          <a:ln/>
        </p:spPr>
        <p:txBody>
          <a:bodyPr wrap="square" lIns="0" tIns="0" rIns="0" bIns="0" rtlCol="0" anchor="ctr"/>
          <a:lstStyle/>
          <a:p>
            <a:pPr indent="0" marL="0">
              <a:buNone/>
            </a:pPr>
            <a:r>
              <a:rPr lang="en-US" sz="2300" dirty="0">
                <a:solidFill>
                  <a:srgbClr val="142D3B"/>
                </a:solidFill>
                <a:latin typeface="Aptos" pitchFamily="34" charset="0"/>
                <a:ea typeface="Aptos" pitchFamily="34" charset="-122"/>
                <a:cs typeface="Aptos" pitchFamily="34" charset="-120"/>
              </a:rPr>
              <a:t>Actor: chooses joint actions.   Critic: estimates future discounted reward.</a:t>
            </a:r>
            <a:endParaRPr lang="en-US" sz="2300" dirty="0"/>
          </a:p>
        </p:txBody>
      </p:sp>
      <p:sp>
        <p:nvSpPr>
          <p:cNvPr id="12" name="Text 10"/>
          <p:cNvSpPr/>
          <p:nvPr/>
        </p:nvSpPr>
        <p:spPr>
          <a:xfrm>
            <a:off x="731520" y="4809744"/>
            <a:ext cx="10789920" cy="731520"/>
          </a:xfrm>
          <a:prstGeom prst="rect">
            <a:avLst/>
          </a:prstGeom>
          <a:noFill/>
          <a:ln/>
        </p:spPr>
        <p:txBody>
          <a:bodyPr wrap="square" lIns="0" tIns="0" rIns="0" bIns="0" rtlCol="0" anchor="ctr"/>
          <a:lstStyle/>
          <a:p>
            <a:pPr indent="0" marL="0">
              <a:buNone/>
            </a:pPr>
            <a:r>
              <a:rPr lang="en-US" sz="2200" dirty="0">
                <a:solidFill>
                  <a:srgbClr val="566C79"/>
                </a:solidFill>
                <a:latin typeface="Aptos" pitchFamily="34" charset="0"/>
                <a:ea typeface="Aptos" pitchFamily="34" charset="-122"/>
                <a:cs typeface="Aptos" pitchFamily="34" charset="-120"/>
              </a:rPr>
              <a:t>A = advantage.  ε = clipping range.  Old log probabilities stay fixed for each collected batch.</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Follow one rollout through the learner</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Collect observations, sampled actions, old log probabilities, values, rewards and episode-boundary flags using the current stochastic actor.</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Compute TD residuals and generalized advantage estimates (GAE). A true terminal has zero continuation value; a timeout may bootstrap the saved final observation.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Cut advantage traces at reset boundaries. Never bootstrap a timeout from the first observation of the next episode.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Reuse this batch for PPO minibatch updates, then collect fresh on-policy data. Export the deterministic actor and its observation transform for evaluation.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Paper exercise: count samples and clip the objective</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Illustrative arithmetic, NOT this run: 16 environments × 128 steps = 2,048 fresh transitions per rollout. Four epochs reuse those transitions; they do not create 8,192 new samples.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With ε = 0.2, ratio = 1.4 and A = +2: min(2.8, 2.4) = 2.4. The minimized policy term is −2.4 before averaging and additional loss terms.</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With the same ratio and A = −2: min(−2.8, −2.4) = −2.8. Explain why clipping is asymmetric once the sign of the advantage changes.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Run from repo root: python3 docs/microduck-training-student-book/learning_lab.py --gae. This is a deterministic arithmetic lab, not new policy training.</a:t>
            </a:r>
            <a:endParaRPr lang="en-US" sz="1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name: landing_upright | weight: 3 | sign: reward | definition: clip((1 - projected_gravity_z) / 2, 0, 1) | scope: PPO landing stage only</a:t>
            </a:r>
            <a:endParaRPr lang="en-US" sz="20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name: landing_pose | weight: 2 | sign: reward | definition: landing_upright times the mean of equal 0.60-rad and 0.15-rad Gaussian pose kernels | scope: PPO landing stage only</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name: landing_settle | weight: 1 | sign: reward | definition: landing_upright times pose score times exp(-sum(gyro squared) / 2) | scope: PPO landing stage only</a:t>
            </a:r>
            <a:endParaRPr lang="en-US" sz="17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name: landing_joint_speed_penalty | weight: 0.05 | sign: penalty | definition: -mean(min(joint_velocity squared / 100, 1)) | scope: PPO landing stage only</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16</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name: landing_action_rate_penalty | weight: 0.02 | sign: penalty | definition: -mean(min((action - previous_action) squared, 1)) | scope: PPO landing stage only</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name: landing_action_size_penalty | weight: 0.01 | sign: penalty | definition: -mean(min(action squared / 16, 1)) | scope: PPO landing stage only</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name: total_reward | weight: null | sign: bounded sum | definition: 3*landing_upright + 2*landing_pose + landing_settle + 0.05*landing_joint_speed_penalty + 0.02*landing_action_rate_penalty + 0.01*landing_action_size_penalty; bounded from -0.08 to 6 | scope: Every component is zero during assisted launch and pretrained stand handoff</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950" dirty="0">
                <a:solidFill>
                  <a:srgbClr val="142D3B"/>
                </a:solidFill>
                <a:latin typeface="Aptos" pitchFamily="34" charset="0"/>
                <a:ea typeface="Aptos" pitchFamily="34" charset="-122"/>
                <a:cs typeface="Aptos" pitchFamily="34" charset="-120"/>
              </a:rPr>
              <a:t>config: transition_budget | value: 401408 | detail: 196 complete batches of 16 environments x 128 steps; assisted reset preparation is excluded</a:t>
            </a:r>
            <a:endParaRPr lang="en-US" sz="19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config: ppo_batch | value: 16 environments, 128 steps per environment, 4 minibatches, 2 update epochs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config: optimizer | value: Adam learning rate 3e-6, maximum gradient norm 0.5, fresh PPO optimizer</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config: discount_and_objective | value: gamma 0.99, GAE lambda 0.95, clip coefficient 0.2, clipped value loss enabled, value coefficient 1.0, normalized advantages enabled</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config: exploration | value: initial action standard deviation 0.03, entropy coefficient 0</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config: normalization | value: transferred observation normalization frozen; reward normalization enabled and frozen after teacher calibration; calibrated discounted-return standard deviation 147.2994092878347</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config: episode_and_randomization | value: 12 s episodes, seed 7, XML actuator, dummy vector backend, domain randomization off, observation noise off, action delay off, random yaw off</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config: telemetry_fields | value: phase; env_steps; steps; seconds; optimizer_steps; mean_loss; policy_loss; value_loss; entropy; approximate_kl; clip_fraction; explained_variance; mean_reward; mean_raw_return</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19</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duck-viewer:</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npm run dev</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Start the Studio service before the API reproduction driver.</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duck-viewer:</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node scripts/rlx-dance-api-e2e.mjs --execute --experiment backflip --run backflip-reproduction-001 --profile full --recipe-json ../docs/backflip-showcase/recipe.json --report ../.restart-lab/backflip-reproduction-001.json</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 the documented full Studio train, evaluate, render, and export sequence with a fresh run name.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20</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rlx/.venv-microduck/bin/python rlx/scripts/audit_backflip.py --run rlx/runs/studio/backflip/backflip-reproduction-001 --output rlx/artifacts/backflip-reproduction-001 --seeds 101,102,103,104,105,106,107,108</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 the paired showcase, landing-only, initializer, stand, and zero-action audit.</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duck-viewer:</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BACKFLIP_RUN=backflip-e2e-20260908-v5 node scripts/verify-backflip-studio.mjs</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Verify the retained V5 Studio card, guidance, evaluation panel, source-bound video, and responsive layout without retraining.</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does the logged signal match the task?</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21</a:t>
            </a:r>
            <a:endParaRPr lang="en-US" sz="1200" dirty="0"/>
          </a:p>
        </p:txBody>
      </p:sp>
      <p:pic>
        <p:nvPicPr>
          <p:cNvPr id="8" name="Image 0" descr="/Volumes/ExternalSSD/geoagent/microduck-lab/docs/classroom-ppt/assets/backflip/reward.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Training reward is an optimization signal, not the acceptance test. See raw/&lt;case&gt;/ for complete recorded fields.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Loss: inspect actor, critic and policy drift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22</a:t>
            </a:r>
            <a:endParaRPr lang="en-US" sz="1200" dirty="0"/>
          </a:p>
        </p:txBody>
      </p:sp>
      <p:pic>
        <p:nvPicPr>
          <p:cNvPr id="8" name="Image 0" descr="/Volumes/ExternalSSD/geoagent/microduck-lab/docs/classroom-ppt/assets/backflip/los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A lower loss does not prove a better robot skill. Loss sign and scale depend on the implementation.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Diagnostics: is the optimizer behaving?</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23</a:t>
            </a:r>
            <a:endParaRPr lang="en-US" sz="1200" dirty="0"/>
          </a:p>
        </p:txBody>
      </p:sp>
      <p:pic>
        <p:nvPicPr>
          <p:cNvPr id="8" name="Image 0" descr="/Volumes/ExternalSSD/geoagent/microduck-lab/docs/classroom-ppt/assets/backflip/diagnostic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Entropy, clipping, explained variance and timing are diagnostics — not a standalone pass/fail certificate.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approximate_kl: first 0.04450 → final 0.004050; min 0.001318, max 0.04450; 196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clip_fraction: first 0.2825 → final 0.04956; min 0.004150, max 0.2825; 196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entropy: first -29.23 → final -29.23; min -29.23, max -29.23; 196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explained_variance: first 0.6132 → final 0.9215; min -0.8016, max 0.9343; 196 logged samples.</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mean_loss: first 0.001169 → final -0.003597; min -0.01114, max 0.007229; 196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mean_raw_return: first 3411 → final 2976; min 2976, max 3411; 41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mean_reward: first 0.03612 → final 0.03421; min 0.03213, max 0.03926; 196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policy_loss: first -0.0009842 → final -0.003618; min -0.01235, max 0.005976; 196 logged samples.</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26</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value_loss: first 0.002153 → final 0.00002170; min 0.00001931, max 0.002153; 196 logged samples.</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 smoke profile is only a four-transition pipeline check and is not skill evidence.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Require deterministic evaluation to report every complete requested episode; reject incomplete, nonfinite, assisted-after-release, unsupported, or failed seeds.</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Check the 600-step three-stage gate separately from the 600-step landing-only gate.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Confirm assist_after_release_steps is zero before crediting PPO landing behavior.</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Confirm handoff rotation is at least 5.8 rad and the pre-handoff PPO stability streak reaches 10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Confirm the final 100 landing-only samples meet the physical stability thresholds; a low gyro alone is insufficient.</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Compare final and initializer raw landing returns seed by seed and repeat under fixed action noise before claiming PPO refinement.</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Inspect rollout MP4 and contact sheet for airborne rotation, landing contact, controller stage labels, and final stand hold.</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29</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Verify ONNX 61-to-14 contract and PyTorch/ONNX action parity, plus policy and stand-policy hash provenance.</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fact: The retained V5 default three-stage evaluation passed 16 of 16 complete 600-step showcase episodes. | source: rlx/runs/studio/backflip/backflip-e2e-20260908-v5/evaluation.json</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fact: The independent audit passed 8 of 8 showcase episodes on seeds 801-808. | source: rlx/artifacts/backflip-e2e-20260908-v5/report.md</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fact: With stand handoff removed, the final PPO actor passed 7 of 8 landing-only episodes; seed 808 did not hold all final 100 samples. | source: rlx/artifacts/backflip-e2e-20260908-v5/report.md</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fact: Paired landing-only mean raw return regressed from 3409.02 for the initializer to 2978.57 for the final actor, a delta of -430.449 or -12.63 percent; 0 of 8 seeds improved. | source: rlx/artifacts/backflip-e2e-20260908-v5/report.md</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31</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1900" dirty="0">
                <a:solidFill>
                  <a:srgbClr val="142D3B"/>
                </a:solidFill>
                <a:latin typeface="Aptos" pitchFamily="34" charset="0"/>
                <a:ea typeface="Aptos" pitchFamily="34" charset="-122"/>
                <a:cs typeface="Aptos" pitchFamily="34" charset="-120"/>
              </a:rPr>
              <a:t>fact: Zero actions passed 0 of 8 landing-only episodes despite a near-zero final gyro; mean final height was about 0.0316 m and upright projection about 0.1351. | source: rlx/artifacts/backflip-e2e-20260908-v5/report.md</a:t>
            </a:r>
            <a:endParaRPr lang="en-US" sz="19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fact: Final and initialization ONNX parity maximum absolute action error was 9.53674e-07, and the 61-input/14-output contract passed. | source: rlx/artifacts/backflip-e2e-20260908-v5/report.md</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fact: The first PPO update recorded mean_loss 0.0011691017134580761, policy_loss -0.0009841816499829292, value_loss 0.002153283334337175, approximate_kl 0.04449799966823775, and clip_fraction 0.282470703125. | source: rlx/runs/studio/backflip/backflip-e2e-20260908-v5/training-metrics.jsonl</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32</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fact: The final PPO update at env_steps 401408 recorded mean_loss -0.0035966151881439146, policy_loss -0.003618316142819822, value_loss 0.000021701008108720998, approximate_kl 0.004050072617246769, clip_fraction 0.049560546875, and explained_variance 0.9215395247283621. | source: rlx/runs/studio/backflip/backflip-e2e-20260908-v5/training-metrics.jsonl</a:t>
            </a:r>
            <a:endParaRPr lang="en-US" sz="20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fact: The assisted showcase passed its physical gate but the extended audit verdict is FAIL because PPO refinement and all-seed standalone landing success were false. | source: rlx/artifacts/backflip-e2e-20260908-v5/audit.json</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EMBEDDED OFFLINE VIDEO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Watch the actual saved rollout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33</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indent="0" marL="0">
              <a:buNone/>
            </a:pPr>
            <a:r>
              <a:rPr lang="en-US" sz="1300" b="1" dirty="0">
                <a:solidFill>
                  <a:srgbClr val="087E8B"/>
                </a:solidFill>
                <a:latin typeface="Aptos" pitchFamily="34" charset="0"/>
                <a:ea typeface="Aptos" pitchFamily="34" charset="-122"/>
                <a:cs typeface="Aptos" pitchFamily="34" charset="-120"/>
              </a:rPr>
              <a:t>BEFORE PLAY</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indent="0" marL="0">
              <a:buNone/>
            </a:pPr>
            <a:r>
              <a:rPr lang="en-US" sz="2300" b="1" dirty="0">
                <a:solidFill>
                  <a:srgbClr val="142D3B"/>
                </a:solidFill>
                <a:latin typeface="Aptos" pitchFamily="34" charset="0"/>
                <a:ea typeface="Aptos" pitchFamily="34" charset="-122"/>
                <a:cs typeface="Aptos" pitchFamily="34" charset="-120"/>
              </a:rPr>
              <a:t>Predict one success signal and one failure signal.</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indent="0" marL="0">
              <a:buNone/>
            </a:pPr>
            <a:r>
              <a:rPr lang="en-US" sz="1300" b="1" dirty="0">
                <a:solidFill>
                  <a:srgbClr val="D96C35"/>
                </a:solidFill>
                <a:latin typeface="Aptos" pitchFamily="34" charset="0"/>
                <a:ea typeface="Aptos" pitchFamily="34" charset="-122"/>
                <a:cs typeface="Aptos" pitchFamily="34" charset="-120"/>
              </a:rPr>
              <a:t>AFTER PLAY</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Which claims does this clip support? What remains untested?</a:t>
            </a:r>
            <a:endParaRPr lang="en-US" sz="2100" dirty="0"/>
          </a:p>
        </p:txBody>
      </p:sp>
      <p:sp>
        <p:nvSpPr>
          <p:cNvPr id="13" name="Text 10"/>
          <p:cNvSpPr/>
          <p:nvPr/>
        </p:nvSpPr>
        <p:spPr>
          <a:xfrm>
            <a:off x="731520" y="6044184"/>
            <a:ext cx="10789920" cy="201168"/>
          </a:xfrm>
          <a:prstGeom prst="rect">
            <a:avLst/>
          </a:prstGeom>
          <a:noFill/>
          <a:ln/>
        </p:spPr>
        <p:txBody>
          <a:bodyPr wrap="square" lIns="0" tIns="0" rIns="0" bIns="0" rtlCol="0" anchor="ctr"/>
          <a:lstStyle/>
          <a:p>
            <a:pPr indent="0" marL="0">
              <a:buNone/>
            </a:pPr>
            <a:r>
              <a:rPr lang="en-US" sz="1100" dirty="0">
                <a:solidFill>
                  <a:srgbClr val="566C79"/>
                </a:solidFill>
                <a:latin typeface="Aptos" pitchFamily="34" charset="0"/>
                <a:ea typeface="Aptos" pitchFamily="34" charset="-122"/>
                <a:cs typeface="Aptos" pitchFamily="34" charset="-120"/>
              </a:rPr>
              <a:t>12.0 s saved MP4  •  Click in PowerPoint Slide Show  •  Backup: videos/backflip-rollout.mp4</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This is not an unassisted learned backflip. The simulator spotter supplies substantial launch energy and rotation.</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final stand is not owned by PPO; alpha_stand.onnx takes over only after the PPO landing gate.</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Exact teacher transfer means the landing ability was not learned from scratch.</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V5 physical showcase success does not establish PPO improvement; paired landing-only return regressed and one independent landing seed failed.</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reward can score an upright airborne pose; touchdown and support are enforced by a separate physical gate.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Randomization, noise, delay, and random yaw were disabled in the retained run.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exported backflip.onnx is only the landing-stage actor, not a complete controller and not hardware deployment authorization.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No result establishes real-robot safety, actuator feasibility, or sim-to-real robustness.</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Draw a three-column timeline and assign every launch, landing, and stand action to spotter, PPO actor, or pretrained stand policy.</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Using the observation table, identify which reward inputs are actor-observable and which acceptance checks are privileged evaluator signals.</a:t>
            </a:r>
            <a:endParaRPr lang="en-US" sz="20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Compute the PPO batch size, number of optimizer steps per update, and number of complete updates in 401,408 transitions.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Recalculate the reward upper and lower bounds from the six term weights.</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Compare the first and last update fields, then explain why smaller losses or KL do not prove a better landing.</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Use the audit table to calculate the paired percentage change for one seed and compare it with the aggregate -12.63 percent result.</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Inspect ep0.mp4 and list the visual evidence that distinguishes launch assistance, PPO landing, and stand handoff.</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Design a fixed-noise paired evaluation that keeps the physical gate unchanged and tests whether a successor improves the initializer.</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38</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Write a one-sentence claim that is supported by the evidence and a second sentence that would overclaim.</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Submit an experiment, not just a video</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Before training: write one hypothesis, the changed parameter, the fixed baseline, seed list, acceptance criteria and time/transition budget.</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During training: save the exact command, environment versions, initialization, checkpoint and raw reward/loss/KL metrics. Never overwrite the saved reference run.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After training: evaluate the frozen exported policy on matched seeds; include all failures, aggregate metrics, the full rollout video and a source-bound result table.</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Rubric / 10: reproducibility 2; environment and reward explanation 2; PPO and metrics interpretation 2; honest verification 2; one evidence-based next experiment 2.</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40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microduck_local/AGENTS.md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docs/student-book/microduck-lab-student-book.md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docs/backflip-showcase/REPORT.md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docs/backflip-showcase/recipe.json</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BACKFLIP: ASSISTED LAUNCH, PPO LANDING, AND STAND HANDOFF</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41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docs/microduck-training-student-book/chapters/02a-ppo-code-lab.md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docs/microduck-training-student-book/chapters/02b-gae-workshop.md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scripts/scenarios/README.md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Community education — not affiliated with Pollen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Microduck PPO Lab 5: Backflip: Assisted Launch, PPO Landing, and Stand Handoff</dc:title>
  <dc:subject>Source-grounded PPO robot training: setup, environment, rewards, verification and evidence</dc:subject>
  <dc:creator>Microduck Lab classroom materials</dc:creator>
  <cp:lastModifiedBy>Microduck Lab classroom materials</cp:lastModifiedBy>
  <cp:revision>1</cp:revision>
  <dcterms:created xsi:type="dcterms:W3CDTF">2026-09-11T20:37:21Z</dcterms:created>
  <dcterms:modified xsi:type="dcterms:W3CDTF">2026-09-11T20:37:21Z</dcterms:modified>
</cp:coreProperties>
</file>