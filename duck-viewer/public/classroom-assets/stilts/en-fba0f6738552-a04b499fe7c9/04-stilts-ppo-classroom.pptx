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Stilt Walking: Adapting Control to Changed Contact Geometry
Use case: Teach morphology-aware simulation, staged PPO continuation, command-directed walking gates, and why a compatible tensor interface is not a hardware safety claim.
Start by explaining the difference between a simulation training pipeline and skill mastery. The cover image is a frame decoded from this case's actual rollout, not generated artwork.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will build — and what the evidence says
Use case: Teach morphology-aware simulation, staged PPO continuation, command-directed walking gates, and why a compatible tensor interface is not a hardware safety claim.
By the end: describe the scene, map observations to actions, explain the reward, trace one PPO update, run a bounded experiment, and defend an evaluation claim.
The evidence covers one fixed 2 cm morphology, blend 0, 0.014 kg mass, and one 0.25 m/s command; morphology generalization is unknown.
Scope: local MuJoCo simulation. Do not deploy these classroom artifacts to a physical robot; hardware transfer requires a separate validated process.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Materials and prerequisites  ·  1/2
Apple Silicon Mac with installed RLX/MLX, MuJoCo, ONNX Runtime, rendering dependencies, and Node.
Tracked base and refinement recipes: stilts-base.json and stilts.json.
Procedurally generated rigid stilt bodies, mesh collisions, moved foot sites, and raised STAND keyframe.
Saved base checkpoint plus adjacent normalization sidecar; both are required for refinement.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Materials and prerequisites  ·  2/2
Final checkpoint, ONNX actor, evaluation JSON, five-seed traces, optimizer JSONL, MP4, contact sheet, and render receipt.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 and policy contract  ·  1/2
Nominal XML MuJoCo at 50 Hz with 2 cm stilts, blend 0, and 0.014 kg added mass per foot.
Original sole collisions are disabled; each ankle receives a rigid stilt mesh, new collision, bottom foot site, and raised standing root.
Observation remains float32 batch x 61; stilt height, blend, mass, contacts, world position, and absolute yaw are not actor inputs.
Action remains float32 batch x 14 raw target offsets; raw values are observed and penalized, while applied offsets clip to [-4,4].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 and policy contract  ·  2/2
Fixed twist command is [0.25,0,0]; episode horizon is 500 steps or 10 seconds.
Domain randomization, observation noise, action delay, and random yaw are disabled; the policy specializes to one morphology.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Case-specific build flow
01 / MATERIALS: Robot + colliding stilts
02 / CONTACT: Adapt support geometry
03 / OBJECTIVE: Velocity + stable support
04 / TRAIN: Base PPO → refinement
05 / VERIFY: Progress + contact audits
06 / EVIDENCE: Seed sweep + stilt video
This is an explanatory workflow diagram, not a measured learning curve.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case step by step  ·  1/2
Build the morphology before environment creation: disable sole collisions, attach two rigid stilt bodies, move contact sites, and raise STAND by 0.02 m.
Train Stilt v2 from random actor and critic weights for 6,000,640 transitions at a fixed 0.25 m/s command.
Retain the v2 failure: it learned alternating locomotion, but four of five historical episodes failed signed intended displacement.
Copy checkpoint and .safetensors.json sidecar into a fresh v3 run; preserve actor, critic, log std, and normalization lineage.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case step by step  ·  2/2
Refine for 1,048,576 transitions while increasing angular tracking from 0.5 to 4 and leaving morphology and gate unchanged.
Export deterministic ONNX and evaluate complete 10-second episodes with intended displacement and bilateral contact-event criteria.
Audit seeds 501-505 against zero, random, and initial controls; validate ONNX parity and inspect the complete stilt MP4.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PPO clipped surrogate
This is a teaching formula, not a saved experiment value. The optimizer minimizes the negative policy surrogate plus the implementation-specific value and entropy terms. PPO clipping is not a hard KL bound; monitor KL and clip fraction. A negative policy loss or Gaussian entropy is not automatically an error. Each scenario has its own reward units and optimizer conventions.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rollout through the learner
Collect observations, sampled actions, old log probabilities, values, rewards and episode-boundary flags using the current stochastic actor.
Compute TD residuals and generalized advantage estimates (GAE). A true terminal has zero continuation value; a timeout may bootstrap the saved final observation.
Cut advantage traces at reset boundaries. Never bootstrap a timeout from the first observation of the next episode.
Reuse this batch for PPO minibatch updates, then collect fresh on-policy data. Export the deterministic actor and its observation transform for evaluation.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exercise: count samples and clip the objective
Illustrative arithmetic, NOT this run: 16 environments × 128 steps = 2,048 fresh transitions per rollout. Four epochs reuse those transitions; they do not create 8,192 new samples.
With ε = 0.2, ratio = 1.4 and A = +2: min(2.8, 2.4) = 2.4. The minimized policy term is −2.4 before averaging and additional loss terms.
With the same ratio and A = −2: min(−2.8, −2.4) = −2.8. Explain why clipping is asymmetric once the sign of the advantage changes.
Run from repo root: python3 docs/microduck-training-student-book/learning_lab.py --gae. This is a deterministic arithmetic lab, not new policy training.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design: what the agent is paid to do  ·  1/2
track_lin_vel 20: Gaussian body-frame command tracking including vertical-speed error.
track_ang_vel 4: Gaussian yaw-command tracking plus roll/pitch angular-rate costs; base weight was 0.5.
upright 1: bounded projected-gravity posture score; pose remains present with weight 0.
feet_air_time 4: dense per-foot reward for air timers inside the walking window.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design: what the agent is paid to do  ·  2/2
head_pose 0.1 tracks head command; ang_vel_xy_penalty 0.02 is non-positive by construction.
Inherited action-rate penalty is rescaled by 0.2 and follows an environment-lifetime schedule up to effective coefficient 0.20.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training recipe  ·  1/2
Base v2: seed 7, 6,000,640 transitions, 16 envs x 128 steps, 2,930 rollouts, 46,880 optimizer minibatches, learning rate 0.0003.
Continuation v3: 1,048,576 transitions, 512 rollouts, 8,192 optimizer minibatches, learning rate 0.0001.
Entire selected lineage: 7,049,216 transitions, 3,442 rollout/update cycles, and 55,072 optimizer minibatches.
Both stages use 4 minibatches x 4 epochs, gamma 0.99, GAE lambda 0.95, clip 0.2, value coefficient 1, entropy 0, and max grad norm 0.5.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training recipe  ·  2/2
Base initial std is 0.6; continuation loads learned actor, critic, log std, observation stats, and return stats but starts fresh Adam state.
Update log fields are phase, steps, seconds, optimizer_steps, mean_loss, policy_loss, value_loss, entropy, approximate_kl, clip_fraction, explained_variance, env_steps.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commands: inspect, smoke, train  ·  1/3
From .:
./scripts/train-stilts.sh --dry-run
Inspect the guarded two-stage Stilt pipeline without training.
From .:
./scripts/train-stilts.sh
Run the independent Full Stilt base and refinement pipeline with fresh outputs.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commands: inspect, smoke, train  ·  2/3
From .:
RUN=stilts-classroom-$(date +%Y%m%d-%H%M%S); ./scripts/train-stilts.sh --recipe-json docs/remaining-scenarios-e2e/recipes/stilts.json --init-from rlx/runs/studio/stilts/stilts-e2e-20260907-v2/stilts.safetensors --run-name "$RUN"
Refine the retained v2 checkpoint with its adjacent sidecar in a fresh run; keep RUN in this terminal for the following audit. Requires the ignored historical base artifacts.
From .:
rlx/.venv-microduck/bin/python rlx/scripts/audit_scenarios.py --recipe-json docs/remaining-scenarios-e2e/recipes/stilts.json --run "rlx/runs/studio/stilts/${RUN:?Run the refinement command first in this shell}" --output "rlx/artifacts/$RUN-audit" --seeds 501 502 503 504 505 --render
Audit a completed Stilt reproduction over five held-out reset seeds.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commands: inspect, smoke, train  ·  3/3
From .:
python3 -m unittest discover -s scripts/scenarios -p 'test_*.py'
Run scenario-pipeline unit tests without starting training.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does the logged signal match the task?
Chart source: rlx/runs/studio/stilts/stilts-e2e-20260907-v3/training-metrics.jsonl
Training reward is an optimization signal, not the acceptance test. See raw/&lt;case&gt;/ for complete recorded fields.
Series are unsmoothed recorded values. Gaps mean the logger did not provide the requested field. Reward definitions differ: mean_raw_return is episodic, mean_reward is a collection-step mean, and drawing mean_rollout_reward is a rollout-step mean. Do not compare numerical scales across scenarios. No interpolation of missing metrics and no claim of a new experiment.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Loss: inspect actor, critic and policy drift
Chart source: rlx/runs/studio/stilts/stilts-e2e-20260907-v3/training-metrics.jsonl
A lower loss does not prove a better robot skill. Loss sign and scale depend on the implementation.
Series are unsmoothed recorded values. Gaps mean the logger did not provide the requested field. Reward definitions differ: mean_raw_return is episodic, mean_reward is a collection-step mean, and drawing mean_rollout_reward is a rollout-step mean. Do not compare numerical scales across scenarios. No interpolation of missing metrics and no claim of a new experiment.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Diagnostics: is the optimizer behaving?
Chart source: rlx/runs/studio/stilts/stilts-e2e-20260907-v3/training-metrics.jsonl
Entropy, clipping, explained variance and timing are diagnostics — not a standalone pass/fail certificate.
Series are unsmoothed recorded values. Gaps mean the logger did not provide the requested field. Reward definitions differ: mean_raw_return is episodic, mean_reward is a collection-step mean, and drawing mean_rollout_reward is a rollout-step mean. Do not compare numerical scales across scenarios. No interpolation of missing metrics and no claim of a new experiment.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matrix: numerical audit of this trace  ·  1/3
approximate_kl: first 0.7690 → final 0.01645; min 0.01199, max 0.7690; 512 logged samples.
clip_fraction: first 0.8031 → final 0.1975; min 0.1729, max 0.8031; 512 logged samples.
entropy: first 1.885 → final 1.044; min 1.042, max 1.915; 512 logged samples.
explained_variance: first -0.6301 → final -0.05376; min -4.396, max 0.9882; 512 logged samples.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matrix: numerical audit of this trace  ·  2/3
mean_loss: first 0.05201 → final -0.02159; min -0.02890, max 0.05201; 512 logged samples.
mean_raw_return: first 9733 → final 9516; min -1078, max 1.008e+4; 1597 logged samples.
mean_reward: first 0.03273 → final 0.03256; min 0.03087, max 0.03439; 512 logged samples.
policy_loss: first 0.05076 → final -0.02173; min -0.02894, max 0.05076; 512 logged samples.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matrix: numerical audit of this trace  ·  3/3
value_loss: first 0.001246 → final 0.0001441; min 0.00002407, max 0.04076; 512 logged samples.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define success before looking  ·  1/2
Require every episode to complete 500 samples without termination, with finite physical metrics and upright fraction &gt;= 0.95.
Require commanded fraction &gt;= 0.50, directed speed &gt;= 0.06 m/s, signed intended displacement &gt;= 0.30 m, and speed ratio &gt;= 0.30.
Require at least 4 alternating support switches, each foot air fraction &gt;= 0.05, contact fraction &gt;= 0.10, and bilateral lift/touch events.
No both-feet aerial minimum is required; the selected gait's 0.002 aerial fraction is consistent with walking rather than running.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define success before looking  ·  2/2
Verify the exact experiment identity: 2 cm height, blend 0, 0.014 kg per foot, fixed 0.25 m/s command, and nominal XML settings.
Require negative controls to fail; validate hashes, finite JSONL metrics, dynamic batch x 61 to x 14 ONNX, parity, decoded MP4, and contact sheet.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what was actually measured  ·  1/3
Actual final evidence: PASS for stilts-e2e-20260907-v3; Studio evaluation passed 16/16 complete 10-second episodes.
Independent seeds 501-505 passed 5/5; directed speeds were 0.22997129111680586-0.2416003712839324 m/s.
Signed intended displacement was 1.2806188720775356-2.2887101436867505 m; speed ratios were 0.9198851644672235-0.9664014851357297.
All five had upright fraction 1.0, 90-92 support switches, left air 0.364-0.41000000000000003, and right air 0.35-0.36.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what was actually measured  ·  2/3
Aerial fraction was 0.002 in each five-seed audit episode; no aerial minimum exists for the Stilt gate.
The v2 initializer already passed comparison seed 501; v3 raised raw return from 10431.73 to 11189.72, a change of 757.9966477797989.
Zero action fell after 39-46 steps and random action also failed; transient release speed did not satisfy horizon, displacement, or support gates.
ONNX/native maximum action error was 9.5367431640625e-7; learned tensor L2 change from the initializer was 6.614700815060063.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what was actually measured  ·  3/3
Final-100 means: policy_loss -0.02061349222087301, value_loss 0.00126573708695787, mean_loss -0.01934775511010912.
Final-100 approximate_kl 0.01905187215463229, clip_fraction 0.2322412109375, explained_variance 0.19922025200911597.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Saved policy video
Source: rlx/runs/studio/stilts/stilts-e2e-20260907-v3/render/ep0.mp4
Embedded video bytes are copied unchanged, not regenerated and not sped up. A single video is not a seed sweep. PowerPoint playback requires a user click; use the included MP4 in a local player if a presentation viewer cannot decode embedded media.
The evidence covers one fixed 2 cm morphology, blend 0, 0.014 kg mass, and one 0.25 m/s command; morphology generalization is unknown.
Height, blend, and mass are not observed by the actor, so changing hardware geometry is outside the demonstrated task.
The base already passed one comparison seed; v3 supports refinement, not sole credit for acquiring stilt locomotion.
No BAM dynamics, bus latency, randomized mass/friction/noise/delay/yaw, uneven terrain, pushes, or alternative stilt dimensions were tested.
Simulation omits attachment compliance, backlash, tolerances, loosening, cable routing, current limits, temperature, battery sag, and impacts.
A compatible 61-to-14 ONNX interface is necessary for deployment tooling but is not a physical safety certificate.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and failure analysis  ·  1/2
The evidence covers one fixed 2 cm morphology, blend 0, 0.014 kg mass, and one 0.25 m/s command; morphology generalization is unknown.
Height, blend, and mass are not observed by the actor, so changing hardware geometry is outside the demonstrated task.
The base already passed one comparison seed; v3 supports refinement, not sole credit for acquiring stilt locomotion.
No BAM dynamics, bus latency, randomized mass/friction/noise/delay/yaw, uneven terrain, pushes, or alternative stilt dimensions were tested.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and failure analysis  ·  2/2
Simulation omits attachment compliance, backlash, tolerances, loosening, cable routing, current limits, temperature, battery sag, and impacts.
A compatible 61-to-14 ONNX interface is necessary for deployment tooling but is not a physical safety certificate.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lab: change one variable, keep the gates  ·  1/2
Recommended exercise, not saved evidence: locate observable yaw-rate indices and list morphology variables missing from the actor input.
Recommended exercise, not saved evidence: compute the weight-20 linear tracking reward for velocity (0.20,0.02,0.01) and command (0.25,0,0).
Recommended exercise, not saved evidence: explain why moving only the foot site would not reproduce the changed collision geometry.
Recommended exercise, not saved evidence: verify base and continuation PPO counts and distinguish fresh transitions from epoch reuse.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lab: change one variable, keep the gates  ·  2/2
Recommended exercise, not saved evidence: predeclare a held-out matrix of stilt heights, blends, and masses with pass/fail interpretation.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Submit an experiment, not just a video
Before training: write one hypothesis, the changed parameter, the fixed baseline, seed list, acceptance criteria and time/transition budget.
During training: save the exact command, environment versions, initialization, checkpoint and raw reward/loss/KL metrics. Never overwrite the saved reference run.
After training: evaluate the frozen exported policy on matched seeds; include all failures, aggregate metrics, the full rollout video and a source-bound result table.
Rubric / 10: reproducibility 2; environment and reward explanation 2; PPO and metrics interpretation 2; honest verification 2; one evidence-based next experiment 2.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map and further study  ·  1/2
AGENTS.md
microduck_local/AGENTS.md
microduck_local/src/microduck_local/contract.py
README.md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map and further study  ·  2/2
docs/microduck-training-student-book/chapters/02a-ppo-code-lab.md
docs/microduck-training-student-book/chapters/02b-gae-workshop.md
scripts/scenarios/README.md
README.md
Teaching protocol: ask students to predict the outcome before showing the evidence. Separate saved measurements, explanatory arithmetic, and proposed experiments. Never imply that these slides report newly trained policies or hardware validation.
Case sources (repository-relative):
AGENTS.md
microduck_local/AGENTS.md
microduck_local/src/microduck_local/contract.py
README.md
rlx/README.md
scripts/train-stilts.sh
scripts/scenarios/README.md
docs/microduck-training-student-book/chapters/05-stilts.md
docs/microduck-training-student-book/REPRODUCTION.md
docs/remaining-scenarios-e2e/REPORT.md
docs/remaining-scenarios-e2e/recipes/stilts-base.json
docs/remaining-scenarios-e2e/recipes/stilts.json
rlx/rlx/environments/microduck_recipes.py
rlx/scripts/audit_scenarios.py
rlx/runs/studio/stilts/stilts-e2e-20260907-v3/stilts.safetensors.json
rlx/runs/studio/stilts/stilts-e2e-20260907-v3/evaluation.json
rlx/runs/studio/stilts/stilts-e2e-20260907-v3/render/evidence.json
rlx/artifacts/scenarios-e2e-20260907/stilts-v3-audit/audit.json
PPO teaching references:
docs/microduck-training-student-book/chapters/02a-ppo-code-lab.md
docs/microduck-training-student-book/chapters/02b-gae-workshop.md
scripts/scenarios/README.md
README.md
Evidence edition: 2026-09-11. Complete raw recorded metrics are bundled under raw/stilts/. For exact copyable commands and detailed case evidence, use the companion instructor guide and evidence/cases.json.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video" Target="../media/media-31-1.mp4"/><Relationship Id="rId2" Type="http://schemas.microsoft.com/office/2007/relationships/media" Target="../media/media-31-1.mp4"/><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EIGHT CASES / ONE LEARNING METHOD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LAB 04</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01</a:t>
            </a:r>
            <a:endParaRPr lang="en-US" sz="1200" dirty="0"/>
          </a:p>
        </p:txBody>
      </p:sp>
      <p:sp>
        <p:nvSpPr>
          <p:cNvPr id="8" name="Text 6"/>
          <p:cNvSpPr/>
          <p:nvPr/>
        </p:nvSpPr>
        <p:spPr>
          <a:xfrm>
            <a:off x="658368" y="1828800"/>
            <a:ext cx="5532120" cy="1298448"/>
          </a:xfrm>
          <a:prstGeom prst="rect">
            <a:avLst/>
          </a:prstGeom>
          <a:noFill/>
          <a:ln/>
        </p:spPr>
        <p:txBody>
          <a:bodyPr wrap="square" lIns="0" tIns="0" rIns="0" bIns="0" rtlCol="0" anchor="ctr"/>
          <a:lstStyle/>
          <a:p>
            <a:pPr indent="0" marL="0">
              <a:buNone/>
            </a:pPr>
            <a:r>
              <a:rPr lang="en-US" sz="4300" b="1" dirty="0">
                <a:solidFill>
                  <a:srgbClr val="142D3B"/>
                </a:solidFill>
                <a:latin typeface="Aptos" pitchFamily="34" charset="0"/>
                <a:ea typeface="Aptos" pitchFamily="34" charset="-122"/>
                <a:cs typeface="Aptos" pitchFamily="34" charset="-120"/>
              </a:rPr>
              <a:t>Stilt walking</a:t>
            </a:r>
            <a:endParaRPr lang="en-US" sz="4300" dirty="0"/>
          </a:p>
        </p:txBody>
      </p:sp>
      <p:sp>
        <p:nvSpPr>
          <p:cNvPr id="9" name="Text 7"/>
          <p:cNvSpPr/>
          <p:nvPr/>
        </p:nvSpPr>
        <p:spPr>
          <a:xfrm>
            <a:off x="685800" y="3328416"/>
            <a:ext cx="5230368" cy="1005840"/>
          </a:xfrm>
          <a:prstGeom prst="rect">
            <a:avLst/>
          </a:prstGeom>
          <a:noFill/>
          <a:ln/>
        </p:spPr>
        <p:txBody>
          <a:bodyPr wrap="square" lIns="0" tIns="0" rIns="0" bIns="0" rtlCol="0" anchor="ctr"/>
          <a:lstStyle/>
          <a:p>
            <a:pPr indent="0" marL="0">
              <a:buNone/>
            </a:pPr>
            <a:r>
              <a:rPr lang="en-US" sz="2300" dirty="0">
                <a:solidFill>
                  <a:srgbClr val="566C79"/>
                </a:solidFill>
                <a:latin typeface="Aptos" pitchFamily="34" charset="0"/>
                <a:ea typeface="Aptos" pitchFamily="34" charset="-122"/>
                <a:cs typeface="Aptos" pitchFamily="34" charset="-120"/>
              </a:rPr>
              <a:t>Stilt Walking: Adapting Control to Changed Contact Geometry</a:t>
            </a:r>
            <a:endParaRPr lang="en-US" sz="2300" dirty="0"/>
          </a:p>
        </p:txBody>
      </p:sp>
      <p:sp>
        <p:nvSpPr>
          <p:cNvPr id="10" name="Text 8"/>
          <p:cNvSpPr/>
          <p:nvPr/>
        </p:nvSpPr>
        <p:spPr>
          <a:xfrm>
            <a:off x="685800" y="4645152"/>
            <a:ext cx="5230368" cy="548640"/>
          </a:xfrm>
          <a:prstGeom prst="rect">
            <a:avLst/>
          </a:prstGeom>
          <a:noFill/>
          <a:ln/>
        </p:spPr>
        <p:txBody>
          <a:bodyPr wrap="square" lIns="0" tIns="0" rIns="0" bIns="0" rtlCol="0" anchor="ctr"/>
          <a:lstStyle/>
          <a:p>
            <a:pPr indent="0" marL="0">
              <a:buNone/>
            </a:pPr>
            <a:r>
              <a:rPr lang="en-US" sz="1700" dirty="0">
                <a:solidFill>
                  <a:srgbClr val="566C79"/>
                </a:solidFill>
                <a:latin typeface="Aptos" pitchFamily="34" charset="0"/>
                <a:ea typeface="Aptos" pitchFamily="34" charset="-122"/>
                <a:cs typeface="Aptos" pitchFamily="34" charset="-120"/>
              </a:rPr>
              <a:t>Environment design · PPO · Honest verification</a:t>
            </a:r>
            <a:endParaRPr lang="en-US" sz="1700" dirty="0"/>
          </a:p>
        </p:txBody>
      </p:sp>
      <p:pic>
        <p:nvPicPr>
          <p:cNvPr id="11" name="Image 0" descr="/Volumes/ExternalSSD/geoagent/microduck-lab/docs/classroom-ppt/assets/stilts/rollout-poster.png">    </p:cNvPr>
          <p:cNvPicPr>
            <a:picLocks noChangeAspect="1"/>
          </p:cNvPicPr>
          <p:nvPr/>
        </p:nvPicPr>
        <p:blipFill>
          <a:blip r:embed="rId1"/>
          <a:stretch>
            <a:fillRect/>
          </a:stretch>
        </p:blipFill>
        <p:spPr>
          <a:xfrm>
            <a:off x="6263640" y="2084546"/>
            <a:ext cx="5349240" cy="3008948"/>
          </a:xfrm>
          <a:prstGeom prst="rect">
            <a:avLst/>
          </a:prstGeom>
        </p:spPr>
      </p:pic>
      <p:sp>
        <p:nvSpPr>
          <p:cNvPr id="12" name="Text 9"/>
          <p:cNvSpPr/>
          <p:nvPr/>
        </p:nvSpPr>
        <p:spPr>
          <a:xfrm>
            <a:off x="685800" y="5550408"/>
            <a:ext cx="10698480" cy="393192"/>
          </a:xfrm>
          <a:prstGeom prst="rect">
            <a:avLst/>
          </a:prstGeom>
          <a:noFill/>
          <a:ln/>
        </p:spPr>
        <p:txBody>
          <a:bodyPr wrap="square" lIns="0" tIns="0" rIns="0" bIns="0" rtlCol="0" anchor="ctr"/>
          <a:lstStyle/>
          <a:p>
            <a:pPr indent="0" marL="0">
              <a:buNone/>
            </a:pPr>
            <a:r>
              <a:rPr lang="en-US" sz="2000" b="1" spc="100" kern="0" dirty="0">
                <a:solidFill>
                  <a:srgbClr val="087E8B"/>
                </a:solidFill>
                <a:latin typeface="Aptos" pitchFamily="34" charset="0"/>
                <a:ea typeface="Aptos" pitchFamily="34" charset="-122"/>
                <a:cs typeface="Aptos" pitchFamily="34" charset="-120"/>
              </a:rPr>
              <a:t>BUILD  →  TRAIN  →  VERIFY  →  EXPLAIN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What you will build — and what the evidence says</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02</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Use case: Teach morphology-aware simulation, staged PPO continuation, command-directed walking gates, and why a compatible tensor interface is not a hardware safety claim.</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750" dirty="0">
                <a:solidFill>
                  <a:srgbClr val="142D3B"/>
                </a:solidFill>
                <a:latin typeface="Aptos" pitchFamily="34" charset="0"/>
                <a:ea typeface="Aptos" pitchFamily="34" charset="-122"/>
                <a:cs typeface="Aptos" pitchFamily="34" charset="-120"/>
              </a:rPr>
              <a:t>By the end: describe the scene, map observations to actions, explain the reward, trace one PPO update, run a bounded experiment, and defend an evaluation claim.</a:t>
            </a:r>
            <a:endParaRPr lang="en-US" sz="17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The evidence covers one fixed 2 cm morphology, blend 0, 0.014 kg mass, and one 0.25 m/s command; morphology generalization is unknown.</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850" dirty="0">
                <a:solidFill>
                  <a:srgbClr val="142D3B"/>
                </a:solidFill>
                <a:latin typeface="Aptos" pitchFamily="34" charset="0"/>
                <a:ea typeface="Aptos" pitchFamily="34" charset="-122"/>
                <a:cs typeface="Aptos" pitchFamily="34" charset="-120"/>
              </a:rPr>
              <a:t>Scope: local MuJoCo simulation. Do not deploy these classroom artifacts to a physical robot; hardware transfer requires a separate validated process.</a:t>
            </a: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Materials and prerequisites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03</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Apple Silicon Mac with installed RLX/MLX, MuJoCo, ONNX Runtime, rendering dependencies, and Node.</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Tracked base and refinement recipes: stilts-base.json and stilts.json.</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Procedurally generated rigid stilt bodies, mesh collisions, moved foot sites, and raised STAND keyframe.</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Saved base checkpoint plus adjacent normalization sidecar; both are required for refinement.</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Materials and prerequisites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04</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Final checkpoint, ONNX actor, evaluation JSON, five-seed traces, optimizer JSONL, MP4, contact sheet, and render receipt.</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Environment and policy contract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05</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Nominal XML MuJoCo at 50 Hz with 2 cm stilts, blend 0, and 0.014 kg added mass per foot.</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Original sole collisions are disabled; each ankle receives a rigid stilt mesh, new collision, bottom foot site, and raised standing root.</a:t>
            </a:r>
            <a:endParaRPr lang="en-US" sz="20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Observation remains float32 batch x 61; stilt height, blend, mass, contacts, world position, and absolute yaw are not actor inputs.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Action remains float32 batch x 14 raw target offsets; raw values are observed and penalized, while applied offsets clip to [-4,4].</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Environment and policy contract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06</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Fixed twist command is [0.25,0,0]; episode horizon is 500 steps or 10 seconds.</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Domain randomization, observation noise, action delay, and random yaw are disabled; the policy specializes to one morphology.</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How this case is built: one evidence loop</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07</a:t>
            </a:r>
            <a:endParaRPr lang="en-US" sz="1200" dirty="0"/>
          </a:p>
        </p:txBody>
      </p:sp>
      <p:sp>
        <p:nvSpPr>
          <p:cNvPr id="8" name="Shape 6"/>
          <p:cNvSpPr/>
          <p:nvPr/>
        </p:nvSpPr>
        <p:spPr>
          <a:xfrm>
            <a:off x="594360" y="1828800"/>
            <a:ext cx="3227832" cy="1234440"/>
          </a:xfrm>
          <a:prstGeom prst="rect">
            <a:avLst/>
          </a:prstGeom>
          <a:solidFill>
            <a:srgbClr val="FFFFFF"/>
          </a:solidFill>
          <a:ln w="6350">
            <a:solidFill>
              <a:srgbClr val="FFFFFF"/>
            </a:solidFill>
            <a:prstDash val="solid"/>
          </a:ln>
        </p:spPr>
      </p:sp>
      <p:sp>
        <p:nvSpPr>
          <p:cNvPr id="9" name="Text 7"/>
          <p:cNvSpPr/>
          <p:nvPr/>
        </p:nvSpPr>
        <p:spPr>
          <a:xfrm>
            <a:off x="777240" y="19659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01 / MATERIALS</a:t>
            </a:r>
            <a:endParaRPr lang="en-US" sz="1200" dirty="0"/>
          </a:p>
        </p:txBody>
      </p:sp>
      <p:sp>
        <p:nvSpPr>
          <p:cNvPr id="10" name="Text 8"/>
          <p:cNvSpPr/>
          <p:nvPr/>
        </p:nvSpPr>
        <p:spPr>
          <a:xfrm>
            <a:off x="777240" y="23042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Robot + colliding stilts</a:t>
            </a:r>
            <a:endParaRPr lang="en-US" sz="2100" dirty="0"/>
          </a:p>
        </p:txBody>
      </p:sp>
      <p:sp>
        <p:nvSpPr>
          <p:cNvPr id="11" name="Shape 9"/>
          <p:cNvSpPr/>
          <p:nvPr/>
        </p:nvSpPr>
        <p:spPr>
          <a:xfrm>
            <a:off x="4471416" y="1828800"/>
            <a:ext cx="3227832" cy="1234440"/>
          </a:xfrm>
          <a:prstGeom prst="rect">
            <a:avLst/>
          </a:prstGeom>
          <a:solidFill>
            <a:srgbClr val="FFFFFF"/>
          </a:solidFill>
          <a:ln w="6350">
            <a:solidFill>
              <a:srgbClr val="FFFFFF"/>
            </a:solidFill>
            <a:prstDash val="solid"/>
          </a:ln>
        </p:spPr>
      </p:sp>
      <p:sp>
        <p:nvSpPr>
          <p:cNvPr id="12" name="Text 10"/>
          <p:cNvSpPr/>
          <p:nvPr/>
        </p:nvSpPr>
        <p:spPr>
          <a:xfrm>
            <a:off x="4654296" y="19659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02 / CONTACT</a:t>
            </a:r>
            <a:endParaRPr lang="en-US" sz="1200" dirty="0"/>
          </a:p>
        </p:txBody>
      </p:sp>
      <p:sp>
        <p:nvSpPr>
          <p:cNvPr id="13" name="Text 11"/>
          <p:cNvSpPr/>
          <p:nvPr/>
        </p:nvSpPr>
        <p:spPr>
          <a:xfrm>
            <a:off x="4654296" y="23042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Adapt support geometry</a:t>
            </a:r>
            <a:endParaRPr lang="en-US" sz="2100" dirty="0"/>
          </a:p>
        </p:txBody>
      </p:sp>
      <p:sp>
        <p:nvSpPr>
          <p:cNvPr id="14" name="Shape 12"/>
          <p:cNvSpPr/>
          <p:nvPr/>
        </p:nvSpPr>
        <p:spPr>
          <a:xfrm>
            <a:off x="8348472" y="1828800"/>
            <a:ext cx="3227832" cy="1234440"/>
          </a:xfrm>
          <a:prstGeom prst="rect">
            <a:avLst/>
          </a:prstGeom>
          <a:solidFill>
            <a:srgbClr val="FFFFFF"/>
          </a:solidFill>
          <a:ln w="6350">
            <a:solidFill>
              <a:srgbClr val="FFFFFF"/>
            </a:solidFill>
            <a:prstDash val="solid"/>
          </a:ln>
        </p:spPr>
      </p:sp>
      <p:sp>
        <p:nvSpPr>
          <p:cNvPr id="15" name="Text 13"/>
          <p:cNvSpPr/>
          <p:nvPr/>
        </p:nvSpPr>
        <p:spPr>
          <a:xfrm>
            <a:off x="8531352" y="19659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03 / OBJECTIVE</a:t>
            </a:r>
            <a:endParaRPr lang="en-US" sz="1200" dirty="0"/>
          </a:p>
        </p:txBody>
      </p:sp>
      <p:sp>
        <p:nvSpPr>
          <p:cNvPr id="16" name="Text 14"/>
          <p:cNvSpPr/>
          <p:nvPr/>
        </p:nvSpPr>
        <p:spPr>
          <a:xfrm>
            <a:off x="8531352" y="23042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Velocity + stable support</a:t>
            </a:r>
            <a:endParaRPr lang="en-US" sz="2100" dirty="0"/>
          </a:p>
        </p:txBody>
      </p:sp>
      <p:sp>
        <p:nvSpPr>
          <p:cNvPr id="17" name="Shape 15"/>
          <p:cNvSpPr/>
          <p:nvPr/>
        </p:nvSpPr>
        <p:spPr>
          <a:xfrm>
            <a:off x="8348472" y="3886200"/>
            <a:ext cx="3227832" cy="1234440"/>
          </a:xfrm>
          <a:prstGeom prst="rect">
            <a:avLst/>
          </a:prstGeom>
          <a:solidFill>
            <a:srgbClr val="FFFFFF"/>
          </a:solidFill>
          <a:ln w="6350">
            <a:solidFill>
              <a:srgbClr val="FFFFFF"/>
            </a:solidFill>
            <a:prstDash val="solid"/>
          </a:ln>
        </p:spPr>
      </p:sp>
      <p:sp>
        <p:nvSpPr>
          <p:cNvPr id="18" name="Text 16"/>
          <p:cNvSpPr/>
          <p:nvPr/>
        </p:nvSpPr>
        <p:spPr>
          <a:xfrm>
            <a:off x="8531352" y="40233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04 / TRAIN</a:t>
            </a:r>
            <a:endParaRPr lang="en-US" sz="1200" dirty="0"/>
          </a:p>
        </p:txBody>
      </p:sp>
      <p:sp>
        <p:nvSpPr>
          <p:cNvPr id="19" name="Text 17"/>
          <p:cNvSpPr/>
          <p:nvPr/>
        </p:nvSpPr>
        <p:spPr>
          <a:xfrm>
            <a:off x="8531352" y="43616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Base PPO → refinement</a:t>
            </a:r>
            <a:endParaRPr lang="en-US" sz="2100" dirty="0"/>
          </a:p>
        </p:txBody>
      </p:sp>
      <p:sp>
        <p:nvSpPr>
          <p:cNvPr id="20" name="Shape 18"/>
          <p:cNvSpPr/>
          <p:nvPr/>
        </p:nvSpPr>
        <p:spPr>
          <a:xfrm>
            <a:off x="4471416" y="3886200"/>
            <a:ext cx="3227832" cy="1234440"/>
          </a:xfrm>
          <a:prstGeom prst="rect">
            <a:avLst/>
          </a:prstGeom>
          <a:solidFill>
            <a:srgbClr val="FFFFFF"/>
          </a:solidFill>
          <a:ln w="6350">
            <a:solidFill>
              <a:srgbClr val="FFFFFF"/>
            </a:solidFill>
            <a:prstDash val="solid"/>
          </a:ln>
        </p:spPr>
      </p:sp>
      <p:sp>
        <p:nvSpPr>
          <p:cNvPr id="21" name="Text 19"/>
          <p:cNvSpPr/>
          <p:nvPr/>
        </p:nvSpPr>
        <p:spPr>
          <a:xfrm>
            <a:off x="4654296" y="40233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05 / VERIFY</a:t>
            </a:r>
            <a:endParaRPr lang="en-US" sz="1200" dirty="0"/>
          </a:p>
        </p:txBody>
      </p:sp>
      <p:sp>
        <p:nvSpPr>
          <p:cNvPr id="22" name="Text 20"/>
          <p:cNvSpPr/>
          <p:nvPr/>
        </p:nvSpPr>
        <p:spPr>
          <a:xfrm>
            <a:off x="4654296" y="43616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Progress + contact audits</a:t>
            </a:r>
            <a:endParaRPr lang="en-US" sz="2100" dirty="0"/>
          </a:p>
        </p:txBody>
      </p:sp>
      <p:sp>
        <p:nvSpPr>
          <p:cNvPr id="23" name="Shape 21"/>
          <p:cNvSpPr/>
          <p:nvPr/>
        </p:nvSpPr>
        <p:spPr>
          <a:xfrm>
            <a:off x="594360" y="3886200"/>
            <a:ext cx="3227832" cy="1234440"/>
          </a:xfrm>
          <a:prstGeom prst="rect">
            <a:avLst/>
          </a:prstGeom>
          <a:solidFill>
            <a:srgbClr val="FFFFFF"/>
          </a:solidFill>
          <a:ln w="6350">
            <a:solidFill>
              <a:srgbClr val="FFFFFF"/>
            </a:solidFill>
            <a:prstDash val="solid"/>
          </a:ln>
        </p:spPr>
      </p:sp>
      <p:sp>
        <p:nvSpPr>
          <p:cNvPr id="24" name="Text 22"/>
          <p:cNvSpPr/>
          <p:nvPr/>
        </p:nvSpPr>
        <p:spPr>
          <a:xfrm>
            <a:off x="777240" y="4023360"/>
            <a:ext cx="2834640" cy="228600"/>
          </a:xfrm>
          <a:prstGeom prst="rect">
            <a:avLst/>
          </a:prstGeom>
          <a:noFill/>
          <a:ln/>
        </p:spPr>
        <p:txBody>
          <a:bodyPr wrap="square" lIns="0" tIns="0" rIns="0" bIns="0" rtlCol="0" anchor="ctr"/>
          <a:lstStyle/>
          <a:p>
            <a:pPr indent="0" marL="0">
              <a:buNone/>
            </a:pPr>
            <a:r>
              <a:rPr lang="en-US" sz="1200" b="1" dirty="0">
                <a:solidFill>
                  <a:srgbClr val="087E8B"/>
                </a:solidFill>
                <a:latin typeface="Aptos" pitchFamily="34" charset="0"/>
                <a:ea typeface="Aptos" pitchFamily="34" charset="-122"/>
                <a:cs typeface="Aptos" pitchFamily="34" charset="-120"/>
              </a:rPr>
              <a:t>06 / EVIDENCE</a:t>
            </a:r>
            <a:endParaRPr lang="en-US" sz="1200" dirty="0"/>
          </a:p>
        </p:txBody>
      </p:sp>
      <p:sp>
        <p:nvSpPr>
          <p:cNvPr id="25" name="Text 23"/>
          <p:cNvSpPr/>
          <p:nvPr/>
        </p:nvSpPr>
        <p:spPr>
          <a:xfrm>
            <a:off x="777240" y="4361688"/>
            <a:ext cx="2788920" cy="530352"/>
          </a:xfrm>
          <a:prstGeom prst="rect">
            <a:avLst/>
          </a:prstGeom>
          <a:noFill/>
          <a:ln/>
        </p:spPr>
        <p:txBody>
          <a:bodyPr wrap="square" lIns="0" tIns="0" rIns="0" bIns="0" rtlCol="0" anchor="ctr"/>
          <a:lstStyle/>
          <a:p>
            <a:pPr indent="0" marL="0">
              <a:buNone/>
            </a:pPr>
            <a:r>
              <a:rPr lang="en-US" sz="2100" b="1" dirty="0">
                <a:solidFill>
                  <a:srgbClr val="142D3B"/>
                </a:solidFill>
                <a:latin typeface="Aptos" pitchFamily="34" charset="0"/>
                <a:ea typeface="Aptos" pitchFamily="34" charset="-122"/>
                <a:cs typeface="Aptos" pitchFamily="34" charset="-120"/>
              </a:rPr>
              <a:t>Seed sweep + stilt video</a:t>
            </a:r>
            <a:endParaRPr lang="en-US" sz="2100" dirty="0"/>
          </a:p>
        </p:txBody>
      </p:sp>
      <p:sp>
        <p:nvSpPr>
          <p:cNvPr id="26" name="Shape 24"/>
          <p:cNvSpPr/>
          <p:nvPr/>
        </p:nvSpPr>
        <p:spPr>
          <a:xfrm>
            <a:off x="3840480" y="2441448"/>
            <a:ext cx="566928" cy="0"/>
          </a:xfrm>
          <a:prstGeom prst="line">
            <a:avLst/>
          </a:prstGeom>
          <a:noFill/>
          <a:ln w="31750">
            <a:solidFill>
              <a:srgbClr val="087E8B"/>
            </a:solidFill>
            <a:prstDash val="solid"/>
            <a:tailEnd type="triangle"/>
          </a:ln>
        </p:spPr>
      </p:sp>
      <p:sp>
        <p:nvSpPr>
          <p:cNvPr id="27" name="Shape 25"/>
          <p:cNvSpPr/>
          <p:nvPr/>
        </p:nvSpPr>
        <p:spPr>
          <a:xfrm>
            <a:off x="7708392" y="2441448"/>
            <a:ext cx="576072" cy="0"/>
          </a:xfrm>
          <a:prstGeom prst="line">
            <a:avLst/>
          </a:prstGeom>
          <a:noFill/>
          <a:ln w="31750">
            <a:solidFill>
              <a:srgbClr val="087E8B"/>
            </a:solidFill>
            <a:prstDash val="solid"/>
            <a:tailEnd type="triangle"/>
          </a:ln>
        </p:spPr>
      </p:sp>
      <p:sp>
        <p:nvSpPr>
          <p:cNvPr id="28" name="Shape 26"/>
          <p:cNvSpPr/>
          <p:nvPr/>
        </p:nvSpPr>
        <p:spPr>
          <a:xfrm>
            <a:off x="9939528" y="3145536"/>
            <a:ext cx="0" cy="621792"/>
          </a:xfrm>
          <a:prstGeom prst="line">
            <a:avLst/>
          </a:prstGeom>
          <a:noFill/>
          <a:ln w="31750">
            <a:solidFill>
              <a:srgbClr val="087E8B"/>
            </a:solidFill>
            <a:prstDash val="solid"/>
            <a:tailEnd type="triangle"/>
          </a:ln>
        </p:spPr>
      </p:sp>
      <p:sp>
        <p:nvSpPr>
          <p:cNvPr id="29" name="Shape 27"/>
          <p:cNvSpPr/>
          <p:nvPr/>
        </p:nvSpPr>
        <p:spPr>
          <a:xfrm>
            <a:off x="7717536" y="4480560"/>
            <a:ext cx="530352" cy="0"/>
          </a:xfrm>
          <a:prstGeom prst="line">
            <a:avLst/>
          </a:prstGeom>
          <a:noFill/>
          <a:ln w="31750">
            <a:solidFill>
              <a:srgbClr val="087E8B"/>
            </a:solidFill>
            <a:prstDash val="solid"/>
            <a:headEnd type="triangle"/>
          </a:ln>
        </p:spPr>
      </p:sp>
      <p:sp>
        <p:nvSpPr>
          <p:cNvPr id="30" name="Shape 28"/>
          <p:cNvSpPr/>
          <p:nvPr/>
        </p:nvSpPr>
        <p:spPr>
          <a:xfrm>
            <a:off x="3840480" y="4480560"/>
            <a:ext cx="530352" cy="0"/>
          </a:xfrm>
          <a:prstGeom prst="line">
            <a:avLst/>
          </a:prstGeom>
          <a:noFill/>
          <a:ln w="31750">
            <a:solidFill>
              <a:srgbClr val="087E8B"/>
            </a:solidFill>
            <a:prstDash val="solid"/>
            <a:headEnd type="triangle"/>
          </a:ln>
        </p:spPr>
      </p:sp>
      <p:sp>
        <p:nvSpPr>
          <p:cNvPr id="31" name="Text 29"/>
          <p:cNvSpPr/>
          <p:nvPr/>
        </p:nvSpPr>
        <p:spPr>
          <a:xfrm>
            <a:off x="731520" y="5641848"/>
            <a:ext cx="10789920" cy="347472"/>
          </a:xfrm>
          <a:prstGeom prst="rect">
            <a:avLst/>
          </a:prstGeom>
          <a:noFill/>
          <a:ln/>
        </p:spPr>
        <p:txBody>
          <a:bodyPr wrap="square" lIns="0" tIns="0" rIns="0" bIns="0" rtlCol="0" anchor="ctr"/>
          <a:lstStyle/>
          <a:p>
            <a:pPr indent="0" marL="0">
              <a:buNone/>
            </a:pPr>
            <a:r>
              <a:rPr lang="en-US" sz="1900" b="1" dirty="0">
                <a:solidFill>
                  <a:srgbClr val="D96C35"/>
                </a:solidFill>
                <a:latin typeface="Aptos" pitchFamily="34" charset="0"/>
                <a:ea typeface="Aptos" pitchFamily="34" charset="-122"/>
                <a:cs typeface="Aptos" pitchFamily="34" charset="-120"/>
              </a:rPr>
              <a:t>Failure is data: change one cause, retrain, and repeat the same evaluation gates.</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Build the case step by step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08</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850" dirty="0">
                <a:solidFill>
                  <a:srgbClr val="142D3B"/>
                </a:solidFill>
                <a:latin typeface="Aptos" pitchFamily="34" charset="0"/>
                <a:ea typeface="Aptos" pitchFamily="34" charset="-122"/>
                <a:cs typeface="Aptos" pitchFamily="34" charset="-120"/>
              </a:rPr>
              <a:t>Build the morphology before environment creation: disable sole collisions, attach two rigid stilt bodies, move contact sites, and raise STAND by 0.02 m.</a:t>
            </a:r>
            <a:endParaRPr lang="en-US" sz="18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Train Stilt v2 from random actor and critic weights for 6,000,640 transitions at a fixed 0.25 m/s command.</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Retain the v2 failure: it learned alternating locomotion, but four of five historical episodes failed signed intended displacement.</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Copy checkpoint and .safetensors.json sidecar into a fresh v3 run; preserve actor, critic, log std, and normalization lineage.</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Build the case step by step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09</a:t>
            </a:r>
            <a:endParaRPr lang="en-US" sz="1200" dirty="0"/>
          </a:p>
        </p:txBody>
      </p:sp>
      <p:sp>
        <p:nvSpPr>
          <p:cNvPr id="8" name="Shape 6"/>
          <p:cNvSpPr/>
          <p:nvPr/>
        </p:nvSpPr>
        <p:spPr>
          <a:xfrm>
            <a:off x="512064" y="1746504"/>
            <a:ext cx="11045952" cy="132283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13995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Refine for 1,048,576 transitions while increasing angular tracking from 0.5 to 4 and leaving morphology and gate unchanged.</a:t>
            </a:r>
            <a:endParaRPr lang="en-US" sz="2100" dirty="0"/>
          </a:p>
        </p:txBody>
      </p:sp>
      <p:sp>
        <p:nvSpPr>
          <p:cNvPr id="11" name="Shape 9"/>
          <p:cNvSpPr/>
          <p:nvPr/>
        </p:nvSpPr>
        <p:spPr>
          <a:xfrm>
            <a:off x="512064" y="3179064"/>
            <a:ext cx="11045952" cy="1322832"/>
          </a:xfrm>
          <a:prstGeom prst="rect">
            <a:avLst/>
          </a:prstGeom>
          <a:solidFill>
            <a:srgbClr val="FFFFFF"/>
          </a:solidFill>
          <a:ln w="6350">
            <a:solidFill>
              <a:srgbClr val="FFFFFF"/>
            </a:solidFill>
            <a:prstDash val="solid"/>
          </a:ln>
        </p:spPr>
      </p:sp>
      <p:sp>
        <p:nvSpPr>
          <p:cNvPr id="12" name="Text 10"/>
          <p:cNvSpPr/>
          <p:nvPr/>
        </p:nvSpPr>
        <p:spPr>
          <a:xfrm>
            <a:off x="731520" y="33162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270504"/>
            <a:ext cx="9738360" cy="113995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Export deterministic ONNX and evaluate complete 10-second episodes with intended displacement and bilateral contact-event criteria.</a:t>
            </a:r>
            <a:endParaRPr lang="en-US" sz="2100" dirty="0"/>
          </a:p>
        </p:txBody>
      </p:sp>
      <p:sp>
        <p:nvSpPr>
          <p:cNvPr id="14" name="Shape 12"/>
          <p:cNvSpPr/>
          <p:nvPr/>
        </p:nvSpPr>
        <p:spPr>
          <a:xfrm>
            <a:off x="512064" y="4611624"/>
            <a:ext cx="11045952" cy="1322832"/>
          </a:xfrm>
          <a:prstGeom prst="rect">
            <a:avLst/>
          </a:prstGeom>
          <a:solidFill>
            <a:srgbClr val="FFFFFF"/>
          </a:solidFill>
          <a:ln w="6350">
            <a:solidFill>
              <a:srgbClr val="FFFFFF"/>
            </a:solidFill>
            <a:prstDash val="solid"/>
          </a:ln>
        </p:spPr>
      </p:sp>
      <p:sp>
        <p:nvSpPr>
          <p:cNvPr id="15" name="Text 13"/>
          <p:cNvSpPr/>
          <p:nvPr/>
        </p:nvSpPr>
        <p:spPr>
          <a:xfrm>
            <a:off x="731520" y="47487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4703064"/>
            <a:ext cx="9738360" cy="113995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Audit seeds 501-505 against zero, random, and initial controls; validate ONNX parity and inspect the complete stilt MP4.</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PPO: improve the actor without trusting a huge step</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10</a:t>
            </a:r>
            <a:endParaRPr lang="en-US" sz="1200" dirty="0"/>
          </a:p>
        </p:txBody>
      </p:sp>
      <p:sp>
        <p:nvSpPr>
          <p:cNvPr id="8" name="Shape 6"/>
          <p:cNvSpPr/>
          <p:nvPr/>
        </p:nvSpPr>
        <p:spPr>
          <a:xfrm>
            <a:off x="594360" y="1810512"/>
            <a:ext cx="10972800" cy="932688"/>
          </a:xfrm>
          <a:prstGeom prst="rect">
            <a:avLst/>
          </a:prstGeom>
          <a:solidFill>
            <a:srgbClr val="142D3B"/>
          </a:solidFill>
          <a:ln w="6350">
            <a:solidFill>
              <a:srgbClr val="142D3B"/>
            </a:solidFill>
            <a:prstDash val="solid"/>
          </a:ln>
        </p:spPr>
      </p:sp>
      <p:sp>
        <p:nvSpPr>
          <p:cNvPr id="9" name="Text 7"/>
          <p:cNvSpPr/>
          <p:nvPr/>
        </p:nvSpPr>
        <p:spPr>
          <a:xfrm>
            <a:off x="914400" y="1975104"/>
            <a:ext cx="10241280" cy="502920"/>
          </a:xfrm>
          <a:prstGeom prst="rect">
            <a:avLst/>
          </a:prstGeom>
          <a:noFill/>
          <a:ln/>
        </p:spPr>
        <p:txBody>
          <a:bodyPr wrap="square" lIns="0" tIns="0" rIns="0" bIns="0" rtlCol="0" anchor="ctr"/>
          <a:lstStyle/>
          <a:p>
            <a:pPr indent="0" marL="0">
              <a:buNone/>
            </a:pPr>
            <a:r>
              <a:rPr lang="en-US" sz="2900" b="1" dirty="0">
                <a:solidFill>
                  <a:srgbClr val="FFFFFF"/>
                </a:solidFill>
                <a:latin typeface="Aptos" pitchFamily="34" charset="0"/>
                <a:ea typeface="Aptos" pitchFamily="34" charset="-122"/>
                <a:cs typeface="Aptos" pitchFamily="34" charset="-120"/>
              </a:rPr>
              <a:t>ratio = πnew(a | o) / πold(a | o)</a:t>
            </a:r>
            <a:endParaRPr lang="en-US" sz="2900" dirty="0"/>
          </a:p>
        </p:txBody>
      </p:sp>
      <p:sp>
        <p:nvSpPr>
          <p:cNvPr id="10" name="Text 8"/>
          <p:cNvSpPr/>
          <p:nvPr/>
        </p:nvSpPr>
        <p:spPr>
          <a:xfrm>
            <a:off x="731520" y="2971800"/>
            <a:ext cx="10789920" cy="640080"/>
          </a:xfrm>
          <a:prstGeom prst="rect">
            <a:avLst/>
          </a:prstGeom>
          <a:noFill/>
          <a:ln/>
        </p:spPr>
        <p:txBody>
          <a:bodyPr wrap="square" lIns="0" tIns="0" rIns="0" bIns="0" rtlCol="0" anchor="ctr"/>
          <a:lstStyle/>
          <a:p>
            <a:pPr indent="0" marL="0">
              <a:buNone/>
            </a:pPr>
            <a:r>
              <a:rPr lang="en-US" sz="2500" b="1" dirty="0">
                <a:solidFill>
                  <a:srgbClr val="142D3B"/>
                </a:solidFill>
                <a:latin typeface="Aptos" pitchFamily="34" charset="0"/>
                <a:ea typeface="Aptos" pitchFamily="34" charset="-122"/>
                <a:cs typeface="Aptos" pitchFamily="34" charset="-120"/>
              </a:rPr>
              <a:t>Maximize mean[min(ratio × A, clip(ratio, 1 − ε, 1 + ε) × A)]</a:t>
            </a:r>
            <a:endParaRPr lang="en-US" sz="2500" dirty="0"/>
          </a:p>
        </p:txBody>
      </p:sp>
      <p:sp>
        <p:nvSpPr>
          <p:cNvPr id="11" name="Text 9"/>
          <p:cNvSpPr/>
          <p:nvPr/>
        </p:nvSpPr>
        <p:spPr>
          <a:xfrm>
            <a:off x="731520" y="3904488"/>
            <a:ext cx="10789920" cy="640080"/>
          </a:xfrm>
          <a:prstGeom prst="rect">
            <a:avLst/>
          </a:prstGeom>
          <a:noFill/>
          <a:ln/>
        </p:spPr>
        <p:txBody>
          <a:bodyPr wrap="square" lIns="0" tIns="0" rIns="0" bIns="0" rtlCol="0" anchor="ctr"/>
          <a:lstStyle/>
          <a:p>
            <a:pPr indent="0" marL="0">
              <a:buNone/>
            </a:pPr>
            <a:r>
              <a:rPr lang="en-US" sz="2300" dirty="0">
                <a:solidFill>
                  <a:srgbClr val="142D3B"/>
                </a:solidFill>
                <a:latin typeface="Aptos" pitchFamily="34" charset="0"/>
                <a:ea typeface="Aptos" pitchFamily="34" charset="-122"/>
                <a:cs typeface="Aptos" pitchFamily="34" charset="-120"/>
              </a:rPr>
              <a:t>Actor: chooses joint actions.   Critic: estimates future discounted reward.</a:t>
            </a:r>
            <a:endParaRPr lang="en-US" sz="2300" dirty="0"/>
          </a:p>
        </p:txBody>
      </p:sp>
      <p:sp>
        <p:nvSpPr>
          <p:cNvPr id="12" name="Text 10"/>
          <p:cNvSpPr/>
          <p:nvPr/>
        </p:nvSpPr>
        <p:spPr>
          <a:xfrm>
            <a:off x="731520" y="4809744"/>
            <a:ext cx="10789920" cy="731520"/>
          </a:xfrm>
          <a:prstGeom prst="rect">
            <a:avLst/>
          </a:prstGeom>
          <a:noFill/>
          <a:ln/>
        </p:spPr>
        <p:txBody>
          <a:bodyPr wrap="square" lIns="0" tIns="0" rIns="0" bIns="0" rtlCol="0" anchor="ctr"/>
          <a:lstStyle/>
          <a:p>
            <a:pPr indent="0" marL="0">
              <a:buNone/>
            </a:pPr>
            <a:r>
              <a:rPr lang="en-US" sz="2200" dirty="0">
                <a:solidFill>
                  <a:srgbClr val="566C79"/>
                </a:solidFill>
                <a:latin typeface="Aptos" pitchFamily="34" charset="0"/>
                <a:ea typeface="Aptos" pitchFamily="34" charset="-122"/>
                <a:cs typeface="Aptos" pitchFamily="34" charset="-120"/>
              </a:rPr>
              <a:t>A = advantage.  ε = clipping range.  Old log probabilities stay fixed for each collected batch.</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Follow one rollout through the learner</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11</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000" dirty="0">
                <a:solidFill>
                  <a:srgbClr val="142D3B"/>
                </a:solidFill>
                <a:latin typeface="Aptos" pitchFamily="34" charset="0"/>
                <a:ea typeface="Aptos" pitchFamily="34" charset="-122"/>
                <a:cs typeface="Aptos" pitchFamily="34" charset="-120"/>
              </a:rPr>
              <a:t>Collect observations, sampled actions, old log probabilities, values, rewards and episode-boundary flags using the current stochastic actor.</a:t>
            </a:r>
            <a:endParaRPr lang="en-US" sz="20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750" dirty="0">
                <a:solidFill>
                  <a:srgbClr val="142D3B"/>
                </a:solidFill>
                <a:latin typeface="Aptos" pitchFamily="34" charset="0"/>
                <a:ea typeface="Aptos" pitchFamily="34" charset="-122"/>
                <a:cs typeface="Aptos" pitchFamily="34" charset="-120"/>
              </a:rPr>
              <a:t>Compute TD residuals and generalized advantage estimates (GAE). A true terminal has zero continuation value; a timeout may bootstrap the saved final observation.</a:t>
            </a:r>
            <a:endParaRPr lang="en-US" sz="17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Cut advantage traces at reset boundaries. Never bootstrap a timeout from the first observation of the next episode.</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800" dirty="0">
                <a:solidFill>
                  <a:srgbClr val="142D3B"/>
                </a:solidFill>
                <a:latin typeface="Aptos" pitchFamily="34" charset="0"/>
                <a:ea typeface="Aptos" pitchFamily="34" charset="-122"/>
                <a:cs typeface="Aptos" pitchFamily="34" charset="-120"/>
              </a:rPr>
              <a:t>Reuse this batch for PPO minibatch updates, then collect fresh on-policy data. Export the deterministic actor and its observation transform for evaluation.</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Paper exercise: count samples and clip the objective</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12</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650" dirty="0">
                <a:solidFill>
                  <a:srgbClr val="142D3B"/>
                </a:solidFill>
                <a:latin typeface="Aptos" pitchFamily="34" charset="0"/>
                <a:ea typeface="Aptos" pitchFamily="34" charset="-122"/>
                <a:cs typeface="Aptos" pitchFamily="34" charset="-120"/>
              </a:rPr>
              <a:t>Illustrative arithmetic, NOT this run: 16 environments × 128 steps = 2,048 fresh transitions per rollout. Four epochs reuse those transitions; they do not create 8,192 new samples.</a:t>
            </a:r>
            <a:endParaRPr lang="en-US" sz="16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With ε = 0.2, ratio = 1.4 and A = +2: min(2.8, 2.4) = 2.4. The minimized policy term is −2.4 before averaging and additional loss terms.</a:t>
            </a:r>
            <a:endParaRPr lang="en-US" sz="20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With the same ratio and A = −2: min(−2.8, −2.4) = −2.8. Explain why clipping is asymmetric once the sign of the advantage changes.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850" dirty="0">
                <a:solidFill>
                  <a:srgbClr val="142D3B"/>
                </a:solidFill>
                <a:latin typeface="Aptos" pitchFamily="34" charset="0"/>
                <a:ea typeface="Aptos" pitchFamily="34" charset="-122"/>
                <a:cs typeface="Aptos" pitchFamily="34" charset="-120"/>
              </a:rPr>
              <a:t>Run from repo root: python3 docs/microduck-training-student-book/learning_lab.py --gae. This is a deterministic arithmetic lab, not new policy training.</a:t>
            </a:r>
            <a:endParaRPr lang="en-US" sz="1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Reward design: what the agent is paid to do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13</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track_lin_vel 20: Gaussian body-frame command tracking including vertical-speed error.</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track_ang_vel 4: Gaussian yaw-command tracking plus roll/pitch angular-rate costs; base weight was 0.5.</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upright 1: bounded projected-gravity posture score; pose remains present with weight 0.</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feet_air_time 4: dense per-foot reward for air timers inside the walking window.</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Reward design: what the agent is paid to do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14</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head_pose 0.1 tracks head command; ang_vel_xy_penalty 0.02 is non-positive by construction.</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Inherited action-rate penalty is rescaled by 0.2 and follows an environment-lifetime schedule up to effective coefficient 0.20.</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Recorded training recipe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15</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Base v2: seed 7, 6,000,640 transitions, 16 envs x 128 steps, 2,930 rollouts, 46,880 optimizer minibatches, learning rate 0.0003.</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Continuation v3: 1,048,576 transitions, 512 rollouts, 8,192 optimizer minibatches, learning rate 0.0001.</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Entire selected lineage: 7,049,216 transitions, 3,442 rollout/update cycles, and 55,072 optimizer minibatches.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Both stages use 4 minibatches x 4 epochs, gamma 0.99, GAE lambda 0.95, clip 0.2, value coefficient 1, entropy 0, and max grad norm 0.5.</a:t>
            </a:r>
            <a:endParaRPr lang="en-US" sz="2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Recorded training recipe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16</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Base initial std is 0.6; continuation loads learned actor, critic, log std, observation stats, and return stats but starts fresh Adam state.</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Update log fields are phase, steps, seconds, optimizer_steps, mean_loss, policy_loss, value_loss, entropy, approximate_kl, clip_fraction, explained_variance, env_steps.</a:t>
            </a:r>
            <a:endParaRPr lang="en-US"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COPYABLE COMMANDS ALSO IN INSTRUCTOR GUIDE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Hands-on commands: inspect, smoke, train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17</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./scripts/train-stilts.sh --dry-run</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Inspect the guarded two-stage Stilt pipeline without training.</a:t>
            </a:r>
            <a:endParaRPr lang="en-US" sz="14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./scripts/train-stilts.sh</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Run the independent Full Stilt base and refinement pipeline with fresh outputs.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COPYABLE COMMANDS ALSO IN INSTRUCTOR GUIDE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Hands-on commands: inspect, smoke, train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18</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RUN=stilts-classroom-$(date +%Y%m%d-%H%M%S); ./scripts/train-stilts.sh --recipe-json docs/remaining-scenarios-e2e/recipes/stilts.json --init-from rlx/runs/studio/stilts/stilts-e2e-20260907-v2/stilts.safetensors --run-name "$RUN"</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Refine the retained v2 checkpoint with its adjacent sidecar in a fresh run; keep RUN in this terminal for the following audit. Requires the ignored historical base artifacts.</a:t>
            </a:r>
            <a:endParaRPr lang="en-US" sz="14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rlx/.venv-microduck/bin/python rlx/scripts/audit_scenarios.py --recipe-json docs/remaining-scenarios-e2e/recipes/stilts.json --run "rlx/runs/studio/stilts/${RUN:?Run the refinement command first in this shell}" --output "rlx/artifacts/$RUN-audit" --seeds 501 502 503 504 505 --render</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Audit a completed Stilt reproduction over five held-out reset seeds.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COPYABLE COMMANDS ALSO IN INSTRUCTOR GUIDE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Hands-on commands: inspect, smoke, train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19</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From .:</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python3 -m unittest discover -s scripts/scenarios -p 'test_*.py'</a:t>
            </a:r>
            <a:endParaRPr lang="en-US" sz="1400" dirty="0"/>
          </a:p>
          <a:p>
            <a:pPr indent="0" marL="0">
              <a:buNone/>
            </a:pPr>
            <a:r>
              <a:rPr lang="en-US" sz="1400" dirty="0">
                <a:solidFill>
                  <a:srgbClr val="142D3B"/>
                </a:solidFill>
                <a:latin typeface="Menlo" pitchFamily="34" charset="0"/>
                <a:ea typeface="Menlo" pitchFamily="34" charset="-122"/>
                <a:cs typeface="Menlo" pitchFamily="34" charset="-120"/>
              </a:rPr>
              <a:t>Run scenario-pipeline unit tests without starting training.</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MEASURED TRAINING LOGS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Reward: does the logged signal match the task?</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20</a:t>
            </a:r>
            <a:endParaRPr lang="en-US" sz="1200" dirty="0"/>
          </a:p>
        </p:txBody>
      </p:sp>
      <p:pic>
        <p:nvPicPr>
          <p:cNvPr id="8" name="Image 0" descr="/Volumes/ExternalSSD/geoagent/microduck-lab/docs/classroom-ppt/assets/stilts/reward.png">    </p:cNvPr>
          <p:cNvPicPr>
            <a:picLocks noChangeAspect="1"/>
          </p:cNvPicPr>
          <p:nvPr/>
        </p:nvPicPr>
        <p:blipFill>
          <a:blip r:embed="rId1"/>
          <a:stretch>
            <a:fillRect/>
          </a:stretch>
        </p:blipFill>
        <p:spPr>
          <a:xfrm>
            <a:off x="621792" y="1673352"/>
            <a:ext cx="10954512" cy="4178808"/>
          </a:xfrm>
          <a:prstGeom prst="rect">
            <a:avLst/>
          </a:prstGeom>
        </p:spPr>
      </p:pic>
      <p:sp>
        <p:nvSpPr>
          <p:cNvPr id="9" name="Text 6"/>
          <p:cNvSpPr/>
          <p:nvPr/>
        </p:nvSpPr>
        <p:spPr>
          <a:xfrm>
            <a:off x="731520" y="5907024"/>
            <a:ext cx="10744200" cy="347472"/>
          </a:xfrm>
          <a:prstGeom prst="rect">
            <a:avLst/>
          </a:prstGeom>
          <a:noFill/>
          <a:ln/>
        </p:spPr>
        <p:txBody>
          <a:bodyPr wrap="square" lIns="0" tIns="0" rIns="0" bIns="0" rtlCol="0" anchor="ctr"/>
          <a:lstStyle/>
          <a:p>
            <a:pPr indent="0" marL="0">
              <a:buNone/>
            </a:pPr>
            <a:r>
              <a:rPr lang="en-US" sz="1200" dirty="0">
                <a:solidFill>
                  <a:srgbClr val="566C79"/>
                </a:solidFill>
                <a:latin typeface="Aptos" pitchFamily="34" charset="0"/>
                <a:ea typeface="Aptos" pitchFamily="34" charset="-122"/>
                <a:cs typeface="Aptos" pitchFamily="34" charset="-120"/>
              </a:rPr>
              <a:t>Training reward is an optimization signal, not the acceptance test. See raw/&lt;case&gt;/ for complete recorded fields.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MEASURED TRAINING LOGS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Loss: inspect actor, critic and policy drift</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21</a:t>
            </a:r>
            <a:endParaRPr lang="en-US" sz="1200" dirty="0"/>
          </a:p>
        </p:txBody>
      </p:sp>
      <p:pic>
        <p:nvPicPr>
          <p:cNvPr id="8" name="Image 0" descr="/Volumes/ExternalSSD/geoagent/microduck-lab/docs/classroom-ppt/assets/stilts/loss.png">    </p:cNvPr>
          <p:cNvPicPr>
            <a:picLocks noChangeAspect="1"/>
          </p:cNvPicPr>
          <p:nvPr/>
        </p:nvPicPr>
        <p:blipFill>
          <a:blip r:embed="rId1"/>
          <a:stretch>
            <a:fillRect/>
          </a:stretch>
        </p:blipFill>
        <p:spPr>
          <a:xfrm>
            <a:off x="621792" y="1673352"/>
            <a:ext cx="10954512" cy="4178808"/>
          </a:xfrm>
          <a:prstGeom prst="rect">
            <a:avLst/>
          </a:prstGeom>
        </p:spPr>
      </p:pic>
      <p:sp>
        <p:nvSpPr>
          <p:cNvPr id="9" name="Text 6"/>
          <p:cNvSpPr/>
          <p:nvPr/>
        </p:nvSpPr>
        <p:spPr>
          <a:xfrm>
            <a:off x="731520" y="5907024"/>
            <a:ext cx="10744200" cy="347472"/>
          </a:xfrm>
          <a:prstGeom prst="rect">
            <a:avLst/>
          </a:prstGeom>
          <a:noFill/>
          <a:ln/>
        </p:spPr>
        <p:txBody>
          <a:bodyPr wrap="square" lIns="0" tIns="0" rIns="0" bIns="0" rtlCol="0" anchor="ctr"/>
          <a:lstStyle/>
          <a:p>
            <a:pPr indent="0" marL="0">
              <a:buNone/>
            </a:pPr>
            <a:r>
              <a:rPr lang="en-US" sz="1200" dirty="0">
                <a:solidFill>
                  <a:srgbClr val="566C79"/>
                </a:solidFill>
                <a:latin typeface="Aptos" pitchFamily="34" charset="0"/>
                <a:ea typeface="Aptos" pitchFamily="34" charset="-122"/>
                <a:cs typeface="Aptos" pitchFamily="34" charset="-120"/>
              </a:rPr>
              <a:t>A lower loss does not prove a better robot skill. Loss sign and scale depend on the implementation.</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MEASURED TRAINING LOGS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Diagnostics: is the optimizer behaving?</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22</a:t>
            </a:r>
            <a:endParaRPr lang="en-US" sz="1200" dirty="0"/>
          </a:p>
        </p:txBody>
      </p:sp>
      <p:pic>
        <p:nvPicPr>
          <p:cNvPr id="8" name="Image 0" descr="/Volumes/ExternalSSD/geoagent/microduck-lab/docs/classroom-ppt/assets/stilts/diagnostics.png">    </p:cNvPr>
          <p:cNvPicPr>
            <a:picLocks noChangeAspect="1"/>
          </p:cNvPicPr>
          <p:nvPr/>
        </p:nvPicPr>
        <p:blipFill>
          <a:blip r:embed="rId1"/>
          <a:stretch>
            <a:fillRect/>
          </a:stretch>
        </p:blipFill>
        <p:spPr>
          <a:xfrm>
            <a:off x="621792" y="1673352"/>
            <a:ext cx="10954512" cy="4178808"/>
          </a:xfrm>
          <a:prstGeom prst="rect">
            <a:avLst/>
          </a:prstGeom>
        </p:spPr>
      </p:pic>
      <p:sp>
        <p:nvSpPr>
          <p:cNvPr id="9" name="Text 6"/>
          <p:cNvSpPr/>
          <p:nvPr/>
        </p:nvSpPr>
        <p:spPr>
          <a:xfrm>
            <a:off x="731520" y="5907024"/>
            <a:ext cx="10744200" cy="347472"/>
          </a:xfrm>
          <a:prstGeom prst="rect">
            <a:avLst/>
          </a:prstGeom>
          <a:noFill/>
          <a:ln/>
        </p:spPr>
        <p:txBody>
          <a:bodyPr wrap="square" lIns="0" tIns="0" rIns="0" bIns="0" rtlCol="0" anchor="ctr"/>
          <a:lstStyle/>
          <a:p>
            <a:pPr indent="0" marL="0">
              <a:buNone/>
            </a:pPr>
            <a:r>
              <a:rPr lang="en-US" sz="1200" dirty="0">
                <a:solidFill>
                  <a:srgbClr val="566C79"/>
                </a:solidFill>
                <a:latin typeface="Aptos" pitchFamily="34" charset="0"/>
                <a:ea typeface="Aptos" pitchFamily="34" charset="-122"/>
                <a:cs typeface="Aptos" pitchFamily="34" charset="-120"/>
              </a:rPr>
              <a:t>Entropy, clipping, explained variance and timing are diagnostics — not a standalone pass/fail certificate.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Metric matrix: numerical audit of this trace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23</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approximate_kl: first 0.7690 → final 0.01645; min 0.01199, max 0.7690; 512 logged samples.</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clip_fraction: first 0.8031 → final 0.1975; min 0.1729, max 0.8031; 512 logged samples.</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entropy: first 1.885 → final 1.044; min 1.042, max 1.915; 512 logged samples.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explained_variance: first -0.6301 → final -0.05376; min -4.396, max 0.9882; 512 logged samples.</a:t>
            </a:r>
            <a:endParaRPr lang="en-US" sz="2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Metric matrix: numerical audit of this trace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24</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mean_loss: first 0.05201 → final -0.02159; min -0.02890, max 0.05201; 512 logged samples.</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mean_raw_return: first 9733 → final 9516; min -1078, max 1.008e+4; 1597 logged samples.</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mean_reward: first 0.03273 → final 0.03256; min 0.03087, max 0.03439; 512 logged samples.</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policy_loss: first 0.05076 → final -0.02173; min -0.02894, max 0.05076; 512 logged samples.</a:t>
            </a:r>
            <a:endParaRPr lang="en-US" sz="2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Metric matrix: numerical audit of this trace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25</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value_loss: first 0.001246 → final 0.0001441; min 0.00002407, max 0.04076; 512 logged samples.</a:t>
            </a:r>
            <a:endParaRPr lang="en-US" sz="2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Verification: define success before looking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26</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Require every episode to complete 500 samples without termination, with finite physical metrics and upright fraction &gt;= 0.95.</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Require commanded fraction &gt;= 0.50, directed speed &gt;= 0.06 m/s, signed intended displacement &gt;= 0.30 m, and speed ratio &gt;= 0.30.</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000" dirty="0">
                <a:solidFill>
                  <a:srgbClr val="142D3B"/>
                </a:solidFill>
                <a:latin typeface="Aptos" pitchFamily="34" charset="0"/>
                <a:ea typeface="Aptos" pitchFamily="34" charset="-122"/>
                <a:cs typeface="Aptos" pitchFamily="34" charset="-120"/>
              </a:rPr>
              <a:t>Require at least 4 alternating support switches, each foot air fraction &gt;= 0.05, contact fraction &gt;= 0.10, and bilateral lift/touch events.</a:t>
            </a:r>
            <a:endParaRPr lang="en-US" sz="20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No both-feet aerial minimum is required; the selected gait's 0.002 aerial fraction is consistent with walking rather than running.</a:t>
            </a:r>
            <a:endParaRPr lang="en-US" sz="2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Verification: define success before looking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27</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Verify the exact experiment identity: 2 cm height, blend 0, 0.014 kg per foot, fixed 0.25 m/s command, and nominal XML settings.</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Require negative controls to fail; validate hashes, finite JSONL metrics, dynamic batch x 61 to x 14 ONNX, parity, decoded MP4, and contact sheet.</a:t>
            </a:r>
            <a:endParaRPr lang="en-US"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SAVED RESULTS — NOT A NEW TRAINING RUN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Results: what was actually measured  ·  1/3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28</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Actual final evidence: PASS for stilts-e2e-20260907-v3; Studio evaluation passed 16/16 complete 10-second episodes.</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Independent seeds 501-505 passed 5/5; directed speeds were 0.22997129111680586-0.2416003712839324 m/s.</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Signed intended displacement was 1.2806188720775356-2.2887101436867505 m; speed ratios were 0.9198851644672235-0.9664014851357297.</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All five had upright fraction 1.0, 90-92 support switches, left air 0.364-0.41000000000000003, and right air 0.35-0.36.</a:t>
            </a:r>
            <a:endParaRPr lang="en-US" sz="2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SAVED RESULTS — NOT A NEW TRAINING RUN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Results: what was actually measured  ·  2/3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29</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Aerial fraction was 0.002 in each five-seed audit episode; no aerial minimum exists for the Stilt gate.</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The v2 initializer already passed comparison seed 501; v3 raised raw return from 10431.73 to 11189.72, a change of 757.9966477797989.</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900" dirty="0">
                <a:solidFill>
                  <a:srgbClr val="142D3B"/>
                </a:solidFill>
                <a:latin typeface="Aptos" pitchFamily="34" charset="0"/>
                <a:ea typeface="Aptos" pitchFamily="34" charset="-122"/>
                <a:cs typeface="Aptos" pitchFamily="34" charset="-120"/>
              </a:rPr>
              <a:t>Zero action fell after 39-46 steps and random action also failed; transient release speed did not satisfy horizon, displacement, or support gates.</a:t>
            </a:r>
            <a:endParaRPr lang="en-US" sz="19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ONNX/native maximum action error was 9.5367431640625e-7; learned tensor L2 change from the initializer was 6.614700815060063.</a:t>
            </a:r>
            <a:endParaRPr lang="en-US" sz="2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SAVED RESULTS — NOT A NEW TRAINING RUN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Results: what was actually measured  ·  3/3</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30</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09</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Final-100 means: policy_loss -0.02061349222087301, value_loss 0.00126573708695787, mean_loss -0.01934775511010912.</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10</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Final-100 approximate_kl 0.01905187215463229, clip_fraction 0.2322412109375, explained_variance 0.19922025200911597.</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EMBEDDED OFFLINE VIDEO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Watch the actual saved rollout</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31</a:t>
            </a:r>
            <a:endParaRPr lang="en-US" sz="1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58368" y="1691640"/>
            <a:ext cx="7452360" cy="4197096"/>
          </a:xfrm>
          <a:prstGeom prst="rect">
            <a:avLst/>
          </a:prstGeom>
        </p:spPr>
      </p:pic>
      <p:sp>
        <p:nvSpPr>
          <p:cNvPr id="9" name="Text 6"/>
          <p:cNvSpPr/>
          <p:nvPr/>
        </p:nvSpPr>
        <p:spPr>
          <a:xfrm>
            <a:off x="8439912" y="1847088"/>
            <a:ext cx="2926080" cy="320040"/>
          </a:xfrm>
          <a:prstGeom prst="rect">
            <a:avLst/>
          </a:prstGeom>
          <a:noFill/>
          <a:ln/>
        </p:spPr>
        <p:txBody>
          <a:bodyPr wrap="square" lIns="0" tIns="0" rIns="0" bIns="0" rtlCol="0" anchor="ctr"/>
          <a:lstStyle/>
          <a:p>
            <a:pPr indent="0" marL="0">
              <a:buNone/>
            </a:pPr>
            <a:r>
              <a:rPr lang="en-US" sz="1300" b="1" dirty="0">
                <a:solidFill>
                  <a:srgbClr val="087E8B"/>
                </a:solidFill>
                <a:latin typeface="Aptos" pitchFamily="34" charset="0"/>
                <a:ea typeface="Aptos" pitchFamily="34" charset="-122"/>
                <a:cs typeface="Aptos" pitchFamily="34" charset="-120"/>
              </a:rPr>
              <a:t>BEFORE PLAY</a:t>
            </a:r>
            <a:endParaRPr lang="en-US" sz="1300" dirty="0"/>
          </a:p>
        </p:txBody>
      </p:sp>
      <p:sp>
        <p:nvSpPr>
          <p:cNvPr id="10" name="Text 7"/>
          <p:cNvSpPr/>
          <p:nvPr/>
        </p:nvSpPr>
        <p:spPr>
          <a:xfrm>
            <a:off x="8439912" y="2322576"/>
            <a:ext cx="2880360" cy="960120"/>
          </a:xfrm>
          <a:prstGeom prst="rect">
            <a:avLst/>
          </a:prstGeom>
          <a:noFill/>
          <a:ln/>
        </p:spPr>
        <p:txBody>
          <a:bodyPr wrap="square" lIns="0" tIns="0" rIns="0" bIns="0" rtlCol="0" anchor="ctr"/>
          <a:lstStyle/>
          <a:p>
            <a:pPr indent="0" marL="0">
              <a:buNone/>
            </a:pPr>
            <a:r>
              <a:rPr lang="en-US" sz="2300" b="1" dirty="0">
                <a:solidFill>
                  <a:srgbClr val="142D3B"/>
                </a:solidFill>
                <a:latin typeface="Aptos" pitchFamily="34" charset="0"/>
                <a:ea typeface="Aptos" pitchFamily="34" charset="-122"/>
                <a:cs typeface="Aptos" pitchFamily="34" charset="-120"/>
              </a:rPr>
              <a:t>Predict one success signal and one failure signal.</a:t>
            </a:r>
            <a:endParaRPr lang="en-US" sz="2300" dirty="0"/>
          </a:p>
        </p:txBody>
      </p:sp>
      <p:sp>
        <p:nvSpPr>
          <p:cNvPr id="11" name="Text 8"/>
          <p:cNvSpPr/>
          <p:nvPr/>
        </p:nvSpPr>
        <p:spPr>
          <a:xfrm>
            <a:off x="8439912" y="3685032"/>
            <a:ext cx="2926080" cy="320040"/>
          </a:xfrm>
          <a:prstGeom prst="rect">
            <a:avLst/>
          </a:prstGeom>
          <a:noFill/>
          <a:ln/>
        </p:spPr>
        <p:txBody>
          <a:bodyPr wrap="square" lIns="0" tIns="0" rIns="0" bIns="0" rtlCol="0" anchor="ctr"/>
          <a:lstStyle/>
          <a:p>
            <a:pPr indent="0" marL="0">
              <a:buNone/>
            </a:pPr>
            <a:r>
              <a:rPr lang="en-US" sz="1300" b="1" dirty="0">
                <a:solidFill>
                  <a:srgbClr val="D96C35"/>
                </a:solidFill>
                <a:latin typeface="Aptos" pitchFamily="34" charset="0"/>
                <a:ea typeface="Aptos" pitchFamily="34" charset="-122"/>
                <a:cs typeface="Aptos" pitchFamily="34" charset="-120"/>
              </a:rPr>
              <a:t>AFTER PLAY</a:t>
            </a:r>
            <a:endParaRPr lang="en-US" sz="1300" dirty="0"/>
          </a:p>
        </p:txBody>
      </p:sp>
      <p:sp>
        <p:nvSpPr>
          <p:cNvPr id="12" name="Text 9"/>
          <p:cNvSpPr/>
          <p:nvPr/>
        </p:nvSpPr>
        <p:spPr>
          <a:xfrm>
            <a:off x="8439912" y="4151376"/>
            <a:ext cx="2880360" cy="1005840"/>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Which claims does this clip support? What remains untested?</a:t>
            </a:r>
            <a:endParaRPr lang="en-US" sz="2100" dirty="0"/>
          </a:p>
        </p:txBody>
      </p:sp>
      <p:sp>
        <p:nvSpPr>
          <p:cNvPr id="13" name="Text 10"/>
          <p:cNvSpPr/>
          <p:nvPr/>
        </p:nvSpPr>
        <p:spPr>
          <a:xfrm>
            <a:off x="731520" y="6044184"/>
            <a:ext cx="10789920" cy="201168"/>
          </a:xfrm>
          <a:prstGeom prst="rect">
            <a:avLst/>
          </a:prstGeom>
          <a:noFill/>
          <a:ln/>
        </p:spPr>
        <p:txBody>
          <a:bodyPr wrap="square" lIns="0" tIns="0" rIns="0" bIns="0" rtlCol="0" anchor="ctr"/>
          <a:lstStyle/>
          <a:p>
            <a:pPr indent="0" marL="0">
              <a:buNone/>
            </a:pPr>
            <a:r>
              <a:rPr lang="en-US" sz="1100" dirty="0">
                <a:solidFill>
                  <a:srgbClr val="566C79"/>
                </a:solidFill>
                <a:latin typeface="Aptos" pitchFamily="34" charset="0"/>
                <a:ea typeface="Aptos" pitchFamily="34" charset="-122"/>
                <a:cs typeface="Aptos" pitchFamily="34" charset="-120"/>
              </a:rPr>
              <a:t>10.0 s saved MP4  •  Click in PowerPoint Slide Show  •  Backup: videos/stilts-rollout.mp4</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Limits and failure analysis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32</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The evidence covers one fixed 2 cm morphology, blend 0, 0.014 kg mass, and one 0.25 m/s command; morphology generalization is unknown.</a:t>
            </a:r>
            <a:endParaRPr lang="en-US" sz="21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Height, blend, and mass are not observed by the actor, so changing hardware geometry is outside the demonstrated task.</a:t>
            </a:r>
            <a:endParaRPr lang="en-US" sz="21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The base already passed one comparison seed; v3 supports refinement, not sole credit for acquiring stilt locomotion.</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000" dirty="0">
                <a:solidFill>
                  <a:srgbClr val="142D3B"/>
                </a:solidFill>
                <a:latin typeface="Aptos" pitchFamily="34" charset="0"/>
                <a:ea typeface="Aptos" pitchFamily="34" charset="-122"/>
                <a:cs typeface="Aptos" pitchFamily="34" charset="-120"/>
              </a:rPr>
              <a:t>No BAM dynamics, bus latency, randomized mass/friction/noise/delay/yaw, uneven terrain, pushes, or alternative stilt dimensions were tested.</a:t>
            </a:r>
            <a:endParaRPr 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Limits and failure analysis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33</a:t>
            </a:r>
            <a:endParaRPr lang="en-US" sz="1200" dirty="0"/>
          </a:p>
        </p:txBody>
      </p:sp>
      <p:sp>
        <p:nvSpPr>
          <p:cNvPr id="8" name="Shape 6"/>
          <p:cNvSpPr/>
          <p:nvPr/>
        </p:nvSpPr>
        <p:spPr>
          <a:xfrm>
            <a:off x="512064" y="1746504"/>
            <a:ext cx="11045952" cy="203911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Simulation omits attachment compliance, backlash, tolerances, loosening, cable routing, current limits, temperature, battery sag, and impacts.</a:t>
            </a:r>
            <a:endParaRPr lang="en-US" sz="2100" dirty="0"/>
          </a:p>
        </p:txBody>
      </p:sp>
      <p:sp>
        <p:nvSpPr>
          <p:cNvPr id="11" name="Shape 9"/>
          <p:cNvSpPr/>
          <p:nvPr/>
        </p:nvSpPr>
        <p:spPr>
          <a:xfrm>
            <a:off x="512064" y="3895344"/>
            <a:ext cx="11045952" cy="2039112"/>
          </a:xfrm>
          <a:prstGeom prst="rect">
            <a:avLst/>
          </a:prstGeom>
          <a:solidFill>
            <a:srgbClr val="FFFFFF"/>
          </a:solidFill>
          <a:ln w="6350">
            <a:solidFill>
              <a:srgbClr val="FFFFFF"/>
            </a:solidFill>
            <a:prstDash val="solid"/>
          </a:ln>
        </p:spPr>
      </p:sp>
      <p:sp>
        <p:nvSpPr>
          <p:cNvPr id="12" name="Text 10"/>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3986784"/>
            <a:ext cx="9738360" cy="185623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A compatible 61-to-14 ONNX interface is necessary for deployment tooling but is not a physical safety certificate.</a:t>
            </a:r>
            <a:endParaRPr lang="en-US" sz="2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PROPOSED PRACTICE — NOT MEASURED RESULTS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Student lab: change one variable, keep the gates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34</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050" dirty="0">
                <a:solidFill>
                  <a:srgbClr val="142D3B"/>
                </a:solidFill>
                <a:latin typeface="Aptos" pitchFamily="34" charset="0"/>
                <a:ea typeface="Aptos" pitchFamily="34" charset="-122"/>
                <a:cs typeface="Aptos" pitchFamily="34" charset="-120"/>
              </a:rPr>
              <a:t>Recommended exercise, not saved evidence: locate observable yaw-rate indices and list morphology variables missing from the actor input.</a:t>
            </a:r>
            <a:endParaRPr lang="en-US" sz="205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2000" dirty="0">
                <a:solidFill>
                  <a:srgbClr val="142D3B"/>
                </a:solidFill>
                <a:latin typeface="Aptos" pitchFamily="34" charset="0"/>
                <a:ea typeface="Aptos" pitchFamily="34" charset="-122"/>
                <a:cs typeface="Aptos" pitchFamily="34" charset="-120"/>
              </a:rPr>
              <a:t>Recommended exercise, not saved evidence: compute the weight-20 linear tracking reward for velocity (0.20,0.02,0.01) and command (0.25,0,0).</a:t>
            </a:r>
            <a:endParaRPr lang="en-US" sz="20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Recommended exercise, not saved evidence: explain why moving only the foot site would not reproduce the changed collision geometry.</a:t>
            </a:r>
            <a:endParaRPr lang="en-US" sz="21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Recommended exercise, not saved evidence: verify base and continuation PPO counts and distinguish fresh transitions from epoch reuse.</a:t>
            </a:r>
            <a:endParaRPr lang="en-US" sz="2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PROPOSED PRACTICE — NOT MEASURED RESULTS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Student lab: change one variable, keep the gates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35</a:t>
            </a:r>
            <a:endParaRPr lang="en-US" sz="1200" dirty="0"/>
          </a:p>
        </p:txBody>
      </p:sp>
      <p:sp>
        <p:nvSpPr>
          <p:cNvPr id="8" name="Shape 6"/>
          <p:cNvSpPr/>
          <p:nvPr/>
        </p:nvSpPr>
        <p:spPr>
          <a:xfrm>
            <a:off x="512064" y="1746504"/>
            <a:ext cx="11045952" cy="418795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4005072"/>
          </a:xfrm>
          <a:prstGeom prst="rect">
            <a:avLst/>
          </a:prstGeom>
          <a:noFill/>
          <a:ln/>
        </p:spPr>
        <p:txBody>
          <a:bodyPr wrap="square" lIns="0" tIns="0" rIns="0" bIns="0" rtlCol="0" anchor="ctr"/>
          <a:lstStyle/>
          <a:p>
            <a:pPr indent="0" marL="0">
              <a:buNone/>
            </a:pPr>
            <a:r>
              <a:rPr lang="en-US" sz="2100" dirty="0">
                <a:solidFill>
                  <a:srgbClr val="142D3B"/>
                </a:solidFill>
                <a:latin typeface="Aptos" pitchFamily="34" charset="0"/>
                <a:ea typeface="Aptos" pitchFamily="34" charset="-122"/>
                <a:cs typeface="Aptos" pitchFamily="34" charset="-120"/>
              </a:rPr>
              <a:t>Recommended exercise, not saved evidence: predeclare a held-out matrix of stilt heights, blends, and masses with pass/fail interpretation.</a:t>
            </a:r>
            <a:endParaRPr lang="en-US" sz="2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PPO ROBOTICS LAB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Submit an experiment, not just a video</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36</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2000" dirty="0">
                <a:solidFill>
                  <a:srgbClr val="142D3B"/>
                </a:solidFill>
                <a:latin typeface="Aptos" pitchFamily="34" charset="0"/>
                <a:ea typeface="Aptos" pitchFamily="34" charset="-122"/>
                <a:cs typeface="Aptos" pitchFamily="34" charset="-120"/>
              </a:rPr>
              <a:t>Before training: write one hypothesis, the changed parameter, the fixed baseline, seed list, acceptance criteria and time/transition budget.</a:t>
            </a:r>
            <a:endParaRPr lang="en-US" sz="20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750" dirty="0">
                <a:solidFill>
                  <a:srgbClr val="142D3B"/>
                </a:solidFill>
                <a:latin typeface="Aptos" pitchFamily="34" charset="0"/>
                <a:ea typeface="Aptos" pitchFamily="34" charset="-122"/>
                <a:cs typeface="Aptos" pitchFamily="34" charset="-120"/>
              </a:rPr>
              <a:t>During training: save the exact command, environment versions, initialization, checkpoint and raw reward/loss/KL metrics. Never overwrite the saved reference run.</a:t>
            </a:r>
            <a:endParaRPr lang="en-US" sz="175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700" dirty="0">
                <a:solidFill>
                  <a:srgbClr val="142D3B"/>
                </a:solidFill>
                <a:latin typeface="Aptos" pitchFamily="34" charset="0"/>
                <a:ea typeface="Aptos" pitchFamily="34" charset="-122"/>
                <a:cs typeface="Aptos" pitchFamily="34" charset="-120"/>
              </a:rPr>
              <a:t>After training: evaluate the frozen exported policy on matched seeds; include all failures, aggregate metrics, the full rollout video and a source-bound result table.</a:t>
            </a:r>
            <a:endParaRPr lang="en-US" sz="17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700" dirty="0">
                <a:solidFill>
                  <a:srgbClr val="142D3B"/>
                </a:solidFill>
                <a:latin typeface="Aptos" pitchFamily="34" charset="0"/>
                <a:ea typeface="Aptos" pitchFamily="34" charset="-122"/>
                <a:cs typeface="Aptos" pitchFamily="34" charset="-120"/>
              </a:rPr>
              <a:t>Rubric / 10: reproducibility 2; environment and reward explanation 2; PPO and metrics interpretation 2; honest verification 2; one evidence-based next experiment 2.</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REPOSITORY-RELATIVE PATHS / FULL SOURCES IN NOTES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Source map and further study  ·  1/2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37</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01</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AGENTS.md</a:t>
            </a:r>
            <a:endParaRPr lang="en-US" sz="14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02</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microduck_local/AGENTS.md</a:t>
            </a:r>
            <a:endParaRPr lang="en-US" sz="14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03</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microduck_local/src/microduck_local/contract.py</a:t>
            </a:r>
            <a:endParaRPr lang="en-US" sz="14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04</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README.md</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87E8B"/>
          </a:solidFill>
          <a:ln w="6350">
            <a:solidFill>
              <a:srgbClr val="087E8B"/>
            </a:solidFill>
            <a:prstDash val="solid"/>
          </a:ln>
        </p:spPr>
      </p:sp>
      <p:sp>
        <p:nvSpPr>
          <p:cNvPr id="3" name="Text 1"/>
          <p:cNvSpPr/>
          <p:nvPr/>
        </p:nvSpPr>
        <p:spPr>
          <a:xfrm>
            <a:off x="502920" y="274320"/>
            <a:ext cx="10972800" cy="274320"/>
          </a:xfrm>
          <a:prstGeom prst="rect">
            <a:avLst/>
          </a:prstGeom>
          <a:noFill/>
          <a:ln/>
        </p:spPr>
        <p:txBody>
          <a:bodyPr wrap="square" lIns="0" tIns="0" rIns="0" bIns="0" rtlCol="0" anchor="ctr"/>
          <a:lstStyle/>
          <a:p>
            <a:pPr indent="0" marL="0">
              <a:buNone/>
            </a:pPr>
            <a:r>
              <a:rPr lang="en-US" sz="1000" b="1" spc="160" kern="0" dirty="0">
                <a:solidFill>
                  <a:srgbClr val="087E8B"/>
                </a:solidFill>
                <a:latin typeface="Aptos" pitchFamily="34" charset="0"/>
                <a:ea typeface="Aptos" pitchFamily="34" charset="-122"/>
                <a:cs typeface="Aptos" pitchFamily="34" charset="-120"/>
              </a:rPr>
              <a:t>REPOSITORY-RELATIVE PATHS / FULL SOURCES IN NOTES  /  STILT WALKING: ADAPTING CONTROL TO CHANGED CONTACT GEOMETRY</a:t>
            </a:r>
            <a:endParaRPr lang="en-US" sz="1000" dirty="0"/>
          </a:p>
        </p:txBody>
      </p:sp>
      <p:sp>
        <p:nvSpPr>
          <p:cNvPr id="4" name="Text 2"/>
          <p:cNvSpPr/>
          <p:nvPr/>
        </p:nvSpPr>
        <p:spPr>
          <a:xfrm>
            <a:off x="502920" y="777240"/>
            <a:ext cx="11109960" cy="731520"/>
          </a:xfrm>
          <a:prstGeom prst="rect">
            <a:avLst/>
          </a:prstGeom>
          <a:noFill/>
          <a:ln/>
        </p:spPr>
        <p:txBody>
          <a:bodyPr wrap="square" lIns="0" tIns="0" rIns="0" bIns="0" rtlCol="0" anchor="ctr"/>
          <a:lstStyle/>
          <a:p>
            <a:pPr indent="0" marL="0">
              <a:buNone/>
            </a:pPr>
            <a:r>
              <a:rPr lang="en-US" sz="3100" b="1" dirty="0">
                <a:solidFill>
                  <a:srgbClr val="142D3B"/>
                </a:solidFill>
                <a:latin typeface="Aptos" pitchFamily="34" charset="0"/>
                <a:ea typeface="Aptos" pitchFamily="34" charset="-122"/>
                <a:cs typeface="Aptos" pitchFamily="34" charset="-120"/>
              </a:rPr>
              <a:t>Source map and further study  ·  2/2</a:t>
            </a:r>
            <a:endParaRPr lang="en-US" sz="3100" dirty="0"/>
          </a:p>
        </p:txBody>
      </p:sp>
      <p:sp>
        <p:nvSpPr>
          <p:cNvPr id="5" name="Shape 3"/>
          <p:cNvSpPr/>
          <p:nvPr/>
        </p:nvSpPr>
        <p:spPr>
          <a:xfrm>
            <a:off x="502920" y="6391656"/>
            <a:ext cx="11109960" cy="13716"/>
          </a:xfrm>
          <a:prstGeom prst="rect">
            <a:avLst/>
          </a:prstGeom>
          <a:solidFill>
            <a:srgbClr val="CBD6DC"/>
          </a:solidFill>
          <a:ln w="6350">
            <a:solidFill>
              <a:srgbClr val="CBD6DC"/>
            </a:solidFill>
            <a:prstDash val="solid"/>
          </a:ln>
        </p:spPr>
      </p:sp>
      <p:sp>
        <p:nvSpPr>
          <p:cNvPr id="6" name="Text 4"/>
          <p:cNvSpPr/>
          <p:nvPr/>
        </p:nvSpPr>
        <p:spPr>
          <a:xfrm>
            <a:off x="502920" y="6519672"/>
            <a:ext cx="9784080" cy="155448"/>
          </a:xfrm>
          <a:prstGeom prst="rect">
            <a:avLst/>
          </a:prstGeom>
          <a:noFill/>
          <a:ln/>
        </p:spPr>
        <p:txBody>
          <a:bodyPr wrap="square" lIns="0" tIns="0" rIns="0" bIns="0" rtlCol="0" anchor="ctr"/>
          <a:lstStyle/>
          <a:p>
            <a:pPr indent="0" marL="0">
              <a:buNone/>
            </a:pPr>
            <a:r>
              <a:rPr lang="en-US" sz="850" dirty="0">
                <a:solidFill>
                  <a:srgbClr val="566C79"/>
                </a:solidFill>
                <a:latin typeface="Aptos" pitchFamily="34" charset="0"/>
                <a:ea typeface="Aptos" pitchFamily="34" charset="-122"/>
                <a:cs typeface="Aptos" pitchFamily="34" charset="-120"/>
              </a:rPr>
              <a:t>MICRODUCK  /  SIMULATION EVIDENCE  /  11 SEP 2026</a:t>
            </a:r>
            <a:endParaRPr lang="en-US" sz="850" dirty="0"/>
          </a:p>
        </p:txBody>
      </p:sp>
      <p:sp>
        <p:nvSpPr>
          <p:cNvPr id="7" name="Text 5"/>
          <p:cNvSpPr/>
          <p:nvPr/>
        </p:nvSpPr>
        <p:spPr>
          <a:xfrm>
            <a:off x="11045952" y="6483096"/>
            <a:ext cx="457200" cy="228600"/>
          </a:xfrm>
          <a:prstGeom prst="rect">
            <a:avLst/>
          </a:prstGeom>
          <a:noFill/>
          <a:ln/>
        </p:spPr>
        <p:txBody>
          <a:bodyPr wrap="square" lIns="0" tIns="0" rIns="0" bIns="0" rtlCol="0" anchor="ctr"/>
          <a:lstStyle/>
          <a:p>
            <a:pPr algn="r" indent="0" marL="0">
              <a:buNone/>
            </a:pPr>
            <a:r>
              <a:rPr lang="en-US" sz="1200" b="1" dirty="0">
                <a:solidFill>
                  <a:srgbClr val="142D3B"/>
                </a:solidFill>
                <a:latin typeface="Aptos" pitchFamily="34" charset="0"/>
                <a:ea typeface="Aptos" pitchFamily="34" charset="-122"/>
                <a:cs typeface="Aptos" pitchFamily="34" charset="-120"/>
              </a:rPr>
              <a:t>38</a:t>
            </a:r>
            <a:endParaRPr lang="en-US" sz="1200" dirty="0"/>
          </a:p>
        </p:txBody>
      </p:sp>
      <p:sp>
        <p:nvSpPr>
          <p:cNvPr id="8" name="Shape 6"/>
          <p:cNvSpPr/>
          <p:nvPr/>
        </p:nvSpPr>
        <p:spPr>
          <a:xfrm>
            <a:off x="512064" y="1746504"/>
            <a:ext cx="11045952" cy="964692"/>
          </a:xfrm>
          <a:prstGeom prst="rect">
            <a:avLst/>
          </a:prstGeom>
          <a:solidFill>
            <a:srgbClr val="FFFFFF"/>
          </a:solidFill>
          <a:ln w="6350">
            <a:solidFill>
              <a:srgbClr val="FFFFFF"/>
            </a:solidFill>
            <a:prstDash val="solid"/>
          </a:ln>
        </p:spPr>
      </p:sp>
      <p:sp>
        <p:nvSpPr>
          <p:cNvPr id="9" name="Text 7"/>
          <p:cNvSpPr/>
          <p:nvPr/>
        </p:nvSpPr>
        <p:spPr>
          <a:xfrm>
            <a:off x="731520" y="188366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05</a:t>
            </a:r>
            <a:endParaRPr lang="en-US" sz="1600" dirty="0"/>
          </a:p>
        </p:txBody>
      </p:sp>
      <p:sp>
        <p:nvSpPr>
          <p:cNvPr id="10" name="Text 8"/>
          <p:cNvSpPr/>
          <p:nvPr/>
        </p:nvSpPr>
        <p:spPr>
          <a:xfrm>
            <a:off x="1435608" y="183794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docs/microduck-training-student-book/chapters/02a-ppo-code-lab.md</a:t>
            </a:r>
            <a:endParaRPr lang="en-US" sz="1400" dirty="0"/>
          </a:p>
        </p:txBody>
      </p:sp>
      <p:sp>
        <p:nvSpPr>
          <p:cNvPr id="11" name="Shape 9"/>
          <p:cNvSpPr/>
          <p:nvPr/>
        </p:nvSpPr>
        <p:spPr>
          <a:xfrm>
            <a:off x="512064" y="2820924"/>
            <a:ext cx="11045952" cy="964692"/>
          </a:xfrm>
          <a:prstGeom prst="rect">
            <a:avLst/>
          </a:prstGeom>
          <a:solidFill>
            <a:srgbClr val="FFFFFF"/>
          </a:solidFill>
          <a:ln w="6350">
            <a:solidFill>
              <a:srgbClr val="FFFFFF"/>
            </a:solidFill>
            <a:prstDash val="solid"/>
          </a:ln>
        </p:spPr>
      </p:sp>
      <p:sp>
        <p:nvSpPr>
          <p:cNvPr id="12" name="Text 10"/>
          <p:cNvSpPr/>
          <p:nvPr/>
        </p:nvSpPr>
        <p:spPr>
          <a:xfrm>
            <a:off x="731520" y="295808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06</a:t>
            </a:r>
            <a:endParaRPr lang="en-US" sz="1600" dirty="0"/>
          </a:p>
        </p:txBody>
      </p:sp>
      <p:sp>
        <p:nvSpPr>
          <p:cNvPr id="13" name="Text 11"/>
          <p:cNvSpPr/>
          <p:nvPr/>
        </p:nvSpPr>
        <p:spPr>
          <a:xfrm>
            <a:off x="1435608" y="291236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docs/microduck-training-student-book/chapters/02b-gae-workshop.md</a:t>
            </a:r>
            <a:endParaRPr lang="en-US" sz="1400" dirty="0"/>
          </a:p>
        </p:txBody>
      </p:sp>
      <p:sp>
        <p:nvSpPr>
          <p:cNvPr id="14" name="Shape 12"/>
          <p:cNvSpPr/>
          <p:nvPr/>
        </p:nvSpPr>
        <p:spPr>
          <a:xfrm>
            <a:off x="512064" y="3895344"/>
            <a:ext cx="11045952" cy="964692"/>
          </a:xfrm>
          <a:prstGeom prst="rect">
            <a:avLst/>
          </a:prstGeom>
          <a:solidFill>
            <a:srgbClr val="FFFFFF"/>
          </a:solidFill>
          <a:ln w="6350">
            <a:solidFill>
              <a:srgbClr val="FFFFFF"/>
            </a:solidFill>
            <a:prstDash val="solid"/>
          </a:ln>
        </p:spPr>
      </p:sp>
      <p:sp>
        <p:nvSpPr>
          <p:cNvPr id="15" name="Text 13"/>
          <p:cNvSpPr/>
          <p:nvPr/>
        </p:nvSpPr>
        <p:spPr>
          <a:xfrm>
            <a:off x="731520" y="403250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07</a:t>
            </a:r>
            <a:endParaRPr lang="en-US" sz="1600" dirty="0"/>
          </a:p>
        </p:txBody>
      </p:sp>
      <p:sp>
        <p:nvSpPr>
          <p:cNvPr id="16" name="Text 14"/>
          <p:cNvSpPr/>
          <p:nvPr/>
        </p:nvSpPr>
        <p:spPr>
          <a:xfrm>
            <a:off x="1435608" y="398678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scripts/scenarios/README.md</a:t>
            </a:r>
            <a:endParaRPr lang="en-US" sz="1400" dirty="0"/>
          </a:p>
        </p:txBody>
      </p:sp>
      <p:sp>
        <p:nvSpPr>
          <p:cNvPr id="17" name="Shape 15"/>
          <p:cNvSpPr/>
          <p:nvPr/>
        </p:nvSpPr>
        <p:spPr>
          <a:xfrm>
            <a:off x="512064" y="4969764"/>
            <a:ext cx="11045952" cy="964692"/>
          </a:xfrm>
          <a:prstGeom prst="rect">
            <a:avLst/>
          </a:prstGeom>
          <a:solidFill>
            <a:srgbClr val="FFFFFF"/>
          </a:solidFill>
          <a:ln w="6350">
            <a:solidFill>
              <a:srgbClr val="FFFFFF"/>
            </a:solidFill>
            <a:prstDash val="solid"/>
          </a:ln>
        </p:spPr>
      </p:sp>
      <p:sp>
        <p:nvSpPr>
          <p:cNvPr id="18" name="Text 16"/>
          <p:cNvSpPr/>
          <p:nvPr/>
        </p:nvSpPr>
        <p:spPr>
          <a:xfrm>
            <a:off x="731520" y="5106924"/>
            <a:ext cx="502920" cy="310896"/>
          </a:xfrm>
          <a:prstGeom prst="rect">
            <a:avLst/>
          </a:prstGeom>
          <a:noFill/>
          <a:ln/>
        </p:spPr>
        <p:txBody>
          <a:bodyPr wrap="square" lIns="0" tIns="0" rIns="0" bIns="0" rtlCol="0" anchor="ctr"/>
          <a:lstStyle/>
          <a:p>
            <a:pPr indent="0" marL="0">
              <a:buNone/>
            </a:pPr>
            <a:r>
              <a:rPr lang="en-US" sz="1600" b="1" dirty="0">
                <a:solidFill>
                  <a:srgbClr val="087E8B"/>
                </a:solidFill>
                <a:latin typeface="Aptos" pitchFamily="34" charset="0"/>
                <a:ea typeface="Aptos" pitchFamily="34" charset="-122"/>
                <a:cs typeface="Aptos" pitchFamily="34" charset="-120"/>
              </a:rPr>
              <a:t>08</a:t>
            </a:r>
            <a:endParaRPr lang="en-US" sz="1600" dirty="0"/>
          </a:p>
        </p:txBody>
      </p:sp>
      <p:sp>
        <p:nvSpPr>
          <p:cNvPr id="19" name="Text 17"/>
          <p:cNvSpPr/>
          <p:nvPr/>
        </p:nvSpPr>
        <p:spPr>
          <a:xfrm>
            <a:off x="1435608" y="5061204"/>
            <a:ext cx="9738360" cy="781812"/>
          </a:xfrm>
          <a:prstGeom prst="rect">
            <a:avLst/>
          </a:prstGeom>
          <a:noFill/>
          <a:ln/>
        </p:spPr>
        <p:txBody>
          <a:bodyPr wrap="square" lIns="0" tIns="0" rIns="0" bIns="0" rtlCol="0" anchor="ctr"/>
          <a:lstStyle/>
          <a:p>
            <a:pPr indent="0" marL="0">
              <a:buNone/>
            </a:pPr>
            <a:r>
              <a:rPr lang="en-US" sz="1400" dirty="0">
                <a:solidFill>
                  <a:srgbClr val="142D3B"/>
                </a:solidFill>
                <a:latin typeface="Menlo" pitchFamily="34" charset="0"/>
                <a:ea typeface="Menlo" pitchFamily="34" charset="-122"/>
                <a:cs typeface="Menlo" pitchFamily="34" charset="-120"/>
              </a:rPr>
              <a:t>README.md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Community education — not affiliated with Pollen Robotics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Microduck PPO Lab 4: Stilt Walking: Adapting Control to Changed Contact Geometry</dc:title>
  <dc:subject>Source-grounded PPO robot training: setup, environment, rewards, verification and evidence</dc:subject>
  <dc:creator>Microduck Lab classroom materials</dc:creator>
  <cp:lastModifiedBy>Microduck Lab classroom materials</cp:lastModifiedBy>
  <cp:revision>1</cp:revision>
  <dcterms:created xsi:type="dcterms:W3CDTF">2026-09-11T20:37:21Z</dcterms:created>
  <dcterms:modified xsi:type="dcterms:W3CDTF">2026-09-11T20:37:21Z</dcterms:modified>
</cp:coreProperties>
</file>