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Aerial Gait with Intended Progress
Use case: Teach why fast motion is not enough: a running policy must survive, follow the commanded direction, alternate support, and show true both-feet aerial phases.
Start by explaining the difference between a simulation training pipeline and skill mastery. The cover image is a frame decoded from this case's actual rollout, not generated artwork.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will build — and what the evidence says
Use case: Teach why fast motion is not enough: a running policy must survive, follow the commanded direction, alternate support, and show true both-feet aerial phases.
By the end: describe the scene, map observations to actions, explain the reward, trace one PPO update, run a bounded experiment, and defend an evaluation claim.
The policy specializes to one nominal 0.75 m/s forward command; arbitrary speed, turning, and disturbance recovery are untested.
Scope: local MuJoCo simulation. Do not deploy these classroom artifacts to a physical robot; hardware transfer requires a separate validated process.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Materials and prerequisites  ·  1/2
Apple Silicon Mac with installed RLX/MLX, MuJoCo, ONNX Runtime, rendering dependencies, and Node.
Tracked base and refinement recipes: running-base.json and running.json.
Studio trainer/exporter, scenario HTTP driver, independent audit_scenarios.py, and video verifier.
Saved base checkpoint plus adjacent normalization sidecar; both are required for the refinement stage.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Materials and prerequisites  ·  2/2
Final checkpoint, ONNX actor, evaluation JSON, physical NPZ traces, optimizer JSONL, MP4, contact sheet, and render receipt.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and policy contract  ·  1/2
Nominal XML-actuator MuJoCo at 50 Hz; fixed command is 0.75 m/s forward, zero lateral speed, and zero yaw rate.
Observation is float32 batch x 61 with gyro, projected gravity, 14 joint offsets, lagged velocities, prior raw action, and 13 command values.
Absolute world position and yaw are absent; gyro yaw rate and commanded yaw rate are observable, so yaw-rate tracking is learnable.
Action is float32 batch x 14 raw target offsets; the environment stores raw values, clips applied offsets to [-4,4], and adds DEFAULT_POSE.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and policy contract  ·  2/2
Episode horizon is 600 control steps or 12 seconds; domain randomization, observation noise, action delay, and random yaw are disabled.
The native speed curriculum is bypassed by pinning every twist command to [0.75,0,0]; head/body keep-alive commands still vary.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Case-specific build flow
01 / SCENE: Flat ground + free robot
02 / COMMAND: Requested forward velocity
03 / OBJECTIVE: Speed + aerial gait
04 / TRAIN: Base PPO → refinement
05 / VERIFY: Progress + flight phases
06 / EVIDENCE: Seed sweep + gait video
This is an explanatory workflow diagram, not a measured learning curve.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case step by step  ·  1/2
Train Running v3 from random actor and critic weights for 6,000,640 transitions using the base reward and fixed 0.75 m/s command.
Retain the v3 failed intended-progress verdict; it acquired an aerial gait but curved enough to fail signed command-directed displacement.
Copy both the v3 checkpoint and its .safetensors.json normalizer sidecar into a fresh v4 run directory.
Resume for 2,097,152 transitions with lower combined angular weight and new observable yaw-rate-only shaping.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case step by step  ·  2/2
Export the deterministic actor with normalization baked in; do not substitute a raw checkpoint or mismatched sidecar.
Evaluate 12-second episodes with heading-anchored signed displacement, support events, foot air/contact fractions, and aerial fraction.
Audit seeds 501-505 against zero, random, and initial controls, then validate ONNX parity, complete MP4 decoding, and browser playback.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PPO clipped surrogate
This is a teaching formula, not a saved experiment value. The optimizer minimizes the negative policy surrogate plus the implementation-specific value and entropy terms. PPO clipping is not a hard KL bound; monitor KL and clip fraction. A negative policy loss or Gaussian entropy is not automatically an error. Each scenario has its own reward units and optimizer conventions.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rollout through the learner
Collect observations, sampled actions, old log probabilities, values, rewards and episode-boundary flags using the current stochastic actor.
Compute TD residuals and generalized advantage estimates (GAE). A true terminal has zero continuation value; a timeout may bootstrap the saved final observation.
Cut advantage traces at reset boundaries. Never bootstrap a timeout from the first observation of the next episode.
Reuse this batch for PPO minibatch updates, then collect fresh on-policy data. Export the deterministic actor and its observation transform for evaluation.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exercise: count samples and clip the objective
Illustrative arithmetic, NOT this run: 16 environments × 128 steps = 2,048 fresh transitions per rollout. Four epochs reuse those transitions; they do not create 8,192 new samples.
With ε = 0.2, ratio = 1.4 and A = +2: min(2.8, 2.4) = 2.4. The minimized policy term is −2.4 before averaging and additional loss terms.
With the same ratio and A = −2: min(−2.8, −2.4) = −2.8. Explain why clipping is asymmetric once the sign of the advantage changes.
Run from repo root: python3 docs/microduck-training-student-book/learning_lab.py --gae. This is a deterministic arithmetic lab, not new policy training.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design: what the agent is paid to do  ·  1/2
keep_pace 12: baseline-subtracted Gaussian command tracking, so standing at a nonzero command scores zero.
track_turn 2: combined yaw, roll, and pitch rate tracking; reduced from 8 in the base recipe.
yaw_tracking 8: focused Gaussian on observable gyro yaw rate versus commanded yaw rate.
flight 4: rewards both feet airborne only while upright and moving in the commanded direction; air_time 1 rewards per-foot flight windows.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design: what the agent is paid to do  ·  2/2
stay_upright 2, pose 0.1, and head_up 1 shape posture without defining the independent running gate.
foot_clearance 0.5, smooth_moves 0.1, plant_the_foot 0.05, no_limit_parking 1, and calm_roll 0.025 are active costs.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training recipe  ·  1/2
Base v3: seed 7, 6,000,640 transitions, 16 envs x 128 steps, 2,930 rollouts, 46,880 optimizer minibatches, learning rate 0.0003.
Continuation v4: 2,097,152 transitions, 1,024 rollouts, 16,384 optimizer minibatches, learning rate 0.0001.
Entire selected lineage: 8,097,792 transitions, 3,954 rollout/update cycles, and 63,264 optimizer minibatches.
Both stages use 4 minibatches x 4 epochs, gamma 0.99, GAE lambda 0.95, clip 0.2, value coefficient 1, entropy 0, and max grad norm 0.5.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training recipe  ·  2/2
Initial std is 0.6 in the base; continuation loads learned actor, critic, log std, observation stats, and reward-return stats but fresh Adam state.
Update log fields are phase, steps, seconds, optimizer_steps, mean_loss, policy_loss, value_loss, entropy, approximate_kl, clip_fraction, explained_variance, env_steps.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commands: inspect, smoke, train  ·  1/3
From .:
./scripts/train-running.sh --dry-run
Inspect the guarded two-stage Running pipeline without training.
From .:
./scripts/train-running.sh
Run the independent Full Running base and refinement pipeline with fresh outputs.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commands: inspect, smoke, train  ·  2/3
From .:
RUN=running-classroom-$(date +%Y%m%d-%H%M%S); ./scripts/train-running.sh --recipe-json docs/remaining-scenarios-e2e/recipes/running.json --init-from rlx/runs/studio/running/running-e2e-20260907-v3/running.safetensors --run-name "$RUN"
Refine the retained v3 checkpoint with its adjacent sidecar in a fresh run; keep RUN in this terminal for the following audit. Requires the ignored historical base artifacts.
From .:
rlx/.venv-microduck/bin/python rlx/scripts/audit_scenarios.py --recipe-json docs/remaining-scenarios-e2e/recipes/running.json --run "rlx/runs/studio/running/${RUN:?Run the refinement command first in this shell}" --output "rlx/artifacts/$RUN-audit" --seeds 501 502 503 504 505 --render
Audit a completed Running reproduction over five held-out reset seeds.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commands: inspect, smoke, train  ·  3/3
From .:
python3 -m unittest discover -s scripts/scenarios -p 'test_*.py'
Run scenario-pipeline unit tests without starting training.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does the logged signal match the task?
Chart source: rlx/runs/studio/running/running-e2e-20260907-v4/training-metrics.jsonl
Training reward is an optimization signal, not the acceptance test. See raw/&lt;case&gt;/ for complete recorded fields.
Series are unsmoothed recorded values. Gaps mean the logger did not provide the requested field. Reward definitions differ: mean_raw_return is episodic, mean_reward is a collection-step mean, and drawing mean_rollout_reward is a rollout-step mean. Do not compare numerical scales across scenarios. No interpolation of missing metrics and no claim of a new experiment.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 inspect actor, critic and policy drift
Chart source: rlx/runs/studio/running/running-e2e-20260907-v4/training-metrics.jsonl
A lower loss does not prove a better robot skill. Loss sign and scale depend on the implementation.
Series are unsmoothed recorded values. Gaps mean the logger did not provide the requested field. Reward definitions differ: mean_raw_return is episodic, mean_reward is a collection-step mean, and drawing mean_rollout_reward is a rollout-step mean. Do not compare numerical scales across scenarios. No interpolation of missing metrics and no claim of a new experiment.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Diagnostics: is the optimizer behaving?
Chart source: rlx/runs/studio/running/running-e2e-20260907-v4/training-metrics.jsonl
Entropy, clipping, explained variance and timing are diagnostics — not a standalone pass/fail certificate.
Series are unsmoothed recorded values. Gaps mean the logger did not provide the requested field. Reward definitions differ: mean_raw_return is episodic, mean_reward is a collection-step mean, and drawing mean_rollout_reward is a rollout-step mean. Do not compare numerical scales across scenarios. No interpolation of missing metrics and no claim of a new experiment.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matrix: numerical audit of this trace  ·  1/3
approximate_kl: first 2.824 → final 0.03259; min 0.01741, max 2.824; 1024 logged samples.
clip_fraction: first 0.8713 → final 0.3572; min 0.2467, max 0.8713; 1024 logged samples.
entropy: first 1.830 → final -0.3148; min -0.3150, max 1.876; 1024 logged samples.
explained_variance: first 0.8329 → final 0.6748; min -1.234, max 0.9469; 1024 logged samples.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matrix: numerical audit of this trace  ·  2/3
mean_loss: first 0.1724 → final -0.02380; min -0.03384, max 0.1724; 1024 logged samples.
mean_raw_return: first 8637 → final 9686; min 87.22, max 1.008e+4; 1738 logged samples.
mean_reward: first 0.03103 → final 0.03508; min 0.02922, max 0.03661; 1024 logged samples.
policy_loss: first 0.1711 → final -0.02410; min -0.03457, max 0.1711; 1024 logged samples.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matrix: numerical audit of this trace  ·  3/3
value_loss: first 0.001326 → final 0.0003019; min 0.0002014, max 0.01952; 1024 logged samples.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define success before looking  ·  1/2
Require every episode to complete 600 samples without termination, with finite physical metrics and upright fraction &gt;= 0.95.
Require commanded fraction &gt;= 0.50, mean directed speed &gt;= 0.35 m/s, signed intended displacement &gt;= 2.0 m, and speed ratio &gt;= 0.35.
Require at least 8 alternating exclusive-support switches, each foot air fraction &gt;= 0.08, contact fraction &gt;= 0.10, and lift/touch events.
Require both-feet aerial fraction &gt;= 0.03; this distinguishes running from fast grounded stepping.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define success before looking  ·  2/2
Use evaluator version 2 signed displacement, which anchors intended heading at command changes and advances it only by commanded yaw.
Require zero, random, and loaded initial controls to fail the final gate; verify hashes, finite telemetry, 61-to-14 ONNX, parity, and video.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what was actually measured  ·  1/3
Actual final evidence: PASS for running-e2e-20260907-v4; Studio evaluation passed 16/16 complete 12-second episodes.
Independent seeds 501-505 passed 5/5; directed speeds were 0.7382723265470258-0.7746384824233077 m/s.
Signed intended displacement was 3.8483205827178626-9.01295603365732 m; speed ratios were 0.9843631020627012-1.0328513098977434.
Aerial fractions were 0.35-0.3983333333333333, with 167-170 support switches; every episode had upright fraction 1.0.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what was actually measured  ·  2/3
The v3 initializer was already aerial at fraction 0.275 with 156 switches and 0.6664 m/s, but failed with -0.2392 m intended displacement.
After 524,288 continuation transitions, comparison seed 501 passed; the final checkpoint retained a pass with raw return 11467.54.
Final raw-return change versus initialization was 1683.1782192444243; learned tensor L2 change was 7.672545078668774.
ONNX/native maximum action error was 1.430511474609375e-6; zero and random controls fell after 43-49 steps and failed the gate.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what was actually measured  ·  3/3
Final-100 means: policy_loss -0.022870965473121032, value_loss 0.0003489635748883302, mean_loss -0.022522001879488017.
Final-100 approximate_kl 0.03082194794646057, clip_fraction 0.33925048828125, explained_variance 0.5853159072389115.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Saved policy video
Source: rlx/runs/studio/running/running-e2e-20260907-v4/render/ep0.mp4
Embedded video bytes are copied unchanged, not regenerated and not sped up. A single video is not a seed sweep. PowerPoint playback requires a user click; use the included MP4 in a local player if a presentation viewer cannot decode embedded media.
The policy specializes to one nominal 0.75 m/s forward command; arbitrary speed, turning, and disturbance recovery are untested.
The passing paths still curve; the result proves signed intended progress under the gate, not straight-line path perfection.
The base acquired running, while v4 improved intended progress; crediting v4 with discovering the entire gait would be inaccurate.
Raw actor means can exceed the applied [-4,4] target-offset range, so nominal XML success is not a hardware command-quality certificate.
No BAM dynamics, current limits, latency, randomized physics, terrain, pushes, battery, thermal, cable, backlash, or hardware safety tests.
One training lineage and five nominal audit seeds do not establish training-seed robustness or broad generalization.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and failure analysis  ·  1/2
The policy specializes to one nominal 0.75 m/s forward command; arbitrary speed, turning, and disturbance recovery are untested.
The passing paths still curve; the result proves signed intended progress under the gate, not straight-line path perfection.
The base acquired running, while v4 improved intended progress; crediting v4 with discovering the entire gait would be inaccurate.
Raw actor means can exceed the applied [-4,4] target-offset range, so nominal XML success is not a hardware command-quality certificate.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and failure analysis  ·  2/2
No BAM dynamics, current limits, latency, randomized physics, terrain, pushes, battery, thermal, cable, backlash, or hardware safety tests.
One training lineage and five nominal audit seeds do not establish training-seed robustness or broad generalization.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lab: change one variable, keep the gates  ·  1/2
Recommended exercise, not saved evidence: classify a 0.72 m/s gait with aerial fraction 0.01 against the exact running gate.
Recommended exercise, not saved evidence: identify observable yaw-rate inputs and explain why absolute-heading reward is invalid.
Recommended exercise, not saved evidence: clip the recorded first raw actor vector and list saturated joints.
Recommended exercise, not saved evidence: construct a circular trajectory with high body-frame speed but near-zero intended displacement.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lab: change one variable, keep the gates  ·  2/2
Recommended exercise, not saved evidence: predeclare held-out speed and yaw-rate commands for interpolation and extrapolation tests.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Submit an experiment, not just a video
Before training: write one hypothesis, the changed parameter, the fixed baseline, seed list, acceptance criteria and time/transition budget.
During training: save the exact command, environment versions, initialization, checkpoint and raw reward/loss/KL metrics. Never overwrite the saved reference run.
After training: evaluate the frozen exported policy on matched seeds; include all failures, aggregate metrics, the full rollout video and a source-bound result table.
Rubric / 10: reproducibility 2; environment and reward explanation 2; PPO and metrics interpretation 2; honest verification 2; one evidence-based next experiment 2.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map and further study  ·  1/2
AGENTS.md
microduck_local/AGENTS.md
microduck_local/src/microduck_local/contract.py
README.md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map and further study  ·  2/2
docs/microduck-training-student-book/chapters/02a-ppo-code-lab.md
docs/microduck-training-student-book/chapters/02b-gae-workshop.md
scripts/scenarios/README.md
README.md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scripts/train-running.sh
scripts/scenarios/README.md
docs/microduck-training-student-book/chapters/06-running.md
docs/microduck-training-student-book/REPRODUCTION.md
docs/remaining-scenarios-e2e/REPORT.md
docs/remaining-scenarios-e2e/recipes/running-base.json
docs/remaining-scenarios-e2e/recipes/running.json
rlx/rlx/environments/microduck_recipes.py
rlx/scripts/audit_scenarios.py
rlx/runs/studio/running/running-e2e-20260907-v4/running.safetensors.json
rlx/runs/studio/running/running-e2e-20260907-v4/evaluation.json
rlx/runs/studio/running/running-e2e-20260907-v4/render/evidence.json
rlx/artifacts/scenarios-e2e-20260907/running-v4-audit/audit.json
PPO teaching references:
docs/microduck-training-student-book/chapters/02a-ppo-code-lab.md
docs/microduck-training-student-book/chapters/02b-gae-workshop.md
scripts/scenarios/README.md
README.md
Evidence edition: 2026-09-11. Complete raw recorded metrics are bundled under raw/running/.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video" Target="../media/media-31-1.mp4"/><Relationship Id="rId2" Type="http://schemas.microsoft.com/office/2007/relationships/media" Target="../media/media-31-1.mp4"/><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EIGHT CASES / ONE LEARNING METHOD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LAB 03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01</a:t>
            </a:r>
            <a:endParaRPr lang="en-US" sz="1200" dirty="0"/>
          </a:p>
        </p:txBody>
      </p:sp>
      <p:sp>
        <p:nvSpPr>
          <p:cNvPr id="8" name="Text 6"/>
          <p:cNvSpPr/>
          <p:nvPr/>
        </p:nvSpPr>
        <p:spPr>
          <a:xfrm>
            <a:off x="658368" y="1828800"/>
            <a:ext cx="5532120" cy="1298448"/>
          </a:xfrm>
          <a:prstGeom prst="rect">
            <a:avLst/>
          </a:prstGeom>
          <a:noFill/>
          <a:ln/>
        </p:spPr>
        <p:txBody>
          <a:bodyPr wrap="square" lIns="0" tIns="0" rIns="0" bIns="0" rtlCol="0" anchor="ctr"/>
          <a:lstStyle/>
          <a:p>
            <a:pPr indent="0" marL="0">
              <a:buNone/>
            </a:pPr>
            <a:r>
              <a:rPr lang="en-US" sz="4300" b="1" dirty="0">
                <a:solidFill>
                  <a:srgbClr val="142D3B"/>
                </a:solidFill>
                <a:latin typeface="Aptos" pitchFamily="34" charset="0"/>
                <a:ea typeface="Aptos" pitchFamily="34" charset="-122"/>
                <a:cs typeface="Aptos" pitchFamily="34" charset="-120"/>
              </a:rPr>
              <a:t>Running</a:t>
            </a:r>
            <a:endParaRPr lang="en-US" sz="4300" dirty="0"/>
          </a:p>
        </p:txBody>
      </p:sp>
      <p:sp>
        <p:nvSpPr>
          <p:cNvPr id="9" name="Text 7"/>
          <p:cNvSpPr/>
          <p:nvPr/>
        </p:nvSpPr>
        <p:spPr>
          <a:xfrm>
            <a:off x="685800" y="3328416"/>
            <a:ext cx="5230368" cy="1005840"/>
          </a:xfrm>
          <a:prstGeom prst="rect">
            <a:avLst/>
          </a:prstGeom>
          <a:noFill/>
          <a:ln/>
        </p:spPr>
        <p:txBody>
          <a:bodyPr wrap="square" lIns="0" tIns="0" rIns="0" bIns="0" rtlCol="0" anchor="ctr"/>
          <a:lstStyle/>
          <a:p>
            <a:pPr indent="0" marL="0">
              <a:buNone/>
            </a:pPr>
            <a:r>
              <a:rPr lang="en-US" sz="2300" dirty="0">
                <a:solidFill>
                  <a:srgbClr val="566C79"/>
                </a:solidFill>
                <a:latin typeface="Aptos" pitchFamily="34" charset="0"/>
                <a:ea typeface="Aptos" pitchFamily="34" charset="-122"/>
                <a:cs typeface="Aptos" pitchFamily="34" charset="-120"/>
              </a:rPr>
              <a:t>Running: Aerial Gait with Intended Progress</a:t>
            </a:r>
            <a:endParaRPr lang="en-US" sz="2300" dirty="0"/>
          </a:p>
        </p:txBody>
      </p:sp>
      <p:sp>
        <p:nvSpPr>
          <p:cNvPr id="10" name="Text 8"/>
          <p:cNvSpPr/>
          <p:nvPr/>
        </p:nvSpPr>
        <p:spPr>
          <a:xfrm>
            <a:off x="685800" y="4645152"/>
            <a:ext cx="5230368" cy="548640"/>
          </a:xfrm>
          <a:prstGeom prst="rect">
            <a:avLst/>
          </a:prstGeom>
          <a:noFill/>
          <a:ln/>
        </p:spPr>
        <p:txBody>
          <a:bodyPr wrap="square" lIns="0" tIns="0" rIns="0" bIns="0" rtlCol="0" anchor="ctr"/>
          <a:lstStyle/>
          <a:p>
            <a:pPr indent="0" marL="0">
              <a:buNone/>
            </a:pPr>
            <a:r>
              <a:rPr lang="en-US" sz="1700" dirty="0">
                <a:solidFill>
                  <a:srgbClr val="566C79"/>
                </a:solidFill>
                <a:latin typeface="Aptos" pitchFamily="34" charset="0"/>
                <a:ea typeface="Aptos" pitchFamily="34" charset="-122"/>
                <a:cs typeface="Aptos" pitchFamily="34" charset="-120"/>
              </a:rPr>
              <a:t>Environment design · PPO · Honest verification</a:t>
            </a:r>
            <a:endParaRPr lang="en-US" sz="1700" dirty="0"/>
          </a:p>
        </p:txBody>
      </p:sp>
      <p:pic>
        <p:nvPicPr>
          <p:cNvPr id="11" name="Image 0" descr="/Volumes/ExternalSSD/geoagent/microduck-lab/docs/classroom-ppt/assets/running/rollout-poster.png">    </p:cNvPr>
          <p:cNvPicPr>
            <a:picLocks noChangeAspect="1"/>
          </p:cNvPicPr>
          <p:nvPr/>
        </p:nvPicPr>
        <p:blipFill>
          <a:blip r:embed="rId1"/>
          <a:stretch>
            <a:fillRect/>
          </a:stretch>
        </p:blipFill>
        <p:spPr>
          <a:xfrm>
            <a:off x="6263640" y="2084546"/>
            <a:ext cx="5349240" cy="3008948"/>
          </a:xfrm>
          <a:prstGeom prst="rect">
            <a:avLst/>
          </a:prstGeom>
        </p:spPr>
      </p:pic>
      <p:sp>
        <p:nvSpPr>
          <p:cNvPr id="12" name="Text 9"/>
          <p:cNvSpPr/>
          <p:nvPr/>
        </p:nvSpPr>
        <p:spPr>
          <a:xfrm>
            <a:off x="685800" y="5550408"/>
            <a:ext cx="10698480" cy="393192"/>
          </a:xfrm>
          <a:prstGeom prst="rect">
            <a:avLst/>
          </a:prstGeom>
          <a:noFill/>
          <a:ln/>
        </p:spPr>
        <p:txBody>
          <a:bodyPr wrap="square" lIns="0" tIns="0" rIns="0" bIns="0" rtlCol="0" anchor="ctr"/>
          <a:lstStyle/>
          <a:p>
            <a:pPr indent="0" marL="0">
              <a:buNone/>
            </a:pPr>
            <a:r>
              <a:rPr lang="en-US" sz="2000" b="1" spc="100" kern="0" dirty="0">
                <a:solidFill>
                  <a:srgbClr val="087E8B"/>
                </a:solidFill>
                <a:latin typeface="Aptos" pitchFamily="34" charset="0"/>
                <a:ea typeface="Aptos" pitchFamily="34" charset="-122"/>
                <a:cs typeface="Aptos" pitchFamily="34" charset="-120"/>
              </a:rPr>
              <a:t>BUILD  →  TRAIN  →  VERIFY  →  EXPLAIN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What you will build — and what the evidence says</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02</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Use case: Teach why fast motion is not enough: a running policy must survive, follow the commanded direction, alternate support, and show true both-feet aerial phases.</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750" dirty="0">
                <a:solidFill>
                  <a:srgbClr val="142D3B"/>
                </a:solidFill>
                <a:latin typeface="Aptos" pitchFamily="34" charset="0"/>
                <a:ea typeface="Aptos" pitchFamily="34" charset="-122"/>
                <a:cs typeface="Aptos" pitchFamily="34" charset="-120"/>
              </a:rPr>
              <a:t>By the end: describe the scene, map observations to actions, explain the reward, trace one PPO update, run a bounded experiment, and defend an evaluation claim.</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policy specializes to one nominal 0.75 m/s forward command; arbitrary speed, turning, and disturbance recovery are untested.</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850" dirty="0">
                <a:solidFill>
                  <a:srgbClr val="142D3B"/>
                </a:solidFill>
                <a:latin typeface="Aptos" pitchFamily="34" charset="0"/>
                <a:ea typeface="Aptos" pitchFamily="34" charset="-122"/>
                <a:cs typeface="Aptos" pitchFamily="34" charset="-120"/>
              </a:rPr>
              <a:t>Scope: local MuJoCo simulation. Do not deploy these classroom artifacts to a physical robot; hardware transfer requires a separate validated process.</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Materials and prerequisites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Apple Silicon Mac with installed RLX/MLX, MuJoCo, ONNX Runtime, rendering dependencies, and Node.</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Tracked base and refinement recipes: running-base.json and running.json.</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Studio trainer/exporter, scenario HTTP driver, independent audit_scenarios.py, and video verifier.</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Saved base checkpoint plus adjacent normalization sidecar; both are required for the refinement stage.</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Materials and prerequisites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04</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Final checkpoint, ONNX actor, evaluation JSON, physical NPZ traces, optimizer JSONL, MP4, contact sheet, and render receipt.</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Environment and policy contract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05</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Nominal XML-actuator MuJoCo at 50 Hz; fixed command is 0.75 m/s forward, zero lateral speed, and zero yaw rate.</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Observation is float32 batch x 61 with gyro, projected gravity, 14 joint offsets, lagged velocities, prior raw action, and 13 command values.</a:t>
            </a:r>
            <a:endParaRPr lang="en-US" sz="20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Absolute world position and yaw are absent; gyro yaw rate and commanded yaw rate are observable, so yaw-rate tracking is learnable.</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Action is float32 batch x 14 raw target offsets; the environment stores raw values, clips applied offsets to [-4,4], and adds DEFAULT_POSE.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Environment and policy contract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06</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Episode horizon is 600 control steps or 12 seconds; domain randomization, observation noise, action delay, and random yaw are disabled.</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native speed curriculum is bypassed by pinning every twist command to [0.75,0,0]; head/body keep-alive commands still vary.</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How this case is built: one evidence loop</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07</a:t>
            </a:r>
            <a:endParaRPr lang="en-US" sz="1200" dirty="0"/>
          </a:p>
        </p:txBody>
      </p:sp>
      <p:sp>
        <p:nvSpPr>
          <p:cNvPr id="8" name="Shape 6"/>
          <p:cNvSpPr/>
          <p:nvPr/>
        </p:nvSpPr>
        <p:spPr>
          <a:xfrm>
            <a:off x="594360" y="1828800"/>
            <a:ext cx="3227832" cy="1234440"/>
          </a:xfrm>
          <a:prstGeom prst="rect">
            <a:avLst/>
          </a:prstGeom>
          <a:solidFill>
            <a:srgbClr val="FFFFFF"/>
          </a:solidFill>
          <a:ln w="6350">
            <a:solidFill>
              <a:srgbClr val="FFFFFF"/>
            </a:solidFill>
            <a:prstDash val="solid"/>
          </a:ln>
        </p:spPr>
      </p:sp>
      <p:sp>
        <p:nvSpPr>
          <p:cNvPr id="9" name="Text 7"/>
          <p:cNvSpPr/>
          <p:nvPr/>
        </p:nvSpPr>
        <p:spPr>
          <a:xfrm>
            <a:off x="777240" y="19659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01 / SCENE</a:t>
            </a:r>
            <a:endParaRPr lang="en-US" sz="1200" dirty="0"/>
          </a:p>
        </p:txBody>
      </p:sp>
      <p:sp>
        <p:nvSpPr>
          <p:cNvPr id="10" name="Text 8"/>
          <p:cNvSpPr/>
          <p:nvPr/>
        </p:nvSpPr>
        <p:spPr>
          <a:xfrm>
            <a:off x="777240" y="23042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Flat ground + free robot</a:t>
            </a:r>
            <a:endParaRPr lang="en-US" sz="2100" dirty="0"/>
          </a:p>
        </p:txBody>
      </p:sp>
      <p:sp>
        <p:nvSpPr>
          <p:cNvPr id="11" name="Shape 9"/>
          <p:cNvSpPr/>
          <p:nvPr/>
        </p:nvSpPr>
        <p:spPr>
          <a:xfrm>
            <a:off x="4471416" y="1828800"/>
            <a:ext cx="3227832" cy="1234440"/>
          </a:xfrm>
          <a:prstGeom prst="rect">
            <a:avLst/>
          </a:prstGeom>
          <a:solidFill>
            <a:srgbClr val="FFFFFF"/>
          </a:solidFill>
          <a:ln w="6350">
            <a:solidFill>
              <a:srgbClr val="FFFFFF"/>
            </a:solidFill>
            <a:prstDash val="solid"/>
          </a:ln>
        </p:spPr>
      </p:sp>
      <p:sp>
        <p:nvSpPr>
          <p:cNvPr id="12" name="Text 10"/>
          <p:cNvSpPr/>
          <p:nvPr/>
        </p:nvSpPr>
        <p:spPr>
          <a:xfrm>
            <a:off x="4654296" y="19659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02 / COMMAND</a:t>
            </a:r>
            <a:endParaRPr lang="en-US" sz="1200" dirty="0"/>
          </a:p>
        </p:txBody>
      </p:sp>
      <p:sp>
        <p:nvSpPr>
          <p:cNvPr id="13" name="Text 11"/>
          <p:cNvSpPr/>
          <p:nvPr/>
        </p:nvSpPr>
        <p:spPr>
          <a:xfrm>
            <a:off x="4654296" y="23042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Requested forward velocity</a:t>
            </a:r>
            <a:endParaRPr lang="en-US" sz="2100" dirty="0"/>
          </a:p>
        </p:txBody>
      </p:sp>
      <p:sp>
        <p:nvSpPr>
          <p:cNvPr id="14" name="Shape 12"/>
          <p:cNvSpPr/>
          <p:nvPr/>
        </p:nvSpPr>
        <p:spPr>
          <a:xfrm>
            <a:off x="8348472" y="1828800"/>
            <a:ext cx="3227832" cy="1234440"/>
          </a:xfrm>
          <a:prstGeom prst="rect">
            <a:avLst/>
          </a:prstGeom>
          <a:solidFill>
            <a:srgbClr val="FFFFFF"/>
          </a:solidFill>
          <a:ln w="6350">
            <a:solidFill>
              <a:srgbClr val="FFFFFF"/>
            </a:solidFill>
            <a:prstDash val="solid"/>
          </a:ln>
        </p:spPr>
      </p:sp>
      <p:sp>
        <p:nvSpPr>
          <p:cNvPr id="15" name="Text 13"/>
          <p:cNvSpPr/>
          <p:nvPr/>
        </p:nvSpPr>
        <p:spPr>
          <a:xfrm>
            <a:off x="8531352" y="19659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03 / OBJECTIVE</a:t>
            </a:r>
            <a:endParaRPr lang="en-US" sz="1200" dirty="0"/>
          </a:p>
        </p:txBody>
      </p:sp>
      <p:sp>
        <p:nvSpPr>
          <p:cNvPr id="16" name="Text 14"/>
          <p:cNvSpPr/>
          <p:nvPr/>
        </p:nvSpPr>
        <p:spPr>
          <a:xfrm>
            <a:off x="8531352" y="23042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Speed + aerial gait</a:t>
            </a:r>
            <a:endParaRPr lang="en-US" sz="2100" dirty="0"/>
          </a:p>
        </p:txBody>
      </p:sp>
      <p:sp>
        <p:nvSpPr>
          <p:cNvPr id="17" name="Shape 15"/>
          <p:cNvSpPr/>
          <p:nvPr/>
        </p:nvSpPr>
        <p:spPr>
          <a:xfrm>
            <a:off x="8348472" y="3886200"/>
            <a:ext cx="3227832" cy="1234440"/>
          </a:xfrm>
          <a:prstGeom prst="rect">
            <a:avLst/>
          </a:prstGeom>
          <a:solidFill>
            <a:srgbClr val="FFFFFF"/>
          </a:solidFill>
          <a:ln w="6350">
            <a:solidFill>
              <a:srgbClr val="FFFFFF"/>
            </a:solidFill>
            <a:prstDash val="solid"/>
          </a:ln>
        </p:spPr>
      </p:sp>
      <p:sp>
        <p:nvSpPr>
          <p:cNvPr id="18" name="Text 16"/>
          <p:cNvSpPr/>
          <p:nvPr/>
        </p:nvSpPr>
        <p:spPr>
          <a:xfrm>
            <a:off x="8531352" y="40233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04 / TRAIN</a:t>
            </a:r>
            <a:endParaRPr lang="en-US" sz="1200" dirty="0"/>
          </a:p>
        </p:txBody>
      </p:sp>
      <p:sp>
        <p:nvSpPr>
          <p:cNvPr id="19" name="Text 17"/>
          <p:cNvSpPr/>
          <p:nvPr/>
        </p:nvSpPr>
        <p:spPr>
          <a:xfrm>
            <a:off x="8531352" y="43616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Base PPO → refinement</a:t>
            </a:r>
            <a:endParaRPr lang="en-US" sz="2100" dirty="0"/>
          </a:p>
        </p:txBody>
      </p:sp>
      <p:sp>
        <p:nvSpPr>
          <p:cNvPr id="20" name="Shape 18"/>
          <p:cNvSpPr/>
          <p:nvPr/>
        </p:nvSpPr>
        <p:spPr>
          <a:xfrm>
            <a:off x="4471416" y="3886200"/>
            <a:ext cx="3227832" cy="1234440"/>
          </a:xfrm>
          <a:prstGeom prst="rect">
            <a:avLst/>
          </a:prstGeom>
          <a:solidFill>
            <a:srgbClr val="FFFFFF"/>
          </a:solidFill>
          <a:ln w="6350">
            <a:solidFill>
              <a:srgbClr val="FFFFFF"/>
            </a:solidFill>
            <a:prstDash val="solid"/>
          </a:ln>
        </p:spPr>
      </p:sp>
      <p:sp>
        <p:nvSpPr>
          <p:cNvPr id="21" name="Text 19"/>
          <p:cNvSpPr/>
          <p:nvPr/>
        </p:nvSpPr>
        <p:spPr>
          <a:xfrm>
            <a:off x="4654296" y="40233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05 / VERIFY</a:t>
            </a:r>
            <a:endParaRPr lang="en-US" sz="1200" dirty="0"/>
          </a:p>
        </p:txBody>
      </p:sp>
      <p:sp>
        <p:nvSpPr>
          <p:cNvPr id="22" name="Text 20"/>
          <p:cNvSpPr/>
          <p:nvPr/>
        </p:nvSpPr>
        <p:spPr>
          <a:xfrm>
            <a:off x="4654296" y="43616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Progress + flight phases</a:t>
            </a:r>
            <a:endParaRPr lang="en-US" sz="2100" dirty="0"/>
          </a:p>
        </p:txBody>
      </p:sp>
      <p:sp>
        <p:nvSpPr>
          <p:cNvPr id="23" name="Shape 21"/>
          <p:cNvSpPr/>
          <p:nvPr/>
        </p:nvSpPr>
        <p:spPr>
          <a:xfrm>
            <a:off x="594360" y="3886200"/>
            <a:ext cx="3227832" cy="1234440"/>
          </a:xfrm>
          <a:prstGeom prst="rect">
            <a:avLst/>
          </a:prstGeom>
          <a:solidFill>
            <a:srgbClr val="FFFFFF"/>
          </a:solidFill>
          <a:ln w="6350">
            <a:solidFill>
              <a:srgbClr val="FFFFFF"/>
            </a:solidFill>
            <a:prstDash val="solid"/>
          </a:ln>
        </p:spPr>
      </p:sp>
      <p:sp>
        <p:nvSpPr>
          <p:cNvPr id="24" name="Text 22"/>
          <p:cNvSpPr/>
          <p:nvPr/>
        </p:nvSpPr>
        <p:spPr>
          <a:xfrm>
            <a:off x="777240" y="40233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06 / EVIDENCE</a:t>
            </a:r>
            <a:endParaRPr lang="en-US" sz="1200" dirty="0"/>
          </a:p>
        </p:txBody>
      </p:sp>
      <p:sp>
        <p:nvSpPr>
          <p:cNvPr id="25" name="Text 23"/>
          <p:cNvSpPr/>
          <p:nvPr/>
        </p:nvSpPr>
        <p:spPr>
          <a:xfrm>
            <a:off x="777240" y="43616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Seed sweep + gait video</a:t>
            </a:r>
            <a:endParaRPr lang="en-US" sz="2100" dirty="0"/>
          </a:p>
        </p:txBody>
      </p:sp>
      <p:sp>
        <p:nvSpPr>
          <p:cNvPr id="26" name="Shape 24"/>
          <p:cNvSpPr/>
          <p:nvPr/>
        </p:nvSpPr>
        <p:spPr>
          <a:xfrm>
            <a:off x="3840480" y="2441448"/>
            <a:ext cx="566928" cy="0"/>
          </a:xfrm>
          <a:prstGeom prst="line">
            <a:avLst/>
          </a:prstGeom>
          <a:noFill/>
          <a:ln w="31750">
            <a:solidFill>
              <a:srgbClr val="087E8B"/>
            </a:solidFill>
            <a:prstDash val="solid"/>
            <a:tailEnd type="triangle"/>
          </a:ln>
        </p:spPr>
      </p:sp>
      <p:sp>
        <p:nvSpPr>
          <p:cNvPr id="27" name="Shape 25"/>
          <p:cNvSpPr/>
          <p:nvPr/>
        </p:nvSpPr>
        <p:spPr>
          <a:xfrm>
            <a:off x="7708392" y="2441448"/>
            <a:ext cx="576072" cy="0"/>
          </a:xfrm>
          <a:prstGeom prst="line">
            <a:avLst/>
          </a:prstGeom>
          <a:noFill/>
          <a:ln w="31750">
            <a:solidFill>
              <a:srgbClr val="087E8B"/>
            </a:solidFill>
            <a:prstDash val="solid"/>
            <a:tailEnd type="triangle"/>
          </a:ln>
        </p:spPr>
      </p:sp>
      <p:sp>
        <p:nvSpPr>
          <p:cNvPr id="28" name="Shape 26"/>
          <p:cNvSpPr/>
          <p:nvPr/>
        </p:nvSpPr>
        <p:spPr>
          <a:xfrm>
            <a:off x="9939528" y="3145536"/>
            <a:ext cx="0" cy="621792"/>
          </a:xfrm>
          <a:prstGeom prst="line">
            <a:avLst/>
          </a:prstGeom>
          <a:noFill/>
          <a:ln w="31750">
            <a:solidFill>
              <a:srgbClr val="087E8B"/>
            </a:solidFill>
            <a:prstDash val="solid"/>
            <a:tailEnd type="triangle"/>
          </a:ln>
        </p:spPr>
      </p:sp>
      <p:sp>
        <p:nvSpPr>
          <p:cNvPr id="29" name="Shape 27"/>
          <p:cNvSpPr/>
          <p:nvPr/>
        </p:nvSpPr>
        <p:spPr>
          <a:xfrm>
            <a:off x="7717536" y="4480560"/>
            <a:ext cx="530352" cy="0"/>
          </a:xfrm>
          <a:prstGeom prst="line">
            <a:avLst/>
          </a:prstGeom>
          <a:noFill/>
          <a:ln w="31750">
            <a:solidFill>
              <a:srgbClr val="087E8B"/>
            </a:solidFill>
            <a:prstDash val="solid"/>
            <a:headEnd type="triangle"/>
          </a:ln>
        </p:spPr>
      </p:sp>
      <p:sp>
        <p:nvSpPr>
          <p:cNvPr id="30" name="Shape 28"/>
          <p:cNvSpPr/>
          <p:nvPr/>
        </p:nvSpPr>
        <p:spPr>
          <a:xfrm>
            <a:off x="3840480" y="4480560"/>
            <a:ext cx="530352" cy="0"/>
          </a:xfrm>
          <a:prstGeom prst="line">
            <a:avLst/>
          </a:prstGeom>
          <a:noFill/>
          <a:ln w="31750">
            <a:solidFill>
              <a:srgbClr val="087E8B"/>
            </a:solidFill>
            <a:prstDash val="solid"/>
            <a:headEnd type="triangle"/>
          </a:ln>
        </p:spPr>
      </p:sp>
      <p:sp>
        <p:nvSpPr>
          <p:cNvPr id="31" name="Text 29"/>
          <p:cNvSpPr/>
          <p:nvPr/>
        </p:nvSpPr>
        <p:spPr>
          <a:xfrm>
            <a:off x="731520" y="5641848"/>
            <a:ext cx="10789920" cy="347472"/>
          </a:xfrm>
          <a:prstGeom prst="rect">
            <a:avLst/>
          </a:prstGeom>
          <a:noFill/>
          <a:ln/>
        </p:spPr>
        <p:txBody>
          <a:bodyPr wrap="square" lIns="0" tIns="0" rIns="0" bIns="0" rtlCol="0" anchor="ctr"/>
          <a:lstStyle/>
          <a:p>
            <a:pPr indent="0" marL="0">
              <a:buNone/>
            </a:pPr>
            <a:r>
              <a:rPr lang="en-US" sz="1900" b="1" dirty="0">
                <a:solidFill>
                  <a:srgbClr val="D96C35"/>
                </a:solidFill>
                <a:latin typeface="Aptos" pitchFamily="34" charset="0"/>
                <a:ea typeface="Aptos" pitchFamily="34" charset="-122"/>
                <a:cs typeface="Aptos" pitchFamily="34" charset="-120"/>
              </a:rPr>
              <a:t>Failure is data: change one cause, retrain, and repeat the same evaluation gates.</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Build the case step by step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08</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Train Running v3 from random actor and critic weights for 6,000,640 transitions using the base reward and fixed 0.75 m/s command.</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Retain the v3 failed intended-progress verdict; it acquired an aerial gait but curved enough to fail signed command-directed displacement.</a:t>
            </a:r>
            <a:endParaRPr lang="en-US" sz="20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Copy both the v3 checkpoint and its .safetensors.json normalizer sidecar into a fresh v4 run directory.</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Resume for 2,097,152 transitions with lower combined angular weight and new observable yaw-rate-only shaping.</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Build the case step by step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09</a:t>
            </a:r>
            <a:endParaRPr lang="en-US" sz="1200" dirty="0"/>
          </a:p>
        </p:txBody>
      </p:sp>
      <p:sp>
        <p:nvSpPr>
          <p:cNvPr id="8" name="Shape 6"/>
          <p:cNvSpPr/>
          <p:nvPr/>
        </p:nvSpPr>
        <p:spPr>
          <a:xfrm>
            <a:off x="512064" y="1746504"/>
            <a:ext cx="11045952" cy="132283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Export the deterministic actor with normalization baked in; do not substitute a raw checkpoint or mismatched sidecar.</a:t>
            </a:r>
            <a:endParaRPr lang="en-US" sz="2100" dirty="0"/>
          </a:p>
        </p:txBody>
      </p:sp>
      <p:sp>
        <p:nvSpPr>
          <p:cNvPr id="11" name="Shape 9"/>
          <p:cNvSpPr/>
          <p:nvPr/>
        </p:nvSpPr>
        <p:spPr>
          <a:xfrm>
            <a:off x="512064" y="3179064"/>
            <a:ext cx="11045952" cy="1322832"/>
          </a:xfrm>
          <a:prstGeom prst="rect">
            <a:avLst/>
          </a:prstGeom>
          <a:solidFill>
            <a:srgbClr val="FFFFFF"/>
          </a:solidFill>
          <a:ln w="6350">
            <a:solidFill>
              <a:srgbClr val="FFFFFF"/>
            </a:solidFill>
            <a:prstDash val="solid"/>
          </a:ln>
        </p:spPr>
      </p:sp>
      <p:sp>
        <p:nvSpPr>
          <p:cNvPr id="12" name="Text 10"/>
          <p:cNvSpPr/>
          <p:nvPr/>
        </p:nvSpPr>
        <p:spPr>
          <a:xfrm>
            <a:off x="731520" y="33162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27050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Evaluate 12-second episodes with heading-anchored signed displacement, support events, foot air/contact fractions, and aerial fraction.</a:t>
            </a:r>
            <a:endParaRPr lang="en-US" sz="2100" dirty="0"/>
          </a:p>
        </p:txBody>
      </p:sp>
      <p:sp>
        <p:nvSpPr>
          <p:cNvPr id="14" name="Shape 12"/>
          <p:cNvSpPr/>
          <p:nvPr/>
        </p:nvSpPr>
        <p:spPr>
          <a:xfrm>
            <a:off x="512064" y="4611624"/>
            <a:ext cx="11045952" cy="1322832"/>
          </a:xfrm>
          <a:prstGeom prst="rect">
            <a:avLst/>
          </a:prstGeom>
          <a:solidFill>
            <a:srgbClr val="FFFFFF"/>
          </a:solidFill>
          <a:ln w="6350">
            <a:solidFill>
              <a:srgbClr val="FFFFFF"/>
            </a:solidFill>
            <a:prstDash val="solid"/>
          </a:ln>
        </p:spPr>
      </p:sp>
      <p:sp>
        <p:nvSpPr>
          <p:cNvPr id="15" name="Text 13"/>
          <p:cNvSpPr/>
          <p:nvPr/>
        </p:nvSpPr>
        <p:spPr>
          <a:xfrm>
            <a:off x="731520" y="47487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470306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Audit seeds 501-505 against zero, random, and initial controls, then validate ONNX parity, complete MP4 decoding, and browser playback.</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PPO: improve the actor without trusting a huge step</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10</a:t>
            </a:r>
            <a:endParaRPr lang="en-US" sz="1200" dirty="0"/>
          </a:p>
        </p:txBody>
      </p:sp>
      <p:sp>
        <p:nvSpPr>
          <p:cNvPr id="8" name="Shape 6"/>
          <p:cNvSpPr/>
          <p:nvPr/>
        </p:nvSpPr>
        <p:spPr>
          <a:xfrm>
            <a:off x="594360" y="1810512"/>
            <a:ext cx="10972800" cy="932688"/>
          </a:xfrm>
          <a:prstGeom prst="rect">
            <a:avLst/>
          </a:prstGeom>
          <a:solidFill>
            <a:srgbClr val="142D3B"/>
          </a:solidFill>
          <a:ln w="6350">
            <a:solidFill>
              <a:srgbClr val="142D3B"/>
            </a:solidFill>
            <a:prstDash val="solid"/>
          </a:ln>
        </p:spPr>
      </p:sp>
      <p:sp>
        <p:nvSpPr>
          <p:cNvPr id="9" name="Text 7"/>
          <p:cNvSpPr/>
          <p:nvPr/>
        </p:nvSpPr>
        <p:spPr>
          <a:xfrm>
            <a:off x="914400" y="1975104"/>
            <a:ext cx="10241280" cy="502920"/>
          </a:xfrm>
          <a:prstGeom prst="rect">
            <a:avLst/>
          </a:prstGeom>
          <a:noFill/>
          <a:ln/>
        </p:spPr>
        <p:txBody>
          <a:bodyPr wrap="square" lIns="0" tIns="0" rIns="0" bIns="0" rtlCol="0" anchor="ctr"/>
          <a:lstStyle/>
          <a:p>
            <a:pPr indent="0" marL="0">
              <a:buNone/>
            </a:pPr>
            <a:r>
              <a:rPr lang="en-US" sz="2900" b="1" dirty="0">
                <a:solidFill>
                  <a:srgbClr val="FFFFFF"/>
                </a:solidFill>
                <a:latin typeface="Aptos" pitchFamily="34" charset="0"/>
                <a:ea typeface="Aptos" pitchFamily="34" charset="-122"/>
                <a:cs typeface="Aptos" pitchFamily="34" charset="-120"/>
              </a:rPr>
              <a:t>ratio = πnew(a | o) / πold(a | o)</a:t>
            </a:r>
            <a:endParaRPr lang="en-US" sz="2900" dirty="0"/>
          </a:p>
        </p:txBody>
      </p:sp>
      <p:sp>
        <p:nvSpPr>
          <p:cNvPr id="10" name="Text 8"/>
          <p:cNvSpPr/>
          <p:nvPr/>
        </p:nvSpPr>
        <p:spPr>
          <a:xfrm>
            <a:off x="731520" y="2971800"/>
            <a:ext cx="10789920" cy="640080"/>
          </a:xfrm>
          <a:prstGeom prst="rect">
            <a:avLst/>
          </a:prstGeom>
          <a:noFill/>
          <a:ln/>
        </p:spPr>
        <p:txBody>
          <a:bodyPr wrap="square" lIns="0" tIns="0" rIns="0" bIns="0" rtlCol="0" anchor="ctr"/>
          <a:lstStyle/>
          <a:p>
            <a:pPr indent="0" marL="0">
              <a:buNone/>
            </a:pPr>
            <a:r>
              <a:rPr lang="en-US" sz="2500" b="1" dirty="0">
                <a:solidFill>
                  <a:srgbClr val="142D3B"/>
                </a:solidFill>
                <a:latin typeface="Aptos" pitchFamily="34" charset="0"/>
                <a:ea typeface="Aptos" pitchFamily="34" charset="-122"/>
                <a:cs typeface="Aptos" pitchFamily="34" charset="-120"/>
              </a:rPr>
              <a:t>Maximize mean[min(ratio × A, clip(ratio, 1 − ε, 1 + ε) × A)]</a:t>
            </a:r>
            <a:endParaRPr lang="en-US" sz="2500" dirty="0"/>
          </a:p>
        </p:txBody>
      </p:sp>
      <p:sp>
        <p:nvSpPr>
          <p:cNvPr id="11" name="Text 9"/>
          <p:cNvSpPr/>
          <p:nvPr/>
        </p:nvSpPr>
        <p:spPr>
          <a:xfrm>
            <a:off x="731520" y="3904488"/>
            <a:ext cx="10789920" cy="640080"/>
          </a:xfrm>
          <a:prstGeom prst="rect">
            <a:avLst/>
          </a:prstGeom>
          <a:noFill/>
          <a:ln/>
        </p:spPr>
        <p:txBody>
          <a:bodyPr wrap="square" lIns="0" tIns="0" rIns="0" bIns="0" rtlCol="0" anchor="ctr"/>
          <a:lstStyle/>
          <a:p>
            <a:pPr indent="0" marL="0">
              <a:buNone/>
            </a:pPr>
            <a:r>
              <a:rPr lang="en-US" sz="2300" dirty="0">
                <a:solidFill>
                  <a:srgbClr val="142D3B"/>
                </a:solidFill>
                <a:latin typeface="Aptos" pitchFamily="34" charset="0"/>
                <a:ea typeface="Aptos" pitchFamily="34" charset="-122"/>
                <a:cs typeface="Aptos" pitchFamily="34" charset="-120"/>
              </a:rPr>
              <a:t>Actor: chooses joint actions.   Critic: estimates future discounted reward.</a:t>
            </a:r>
            <a:endParaRPr lang="en-US" sz="2300" dirty="0"/>
          </a:p>
        </p:txBody>
      </p:sp>
      <p:sp>
        <p:nvSpPr>
          <p:cNvPr id="12" name="Text 10"/>
          <p:cNvSpPr/>
          <p:nvPr/>
        </p:nvSpPr>
        <p:spPr>
          <a:xfrm>
            <a:off x="731520" y="4809744"/>
            <a:ext cx="10789920" cy="731520"/>
          </a:xfrm>
          <a:prstGeom prst="rect">
            <a:avLst/>
          </a:prstGeom>
          <a:noFill/>
          <a:ln/>
        </p:spPr>
        <p:txBody>
          <a:bodyPr wrap="square" lIns="0" tIns="0" rIns="0" bIns="0" rtlCol="0" anchor="ctr"/>
          <a:lstStyle/>
          <a:p>
            <a:pPr indent="0" marL="0">
              <a:buNone/>
            </a:pPr>
            <a:r>
              <a:rPr lang="en-US" sz="2200" dirty="0">
                <a:solidFill>
                  <a:srgbClr val="566C79"/>
                </a:solidFill>
                <a:latin typeface="Aptos" pitchFamily="34" charset="0"/>
                <a:ea typeface="Aptos" pitchFamily="34" charset="-122"/>
                <a:cs typeface="Aptos" pitchFamily="34" charset="-120"/>
              </a:rPr>
              <a:t>A = advantage.  ε = clipping range.  Old log probabilities stay fixed for each collected batch.</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Follow one rollout through the learner</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11</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Collect observations, sampled actions, old log probabilities, values, rewards and episode-boundary flags using the current stochastic actor.</a:t>
            </a:r>
            <a:endParaRPr lang="en-US" sz="20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750" dirty="0">
                <a:solidFill>
                  <a:srgbClr val="142D3B"/>
                </a:solidFill>
                <a:latin typeface="Aptos" pitchFamily="34" charset="0"/>
                <a:ea typeface="Aptos" pitchFamily="34" charset="-122"/>
                <a:cs typeface="Aptos" pitchFamily="34" charset="-120"/>
              </a:rPr>
              <a:t>Compute TD residuals and generalized advantage estimates (GAE). A true terminal has zero continuation value; a timeout may bootstrap the saved final observation.</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Cut advantage traces at reset boundaries. Never bootstrap a timeout from the first observation of the next episode.</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800" dirty="0">
                <a:solidFill>
                  <a:srgbClr val="142D3B"/>
                </a:solidFill>
                <a:latin typeface="Aptos" pitchFamily="34" charset="0"/>
                <a:ea typeface="Aptos" pitchFamily="34" charset="-122"/>
                <a:cs typeface="Aptos" pitchFamily="34" charset="-120"/>
              </a:rPr>
              <a:t>Reuse this batch for PPO minibatch updates, then collect fresh on-policy data. Export the deterministic actor and its observation transform for evaluation.</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Paper exercise: count samples and clip the objective</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12</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Illustrative arithmetic, NOT this run: 16 environments × 128 steps = 2,048 fresh transitions per rollout. Four epochs reuse those transitions; they do not create 8,192 new samples.</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With ε = 0.2, ratio = 1.4 and A = +2: min(2.8, 2.4) = 2.4. The minimized policy term is −2.4 before averaging and additional loss terms.</a:t>
            </a:r>
            <a:endParaRPr lang="en-US" sz="20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With the same ratio and A = −2: min(−2.8, −2.4) = −2.8. Explain why clipping is asymmetric once the sign of the advantage changes.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850" dirty="0">
                <a:solidFill>
                  <a:srgbClr val="142D3B"/>
                </a:solidFill>
                <a:latin typeface="Aptos" pitchFamily="34" charset="0"/>
                <a:ea typeface="Aptos" pitchFamily="34" charset="-122"/>
                <a:cs typeface="Aptos" pitchFamily="34" charset="-120"/>
              </a:rPr>
              <a:t>Run from repo root: python3 docs/microduck-training-student-book/learning_lab.py --gae. This is a deterministic arithmetic lab, not new policy training.</a:t>
            </a:r>
            <a:endParaRPr lang="en-US" sz="1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Reward design: what the agent is paid to do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keep_pace 12: baseline-subtracted Gaussian command tracking, so standing at a nonzero command scores zero.</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track_turn 2: combined yaw, roll, and pitch rate tracking; reduced from 8 in the base recipe.</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yaw_tracking 8: focused Gaussian on observable gyro yaw rate versus commanded yaw rate.</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flight 4: rewards both feet airborne only while upright and moving in the commanded direction; air_time 1 rewards per-foot flight windows.</a:t>
            </a:r>
            <a:endParaRPr lang="en-US" sz="2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Reward design: what the agent is paid to do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14</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stay_upright 2, pose 0.1, and head_up 1 shape posture without defining the independent running gate.</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foot_clearance 0.5, smooth_moves 0.1, plant_the_foot 0.05, no_limit_parking 1, and calm_roll 0.025 are active costs.</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Recorded training recipe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15</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Base v3: seed 7, 6,000,640 transitions, 16 envs x 128 steps, 2,930 rollouts, 46,880 optimizer minibatches, learning rate 0.0003.</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Continuation v4: 2,097,152 transitions, 1,024 rollouts, 16,384 optimizer minibatches, learning rate 0.0001.</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Entire selected lineage: 8,097,792 transitions, 3,954 rollout/update cycles, and 63,264 optimizer minibatches.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Both stages use 4 minibatches x 4 epochs, gamma 0.99, GAE lambda 0.95, clip 0.2, value coefficient 1, entropy 0, and max grad norm 0.5.</a:t>
            </a:r>
            <a:endParaRPr lang="en-US" sz="2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Recorded training recipe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16</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Initial std is 0.6 in the base; continuation loads learned actor, critic, log std, observation stats, and reward-return stats but fresh Adam state.</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Update log fields are phase, steps, seconds, optimizer_steps, mean_loss, policy_loss, value_loss, entropy, approximate_kl, clip_fraction, explained_variance, env_steps.</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COPYABLE COMMANDS ALSO IN INSTRUCTOR GUIDE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Hands-on commands: inspect, smoke, train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17</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./scripts/train-running.sh --dry-run</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Inspect the guarded two-stage Running pipeline without training.</a:t>
            </a:r>
            <a:endParaRPr lang="en-US" sz="14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./scripts/train-running.sh</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Run the independent Full Running base and refinement pipeline with fresh outputs.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COPYABLE COMMANDS ALSO IN INSTRUCTOR GUIDE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Hands-on commands: inspect, smoke, train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18</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RUN=running-classroom-$(date +%Y%m%d-%H%M%S); ./scripts/train-running.sh --recipe-json docs/remaining-scenarios-e2e/recipes/running.json --init-from rlx/runs/studio/running/running-e2e-20260907-v3/running.safetensors --run-name "$RUN"</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Refine the retained v3 checkpoint with its adjacent sidecar in a fresh run; keep RUN in this terminal for the following audit. Requires the ignored historical base artifacts.</a:t>
            </a:r>
            <a:endParaRPr lang="en-US" sz="14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rlx/.venv-microduck/bin/python rlx/scripts/audit_scenarios.py --recipe-json docs/remaining-scenarios-e2e/recipes/running.json --run "rlx/runs/studio/running/${RUN:?Run the refinement command first in this shell}" --output "rlx/artifacts/$RUN-audit" --seeds 501 502 503 504 505 --render</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Audit a completed Running reproduction over five held-out reset seeds.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COPYABLE COMMANDS ALSO IN INSTRUCTOR GUIDE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Hands-on commands: inspect, smoke, train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19</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python3 -m unittest discover -s scripts/scenarios -p 'test_*.py'</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Run scenario-pipeline unit tests without starting training.</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MEASURED TRAINING LOGS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Reward: does the logged signal match the task?</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20</a:t>
            </a:r>
            <a:endParaRPr lang="en-US" sz="1200" dirty="0"/>
          </a:p>
        </p:txBody>
      </p:sp>
      <p:pic>
        <p:nvPicPr>
          <p:cNvPr id="8" name="Image 0" descr="/Volumes/ExternalSSD/geoagent/microduck-lab/docs/classroom-ppt/assets/running/reward.png">    </p:cNvPr>
          <p:cNvPicPr>
            <a:picLocks noChangeAspect="1"/>
          </p:cNvPicPr>
          <p:nvPr/>
        </p:nvPicPr>
        <p:blipFill>
          <a:blip r:embed="rId1"/>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indent="0" marL="0">
              <a:buNone/>
            </a:pPr>
            <a:r>
              <a:rPr lang="en-US" sz="1200" dirty="0">
                <a:solidFill>
                  <a:srgbClr val="566C79"/>
                </a:solidFill>
                <a:latin typeface="Aptos" pitchFamily="34" charset="0"/>
                <a:ea typeface="Aptos" pitchFamily="34" charset="-122"/>
                <a:cs typeface="Aptos" pitchFamily="34" charset="-120"/>
              </a:rPr>
              <a:t>Training reward is an optimization signal, not the acceptance test. See raw/&lt;case&gt;/ for complete recorded fields.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MEASURED TRAINING LOGS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Loss: inspect actor, critic and policy drift</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21</a:t>
            </a:r>
            <a:endParaRPr lang="en-US" sz="1200" dirty="0"/>
          </a:p>
        </p:txBody>
      </p:sp>
      <p:pic>
        <p:nvPicPr>
          <p:cNvPr id="8" name="Image 0" descr="/Volumes/ExternalSSD/geoagent/microduck-lab/docs/classroom-ppt/assets/running/loss.png">    </p:cNvPr>
          <p:cNvPicPr>
            <a:picLocks noChangeAspect="1"/>
          </p:cNvPicPr>
          <p:nvPr/>
        </p:nvPicPr>
        <p:blipFill>
          <a:blip r:embed="rId1"/>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indent="0" marL="0">
              <a:buNone/>
            </a:pPr>
            <a:r>
              <a:rPr lang="en-US" sz="1200" dirty="0">
                <a:solidFill>
                  <a:srgbClr val="566C79"/>
                </a:solidFill>
                <a:latin typeface="Aptos" pitchFamily="34" charset="0"/>
                <a:ea typeface="Aptos" pitchFamily="34" charset="-122"/>
                <a:cs typeface="Aptos" pitchFamily="34" charset="-120"/>
              </a:rPr>
              <a:t>A lower loss does not prove a better robot skill. Loss sign and scale depend on the implementation.</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MEASURED TRAINING LOGS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Diagnostics: is the optimizer behaving?</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22</a:t>
            </a:r>
            <a:endParaRPr lang="en-US" sz="1200" dirty="0"/>
          </a:p>
        </p:txBody>
      </p:sp>
      <p:pic>
        <p:nvPicPr>
          <p:cNvPr id="8" name="Image 0" descr="/Volumes/ExternalSSD/geoagent/microduck-lab/docs/classroom-ppt/assets/running/diagnostics.png">    </p:cNvPr>
          <p:cNvPicPr>
            <a:picLocks noChangeAspect="1"/>
          </p:cNvPicPr>
          <p:nvPr/>
        </p:nvPicPr>
        <p:blipFill>
          <a:blip r:embed="rId1"/>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indent="0" marL="0">
              <a:buNone/>
            </a:pPr>
            <a:r>
              <a:rPr lang="en-US" sz="1200" dirty="0">
                <a:solidFill>
                  <a:srgbClr val="566C79"/>
                </a:solidFill>
                <a:latin typeface="Aptos" pitchFamily="34" charset="0"/>
                <a:ea typeface="Aptos" pitchFamily="34" charset="-122"/>
                <a:cs typeface="Aptos" pitchFamily="34" charset="-120"/>
              </a:rPr>
              <a:t>Entropy, clipping, explained variance and timing are diagnostics — not a standalone pass/fail certificate.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Metric matrix: numerical audit of this trace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approximate_kl: first 2.824 → final 0.03259; min 0.01741, max 2.824; 1024 logged samples.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clip_fraction: first 0.8713 → final 0.3572; min 0.2467, max 0.8713; 1024 logged samples.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entropy: first 1.830 → final -0.3148; min -0.3150, max 1.876; 1024 logged samples.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explained_variance: first 0.8329 → final 0.6748; min -1.234, max 0.9469; 1024 logged samples.</a:t>
            </a:r>
            <a:endParaRPr lang="en-US" sz="2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Metric matrix: numerical audit of this trace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24</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mean_loss: first 0.1724 → final -0.02380; min -0.03384, max 0.1724; 1024 logged samples.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mean_raw_return: first 8637 → final 9686; min 87.22, max 1.008e+4; 1738 logged samples.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mean_reward: first 0.03103 → final 0.03508; min 0.02922, max 0.03661; 1024 logged samples.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policy_loss: first 0.1711 → final -0.02410; min -0.03457, max 0.1711; 1024 logged samples.</a:t>
            </a:r>
            <a:endParaRPr lang="en-US" sz="2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Metric matrix: numerical audit of this trace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25</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value_loss: first 0.001326 → final 0.0003019; min 0.0002014, max 0.01952; 1024 logged samples.</a:t>
            </a:r>
            <a:endParaRPr lang="en-US" sz="2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Verification: define success before looking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26</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Require every episode to complete 600 samples without termination, with finite physical metrics and upright fraction &gt;= 0.95.</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Require commanded fraction &gt;= 0.50, mean directed speed &gt;= 0.35 m/s, signed intended displacement &gt;= 2.0 m, and speed ratio &gt;= 0.35.</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Require at least 8 alternating exclusive-support switches, each foot air fraction &gt;= 0.08, contact fraction &gt;= 0.10, and lift/touch events.</a:t>
            </a:r>
            <a:endParaRPr lang="en-US" sz="20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Require both-feet aerial fraction &gt;= 0.03; this distinguishes running from fast grounded stepping.</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Verification: define success before looking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27</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Use evaluator version 2 signed displacement, which anchors intended heading at command changes and advances it only by commanded yaw.</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Require zero, random, and loaded initial controls to fail the final gate; verify hashes, finite telemetry, 61-to-14 ONNX, parity, and video.</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SAVED RESULTS — NOT A NEW TRAINING RUN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Results: what was actually measured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28</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Actual final evidence: PASS for running-e2e-20260907-v4; Studio evaluation passed 16/16 complete 12-second episodes.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Independent seeds 501-505 passed 5/5; directed speeds were 0.7382723265470258-0.7746384824233077 m/s.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Signed intended displacement was 3.8483205827178626-9.01295603365732 m; speed ratios were 0.9843631020627012-1.0328513098977434.</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Aerial fractions were 0.35-0.3983333333333333, with 167-170 support switches; every episode had upright fraction 1.0.</a:t>
            </a:r>
            <a:endParaRPr lang="en-US" sz="2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SAVED RESULTS — NOT A NEW TRAINING RUN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Results: what was actually measured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29</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The v3 initializer was already aerial at fraction 0.275 with 156 switches and 0.6664 m/s, but failed with -0.2392 m intended displacement.</a:t>
            </a:r>
            <a:endParaRPr lang="en-US" sz="20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After 524,288 continuation transitions, comparison seed 501 passed; the final checkpoint retained a pass with raw return 11467.54.</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Final raw-return change versus initialization was 1683.1782192444243; learned tensor L2 change was 7.672545078668774.</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ONNX/native maximum action error was 1.430511474609375e-6; zero and random controls fell after 43-49 steps and failed the gate.</a:t>
            </a:r>
            <a:endParaRPr lang="en-US" sz="2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SAVED RESULTS — NOT A NEW TRAINING RUN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Results: what was actually measured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30</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Final-100 means: policy_loss -0.022870965473121032, value_loss 0.0003489635748883302, mean_loss -0.022522001879488017.</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10</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Final-100 approximate_kl 0.03082194794646057, clip_fraction 0.33925048828125, explained_variance 0.5853159072389115.</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EMBEDDED OFFLINE VIDEO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Watch the actual saved rollout</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31</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58368" y="1691640"/>
            <a:ext cx="7452360" cy="4197096"/>
          </a:xfrm>
          <a:prstGeom prst="rect">
            <a:avLst/>
          </a:prstGeom>
        </p:spPr>
      </p:pic>
      <p:sp>
        <p:nvSpPr>
          <p:cNvPr id="9" name="Text 6"/>
          <p:cNvSpPr/>
          <p:nvPr/>
        </p:nvSpPr>
        <p:spPr>
          <a:xfrm>
            <a:off x="8439912" y="1847088"/>
            <a:ext cx="2926080" cy="320040"/>
          </a:xfrm>
          <a:prstGeom prst="rect">
            <a:avLst/>
          </a:prstGeom>
          <a:noFill/>
          <a:ln/>
        </p:spPr>
        <p:txBody>
          <a:bodyPr wrap="square" lIns="0" tIns="0" rIns="0" bIns="0" rtlCol="0" anchor="ctr"/>
          <a:lstStyle/>
          <a:p>
            <a:pPr indent="0" marL="0">
              <a:buNone/>
            </a:pPr>
            <a:r>
              <a:rPr lang="en-US" sz="1300" b="1" dirty="0">
                <a:solidFill>
                  <a:srgbClr val="087E8B"/>
                </a:solidFill>
                <a:latin typeface="Aptos" pitchFamily="34" charset="0"/>
                <a:ea typeface="Aptos" pitchFamily="34" charset="-122"/>
                <a:cs typeface="Aptos" pitchFamily="34" charset="-120"/>
              </a:rPr>
              <a:t>BEFORE PLAY</a:t>
            </a:r>
            <a:endParaRPr lang="en-US" sz="1300" dirty="0"/>
          </a:p>
        </p:txBody>
      </p:sp>
      <p:sp>
        <p:nvSpPr>
          <p:cNvPr id="10" name="Text 7"/>
          <p:cNvSpPr/>
          <p:nvPr/>
        </p:nvSpPr>
        <p:spPr>
          <a:xfrm>
            <a:off x="8439912" y="2322576"/>
            <a:ext cx="2880360" cy="960120"/>
          </a:xfrm>
          <a:prstGeom prst="rect">
            <a:avLst/>
          </a:prstGeom>
          <a:noFill/>
          <a:ln/>
        </p:spPr>
        <p:txBody>
          <a:bodyPr wrap="square" lIns="0" tIns="0" rIns="0" bIns="0" rtlCol="0" anchor="ctr"/>
          <a:lstStyle/>
          <a:p>
            <a:pPr indent="0" marL="0">
              <a:buNone/>
            </a:pPr>
            <a:r>
              <a:rPr lang="en-US" sz="2300" b="1" dirty="0">
                <a:solidFill>
                  <a:srgbClr val="142D3B"/>
                </a:solidFill>
                <a:latin typeface="Aptos" pitchFamily="34" charset="0"/>
                <a:ea typeface="Aptos" pitchFamily="34" charset="-122"/>
                <a:cs typeface="Aptos" pitchFamily="34" charset="-120"/>
              </a:rPr>
              <a:t>Predict one success signal and one failure signal.</a:t>
            </a:r>
            <a:endParaRPr lang="en-US" sz="2300" dirty="0"/>
          </a:p>
        </p:txBody>
      </p:sp>
      <p:sp>
        <p:nvSpPr>
          <p:cNvPr id="11" name="Text 8"/>
          <p:cNvSpPr/>
          <p:nvPr/>
        </p:nvSpPr>
        <p:spPr>
          <a:xfrm>
            <a:off x="8439912" y="3685032"/>
            <a:ext cx="2926080" cy="320040"/>
          </a:xfrm>
          <a:prstGeom prst="rect">
            <a:avLst/>
          </a:prstGeom>
          <a:noFill/>
          <a:ln/>
        </p:spPr>
        <p:txBody>
          <a:bodyPr wrap="square" lIns="0" tIns="0" rIns="0" bIns="0" rtlCol="0" anchor="ctr"/>
          <a:lstStyle/>
          <a:p>
            <a:pPr indent="0" marL="0">
              <a:buNone/>
            </a:pPr>
            <a:r>
              <a:rPr lang="en-US" sz="1300" b="1" dirty="0">
                <a:solidFill>
                  <a:srgbClr val="D96C35"/>
                </a:solidFill>
                <a:latin typeface="Aptos" pitchFamily="34" charset="0"/>
                <a:ea typeface="Aptos" pitchFamily="34" charset="-122"/>
                <a:cs typeface="Aptos" pitchFamily="34" charset="-120"/>
              </a:rPr>
              <a:t>AFTER PLAY</a:t>
            </a:r>
            <a:endParaRPr lang="en-US" sz="1300" dirty="0"/>
          </a:p>
        </p:txBody>
      </p:sp>
      <p:sp>
        <p:nvSpPr>
          <p:cNvPr id="12" name="Text 9"/>
          <p:cNvSpPr/>
          <p:nvPr/>
        </p:nvSpPr>
        <p:spPr>
          <a:xfrm>
            <a:off x="8439912" y="4151376"/>
            <a:ext cx="2880360" cy="1005840"/>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Which claims does this clip support? What remains untested?</a:t>
            </a:r>
            <a:endParaRPr lang="en-US" sz="2100" dirty="0"/>
          </a:p>
        </p:txBody>
      </p:sp>
      <p:sp>
        <p:nvSpPr>
          <p:cNvPr id="13" name="Text 10"/>
          <p:cNvSpPr/>
          <p:nvPr/>
        </p:nvSpPr>
        <p:spPr>
          <a:xfrm>
            <a:off x="731520" y="6044184"/>
            <a:ext cx="10789920" cy="201168"/>
          </a:xfrm>
          <a:prstGeom prst="rect">
            <a:avLst/>
          </a:prstGeom>
          <a:noFill/>
          <a:ln/>
        </p:spPr>
        <p:txBody>
          <a:bodyPr wrap="square" lIns="0" tIns="0" rIns="0" bIns="0" rtlCol="0" anchor="ctr"/>
          <a:lstStyle/>
          <a:p>
            <a:pPr indent="0" marL="0">
              <a:buNone/>
            </a:pPr>
            <a:r>
              <a:rPr lang="en-US" sz="1100" dirty="0">
                <a:solidFill>
                  <a:srgbClr val="566C79"/>
                </a:solidFill>
                <a:latin typeface="Aptos" pitchFamily="34" charset="0"/>
                <a:ea typeface="Aptos" pitchFamily="34" charset="-122"/>
                <a:cs typeface="Aptos" pitchFamily="34" charset="-120"/>
              </a:rPr>
              <a:t>12.0 s saved MP4  •  Click in PowerPoint Slide Show  •  Backup: videos/running-rollout.mp4</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Limits and failure analysis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32</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policy specializes to one nominal 0.75 m/s forward command; arbitrary speed, turning, and disturbance recovery are untested.</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passing paths still curve; the result proves signed intended progress under the gate, not straight-line path perfection.</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base acquired running, while v4 improved intended progress; crediting v4 with discovering the entire gait would be inaccurate.</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Raw actor means can exceed the applied [-4,4] target-offset range, so nominal XML success is not a hardware command-quality certificate.</a:t>
            </a:r>
            <a:endParaRPr lang="en-US" sz="2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Limits and failure analysis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33</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No BAM dynamics, current limits, latency, randomized physics, terrain, pushes, battery, thermal, cable, backlash, or hardware safety tests.</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One training lineage and five nominal audit seeds do not establish training-seed robustness or broad generalization.</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PROPOSED PRACTICE — NOT MEASURED RESULTS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Student lab: change one variable, keep the gates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34</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Recommended exercise, not saved evidence: classify a 0.72 m/s gait with aerial fraction 0.01 against the exact running gate.</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Recommended exercise, not saved evidence: identify observable yaw-rate inputs and explain why absolute-heading reward is invalid.</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Recommended exercise, not saved evidence: clip the recorded first raw actor vector and list saturated joints.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Recommended exercise, not saved evidence: construct a circular trajectory with high body-frame speed but near-zero intended displacement.</a:t>
            </a:r>
            <a:endParaRPr lang="en-US" sz="2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PROPOSED PRACTICE — NOT MEASURED RESULTS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Student lab: change one variable, keep the gates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35</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Recommended exercise, not saved evidence: predeclare held-out speed and yaw-rate commands for interpolation and extrapolation tests.</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Submit an experiment, not just a video</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36</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Before training: write one hypothesis, the changed parameter, the fixed baseline, seed list, acceptance criteria and time/transition budget.</a:t>
            </a:r>
            <a:endParaRPr lang="en-US" sz="20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750" dirty="0">
                <a:solidFill>
                  <a:srgbClr val="142D3B"/>
                </a:solidFill>
                <a:latin typeface="Aptos" pitchFamily="34" charset="0"/>
                <a:ea typeface="Aptos" pitchFamily="34" charset="-122"/>
                <a:cs typeface="Aptos" pitchFamily="34" charset="-120"/>
              </a:rPr>
              <a:t>During training: save the exact command, environment versions, initialization, checkpoint and raw reward/loss/KL metrics. Never overwrite the saved reference run.</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700" dirty="0">
                <a:solidFill>
                  <a:srgbClr val="142D3B"/>
                </a:solidFill>
                <a:latin typeface="Aptos" pitchFamily="34" charset="0"/>
                <a:ea typeface="Aptos" pitchFamily="34" charset="-122"/>
                <a:cs typeface="Aptos" pitchFamily="34" charset="-120"/>
              </a:rPr>
              <a:t>After training: evaluate the frozen exported policy on matched seeds; include all failures, aggregate metrics, the full rollout video and a source-bound result table.</a:t>
            </a:r>
            <a:endParaRPr lang="en-US" sz="17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700" dirty="0">
                <a:solidFill>
                  <a:srgbClr val="142D3B"/>
                </a:solidFill>
                <a:latin typeface="Aptos" pitchFamily="34" charset="0"/>
                <a:ea typeface="Aptos" pitchFamily="34" charset="-122"/>
                <a:cs typeface="Aptos" pitchFamily="34" charset="-120"/>
              </a:rPr>
              <a:t>Rubric / 10: reproducibility 2; environment and reward explanation 2; PPO and metrics interpretation 2; honest verification 2; one evidence-based next experiment 2.</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REPOSITORY-RELATIVE PATHS / FULL SOURCES IN NOTES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Source map and further study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37</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AGENTS.md</a:t>
            </a:r>
            <a:endParaRPr lang="en-US" sz="14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microduck_local/AGENTS.md</a:t>
            </a:r>
            <a:endParaRPr lang="en-US" sz="14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microduck_local/src/microduck_local/contract.py</a:t>
            </a:r>
            <a:endParaRPr lang="en-US" sz="14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README.md</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REPOSITORY-RELATIVE PATHS / FULL SOURCES IN NOTES  /  RUNNING: AERIAL GAIT WITH INTENDED PROGRESS</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Source map and further study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38</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docs/microduck-training-student-book/chapters/02a-ppo-code-lab.md</a:t>
            </a:r>
            <a:endParaRPr lang="en-US" sz="14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docs/microduck-training-student-book/chapters/02b-gae-workshop.md</a:t>
            </a:r>
            <a:endParaRPr lang="en-US" sz="14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scripts/scenarios/README.md</a:t>
            </a:r>
            <a:endParaRPr lang="en-US" sz="14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README.md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Community education — not affiliated with Pollen Robotics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Microduck PPO Lab 3: Running: Aerial Gait with Intended Progress</dc:title>
  <dc:subject>Source-grounded PPO robot training: setup, environment, rewards, verification and evidence</dc:subject>
  <dc:creator>Microduck Lab classroom materials</dc:creator>
  <cp:lastModifiedBy>Microduck Lab classroom materials</cp:lastModifiedBy>
  <cp:revision>1</cp:revision>
  <dcterms:created xsi:type="dcterms:W3CDTF">2026-09-11T20:37:21Z</dcterms:created>
  <dcterms:modified xsi:type="dcterms:W3CDTF">2026-09-11T20:37:21Z</dcterms:modified>
</cp:coreProperties>
</file>